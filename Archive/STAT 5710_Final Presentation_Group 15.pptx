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01_EB89635D.xml" ContentType="application/vnd.ms-powerpoint.comments+xml"/>
  <Override PartName="/ppt/comments/modernComment_1019_3299B5EE.xml" ContentType="application/vnd.ms-powerpoint.comments+xml"/>
  <Override PartName="/ppt/comments/modernComment_1015_2FB58AFF.xml" ContentType="application/vnd.ms-powerpoint.comment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26"/>
  </p:notesMasterIdLst>
  <p:handoutMasterIdLst>
    <p:handoutMasterId r:id="rId27"/>
  </p:handoutMasterIdLst>
  <p:sldIdLst>
    <p:sldId id="4097" r:id="rId2"/>
    <p:sldId id="4103" r:id="rId3"/>
    <p:sldId id="4119" r:id="rId4"/>
    <p:sldId id="4113" r:id="rId5"/>
    <p:sldId id="4105" r:id="rId6"/>
    <p:sldId id="4114" r:id="rId7"/>
    <p:sldId id="4120" r:id="rId8"/>
    <p:sldId id="4115" r:id="rId9"/>
    <p:sldId id="4121" r:id="rId10"/>
    <p:sldId id="4118" r:id="rId11"/>
    <p:sldId id="4122" r:id="rId12"/>
    <p:sldId id="4116" r:id="rId13"/>
    <p:sldId id="4123" r:id="rId14"/>
    <p:sldId id="4124" r:id="rId15"/>
    <p:sldId id="4125" r:id="rId16"/>
    <p:sldId id="4126" r:id="rId17"/>
    <p:sldId id="4127" r:id="rId18"/>
    <p:sldId id="4128" r:id="rId19"/>
    <p:sldId id="4117" r:id="rId20"/>
    <p:sldId id="4131" r:id="rId21"/>
    <p:sldId id="4132" r:id="rId22"/>
    <p:sldId id="4133" r:id="rId23"/>
    <p:sldId id="4134" r:id="rId24"/>
    <p:sldId id="4135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72" userDrawn="1">
          <p15:clr>
            <a:srgbClr val="A4A3A4"/>
          </p15:clr>
        </p15:guide>
        <p15:guide id="2" pos="7272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4" pos="2252" userDrawn="1">
          <p15:clr>
            <a:srgbClr val="A4A3A4"/>
          </p15:clr>
        </p15:guide>
        <p15:guide id="5" orient="horz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765813-3638-5EB3-1586-41E680E23E05}" name="Wang, David" initials="WD" userId="S::wangwdvd@upenn.edu::df86646c-1dba-4f07-a491-6e28a8768c41" providerId="AD"/>
  <p188:author id="{300FC2D2-C211-5CAE-B5DF-3D765C9E29E9}" name="Rehan Mirza" initials="RM" userId="20a01ed13f6e6a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480"/>
    <a:srgbClr val="000000"/>
    <a:srgbClr val="747A94"/>
    <a:srgbClr val="CAE8AA"/>
    <a:srgbClr val="4F7921"/>
    <a:srgbClr val="8A1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E9E81-BBCB-456C-BB4C-7F5A98DB8F8F}" v="1" dt="2026-04-28T03:07:54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>
        <p:guide orient="horz" pos="2772"/>
        <p:guide pos="7272"/>
        <p:guide orient="horz" pos="3884"/>
        <p:guide pos="2252"/>
        <p:guide orient="horz" pos="42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han Mirza" userId="20a01ed13f6e6ab9" providerId="LiveId" clId="{BB0AACE9-FF1D-42A4-A027-C4FBF8385E00}"/>
    <pc:docChg chg="undo redo custSel addSld delSld modSld sldOrd modMainMaster">
      <pc:chgData name="Rehan Mirza" userId="20a01ed13f6e6ab9" providerId="LiveId" clId="{BB0AACE9-FF1D-42A4-A027-C4FBF8385E00}" dt="2026-04-28T03:09:53.139" v="624" actId="47"/>
      <pc:docMkLst>
        <pc:docMk/>
      </pc:docMkLst>
      <pc:sldChg chg="addSp modSp mod">
        <pc:chgData name="Rehan Mirza" userId="20a01ed13f6e6ab9" providerId="LiveId" clId="{BB0AACE9-FF1D-42A4-A027-C4FBF8385E00}" dt="2026-04-28T03:08:41.245" v="581" actId="20577"/>
        <pc:sldMkLst>
          <pc:docMk/>
          <pc:sldMk cId="3951649629" sldId="4097"/>
        </pc:sldMkLst>
        <pc:spChg chg="mod">
          <ac:chgData name="Rehan Mirza" userId="20a01ed13f6e6ab9" providerId="LiveId" clId="{BB0AACE9-FF1D-42A4-A027-C4FBF8385E00}" dt="2026-04-28T03:08:38.036" v="580" actId="20577"/>
          <ac:spMkLst>
            <pc:docMk/>
            <pc:sldMk cId="3951649629" sldId="4097"/>
            <ac:spMk id="2" creationId="{2B4229AD-DDAB-6A09-9177-9662E6225DB5}"/>
          </ac:spMkLst>
        </pc:spChg>
        <pc:spChg chg="mod">
          <ac:chgData name="Rehan Mirza" userId="20a01ed13f6e6ab9" providerId="LiveId" clId="{BB0AACE9-FF1D-42A4-A027-C4FBF8385E00}" dt="2026-04-28T03:08:41.245" v="581" actId="20577"/>
          <ac:spMkLst>
            <pc:docMk/>
            <pc:sldMk cId="3951649629" sldId="4097"/>
            <ac:spMk id="3" creationId="{98B1E3CE-D015-9B7F-B133-61DE946333C1}"/>
          </ac:spMkLst>
        </pc:spChg>
        <pc:spChg chg="mod">
          <ac:chgData name="Rehan Mirza" userId="20a01ed13f6e6ab9" providerId="LiveId" clId="{BB0AACE9-FF1D-42A4-A027-C4FBF8385E00}" dt="2026-04-28T03:08:26.250" v="567" actId="20577"/>
          <ac:spMkLst>
            <pc:docMk/>
            <pc:sldMk cId="3951649629" sldId="4097"/>
            <ac:spMk id="5" creationId="{076514F7-8404-F570-70FB-FB5D0FF45AA7}"/>
          </ac:spMkLst>
        </pc:spChg>
        <pc:spChg chg="mod">
          <ac:chgData name="Rehan Mirza" userId="20a01ed13f6e6ab9" providerId="LiveId" clId="{BB0AACE9-FF1D-42A4-A027-C4FBF8385E00}" dt="2026-04-28T03:08:16.281" v="537" actId="20577"/>
          <ac:spMkLst>
            <pc:docMk/>
            <pc:sldMk cId="3951649629" sldId="4097"/>
            <ac:spMk id="68" creationId="{9D9B14C4-7F39-59C1-34E9-EFE29E7A462F}"/>
          </ac:spMkLst>
        </pc:spChg>
      </pc:sldChg>
      <pc:sldChg chg="modSp mod">
        <pc:chgData name="Rehan Mirza" userId="20a01ed13f6e6ab9" providerId="LiveId" clId="{BB0AACE9-FF1D-42A4-A027-C4FBF8385E00}" dt="2026-04-28T03:07:37.274" v="530" actId="20577"/>
        <pc:sldMkLst>
          <pc:docMk/>
          <pc:sldMk cId="1361182257" sldId="4103"/>
        </pc:sldMkLst>
        <pc:spChg chg="mod">
          <ac:chgData name="Rehan Mirza" userId="20a01ed13f6e6ab9" providerId="LiveId" clId="{BB0AACE9-FF1D-42A4-A027-C4FBF8385E00}" dt="2026-04-28T03:07:37.274" v="530" actId="20577"/>
          <ac:spMkLst>
            <pc:docMk/>
            <pc:sldMk cId="1361182257" sldId="4103"/>
            <ac:spMk id="2" creationId="{DD651C7D-2D20-D8C6-940A-28FFFC0F663B}"/>
          </ac:spMkLst>
        </pc:spChg>
        <pc:spChg chg="mod">
          <ac:chgData name="Rehan Mirza" userId="20a01ed13f6e6ab9" providerId="LiveId" clId="{BB0AACE9-FF1D-42A4-A027-C4FBF8385E00}" dt="2026-04-28T03:07:29.179" v="516" actId="20577"/>
          <ac:spMkLst>
            <pc:docMk/>
            <pc:sldMk cId="1361182257" sldId="4103"/>
            <ac:spMk id="5" creationId="{D0FB0FF3-65A7-74D7-3DC4-EBB7E60D596D}"/>
          </ac:spMkLst>
        </pc:spChg>
        <pc:spChg chg="mod">
          <ac:chgData name="Rehan Mirza" userId="20a01ed13f6e6ab9" providerId="LiveId" clId="{BB0AACE9-FF1D-42A4-A027-C4FBF8385E00}" dt="2026-04-28T03:07:34.558" v="529" actId="20577"/>
          <ac:spMkLst>
            <pc:docMk/>
            <pc:sldMk cId="1361182257" sldId="4103"/>
            <ac:spMk id="6" creationId="{1B69CB66-C4DC-5E80-C10B-1F9F8875CB6A}"/>
          </ac:spMkLst>
        </pc:spChg>
      </pc:sldChg>
      <pc:sldChg chg="del">
        <pc:chgData name="Rehan Mirza" userId="20a01ed13f6e6ab9" providerId="LiveId" clId="{BB0AACE9-FF1D-42A4-A027-C4FBF8385E00}" dt="2026-04-28T03:08:08.975" v="532" actId="47"/>
        <pc:sldMkLst>
          <pc:docMk/>
          <pc:sldMk cId="432856457" sldId="4104"/>
        </pc:sldMkLst>
      </pc:sldChg>
      <pc:sldChg chg="modSp add del mod">
        <pc:chgData name="Rehan Mirza" userId="20a01ed13f6e6ab9" providerId="LiveId" clId="{BB0AACE9-FF1D-42A4-A027-C4FBF8385E00}" dt="2026-04-28T03:09:43.017" v="620" actId="20577"/>
        <pc:sldMkLst>
          <pc:docMk/>
          <pc:sldMk cId="885954323" sldId="4105"/>
        </pc:sldMkLst>
        <pc:spChg chg="mod">
          <ac:chgData name="Rehan Mirza" userId="20a01ed13f6e6ab9" providerId="LiveId" clId="{BB0AACE9-FF1D-42A4-A027-C4FBF8385E00}" dt="2026-04-28T03:09:43.017" v="620" actId="20577"/>
          <ac:spMkLst>
            <pc:docMk/>
            <pc:sldMk cId="885954323" sldId="4105"/>
            <ac:spMk id="2" creationId="{9CC2ECE2-36CD-C64B-EBA4-220F3FF93199}"/>
          </ac:spMkLst>
        </pc:spChg>
        <pc:spChg chg="mod">
          <ac:chgData name="Rehan Mirza" userId="20a01ed13f6e6ab9" providerId="LiveId" clId="{BB0AACE9-FF1D-42A4-A027-C4FBF8385E00}" dt="2026-04-28T03:08:51.212" v="587" actId="20577"/>
          <ac:spMkLst>
            <pc:docMk/>
            <pc:sldMk cId="885954323" sldId="4105"/>
            <ac:spMk id="5" creationId="{E5112FF8-D3EE-E101-8C76-F4516EC944ED}"/>
          </ac:spMkLst>
        </pc:spChg>
      </pc:sldChg>
      <pc:sldChg chg="del">
        <pc:chgData name="Rehan Mirza" userId="20a01ed13f6e6ab9" providerId="LiveId" clId="{BB0AACE9-FF1D-42A4-A027-C4FBF8385E00}" dt="2026-04-28T03:08:57.685" v="589" actId="47"/>
        <pc:sldMkLst>
          <pc:docMk/>
          <pc:sldMk cId="2074961650" sldId="4106"/>
        </pc:sldMkLst>
      </pc:sldChg>
      <pc:sldChg chg="del">
        <pc:chgData name="Rehan Mirza" userId="20a01ed13f6e6ab9" providerId="LiveId" clId="{BB0AACE9-FF1D-42A4-A027-C4FBF8385E00}" dt="2026-04-28T03:09:00.099" v="590" actId="47"/>
        <pc:sldMkLst>
          <pc:docMk/>
          <pc:sldMk cId="1740172750" sldId="4107"/>
        </pc:sldMkLst>
      </pc:sldChg>
      <pc:sldChg chg="del">
        <pc:chgData name="Rehan Mirza" userId="20a01ed13f6e6ab9" providerId="LiveId" clId="{BB0AACE9-FF1D-42A4-A027-C4FBF8385E00}" dt="2026-04-28T03:09:03.146" v="591" actId="47"/>
        <pc:sldMkLst>
          <pc:docMk/>
          <pc:sldMk cId="1645774898" sldId="4108"/>
        </pc:sldMkLst>
      </pc:sldChg>
      <pc:sldChg chg="del">
        <pc:chgData name="Rehan Mirza" userId="20a01ed13f6e6ab9" providerId="LiveId" clId="{BB0AACE9-FF1D-42A4-A027-C4FBF8385E00}" dt="2026-04-28T03:09:03.801" v="592" actId="47"/>
        <pc:sldMkLst>
          <pc:docMk/>
          <pc:sldMk cId="1269076932" sldId="4109"/>
        </pc:sldMkLst>
      </pc:sldChg>
      <pc:sldChg chg="delSp modSp mod">
        <pc:chgData name="Rehan Mirza" userId="20a01ed13f6e6ab9" providerId="LiveId" clId="{BB0AACE9-FF1D-42A4-A027-C4FBF8385E00}" dt="2026-04-28T03:09:19.020" v="598" actId="6549"/>
        <pc:sldMkLst>
          <pc:docMk/>
          <pc:sldMk cId="2111934881" sldId="4110"/>
        </pc:sldMkLst>
        <pc:graphicFrameChg chg="mod modGraphic">
          <ac:chgData name="Rehan Mirza" userId="20a01ed13f6e6ab9" providerId="LiveId" clId="{BB0AACE9-FF1D-42A4-A027-C4FBF8385E00}" dt="2026-04-28T03:09:19.020" v="598" actId="6549"/>
          <ac:graphicFrameMkLst>
            <pc:docMk/>
            <pc:sldMk cId="2111934881" sldId="4110"/>
            <ac:graphicFrameMk id="11" creationId="{F0ED07E0-A297-A98D-3E9A-BD0D7C06184C}"/>
          </ac:graphicFrameMkLst>
        </pc:graphicFrameChg>
        <pc:graphicFrameChg chg="del">
          <ac:chgData name="Rehan Mirza" userId="20a01ed13f6e6ab9" providerId="LiveId" clId="{BB0AACE9-FF1D-42A4-A027-C4FBF8385E00}" dt="2026-04-28T03:09:09.609" v="594" actId="478"/>
          <ac:graphicFrameMkLst>
            <pc:docMk/>
            <pc:sldMk cId="2111934881" sldId="4110"/>
            <ac:graphicFrameMk id="12" creationId="{0D7E0D26-E3BB-1C47-C378-A41FC08C7956}"/>
          </ac:graphicFrameMkLst>
        </pc:graphicFrameChg>
        <pc:graphicFrameChg chg="del">
          <ac:chgData name="Rehan Mirza" userId="20a01ed13f6e6ab9" providerId="LiveId" clId="{BB0AACE9-FF1D-42A4-A027-C4FBF8385E00}" dt="2026-04-28T03:09:09.609" v="594" actId="478"/>
          <ac:graphicFrameMkLst>
            <pc:docMk/>
            <pc:sldMk cId="2111934881" sldId="4110"/>
            <ac:graphicFrameMk id="13" creationId="{6EDE7461-E9AD-437A-B948-04F6280FB432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4" creationId="{A26069D0-AC26-93D0-18E5-A54E579FB951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5" creationId="{555FCF04-BB66-3531-F66E-DBA3C7910095}"/>
          </ac:graphicFrameMkLst>
        </pc:graphicFrameChg>
        <pc:graphicFrameChg chg="del">
          <ac:chgData name="Rehan Mirza" userId="20a01ed13f6e6ab9" providerId="LiveId" clId="{BB0AACE9-FF1D-42A4-A027-C4FBF8385E00}" dt="2026-04-28T03:09:07.273" v="593" actId="478"/>
          <ac:graphicFrameMkLst>
            <pc:docMk/>
            <pc:sldMk cId="2111934881" sldId="4110"/>
            <ac:graphicFrameMk id="16" creationId="{B3ED7C4A-94DB-D582-2EFD-6B10716E1AB6}"/>
          </ac:graphicFrameMkLst>
        </pc:graphicFrameChg>
      </pc:sldChg>
      <pc:sldChg chg="del">
        <pc:chgData name="Rehan Mirza" userId="20a01ed13f6e6ab9" providerId="LiveId" clId="{BB0AACE9-FF1D-42A4-A027-C4FBF8385E00}" dt="2026-04-28T03:09:47.015" v="621" actId="47"/>
        <pc:sldMkLst>
          <pc:docMk/>
          <pc:sldMk cId="3815987300" sldId="4111"/>
        </pc:sldMkLst>
      </pc:sldChg>
      <pc:sldChg chg="delSp modSp mod">
        <pc:chgData name="Rehan Mirza" userId="20a01ed13f6e6ab9" providerId="LiveId" clId="{BB0AACE9-FF1D-42A4-A027-C4FBF8385E00}" dt="2026-04-28T03:09:38.935" v="617" actId="20577"/>
        <pc:sldMkLst>
          <pc:docMk/>
          <pc:sldMk cId="1587710227" sldId="4112"/>
        </pc:sldMkLst>
        <pc:spChg chg="mod">
          <ac:chgData name="Rehan Mirza" userId="20a01ed13f6e6ab9" providerId="LiveId" clId="{BB0AACE9-FF1D-42A4-A027-C4FBF8385E00}" dt="2026-04-28T03:09:28.584" v="607" actId="20577"/>
          <ac:spMkLst>
            <pc:docMk/>
            <pc:sldMk cId="1587710227" sldId="4112"/>
            <ac:spMk id="2" creationId="{99C0AC1E-6B61-E24B-59DC-C0834F8F31EE}"/>
          </ac:spMkLst>
        </pc:spChg>
        <pc:spChg chg="mod">
          <ac:chgData name="Rehan Mirza" userId="20a01ed13f6e6ab9" providerId="LiveId" clId="{BB0AACE9-FF1D-42A4-A027-C4FBF8385E00}" dt="2026-04-28T03:09:38.935" v="617" actId="20577"/>
          <ac:spMkLst>
            <pc:docMk/>
            <pc:sldMk cId="1587710227" sldId="4112"/>
            <ac:spMk id="5" creationId="{80682543-DB48-3CCB-47E6-5EE162F1BBA6}"/>
          </ac:spMkLst>
        </pc:spChg>
        <pc:spChg chg="mod">
          <ac:chgData name="Rehan Mirza" userId="20a01ed13f6e6ab9" providerId="LiveId" clId="{BB0AACE9-FF1D-42A4-A027-C4FBF8385E00}" dt="2026-04-28T03:09:23.508" v="601" actId="20577"/>
          <ac:spMkLst>
            <pc:docMk/>
            <pc:sldMk cId="1587710227" sldId="4112"/>
            <ac:spMk id="7" creationId="{4EB8216F-8F7A-C464-D6E7-E1A699160A8C}"/>
          </ac:spMkLst>
        </pc:spChg>
        <pc:spChg chg="mod">
          <ac:chgData name="Rehan Mirza" userId="20a01ed13f6e6ab9" providerId="LiveId" clId="{BB0AACE9-FF1D-42A4-A027-C4FBF8385E00}" dt="2026-04-28T03:09:31.281" v="610" actId="20577"/>
          <ac:spMkLst>
            <pc:docMk/>
            <pc:sldMk cId="1587710227" sldId="4112"/>
            <ac:spMk id="10" creationId="{49033E24-31C0-80C7-BC84-33D8843B0A72}"/>
          </ac:spMkLst>
        </pc:spChg>
        <pc:spChg chg="mod">
          <ac:chgData name="Rehan Mirza" userId="20a01ed13f6e6ab9" providerId="LiveId" clId="{BB0AACE9-FF1D-42A4-A027-C4FBF8385E00}" dt="2026-04-28T03:09:32.771" v="613" actId="20577"/>
          <ac:spMkLst>
            <pc:docMk/>
            <pc:sldMk cId="1587710227" sldId="4112"/>
            <ac:spMk id="11" creationId="{340F377E-C78F-2F0D-30C4-F0B8526535F9}"/>
          </ac:spMkLst>
        </pc:spChg>
        <pc:spChg chg="del">
          <ac:chgData name="Rehan Mirza" userId="20a01ed13f6e6ab9" providerId="LiveId" clId="{BB0AACE9-FF1D-42A4-A027-C4FBF8385E00}" dt="2026-04-28T03:09:35.856" v="614" actId="478"/>
          <ac:spMkLst>
            <pc:docMk/>
            <pc:sldMk cId="1587710227" sldId="4112"/>
            <ac:spMk id="12" creationId="{5B5F4BB4-C7AC-DBCA-7389-91BDEEFD2917}"/>
          </ac:spMkLst>
        </pc:spChg>
        <pc:spChg chg="del">
          <ac:chgData name="Rehan Mirza" userId="20a01ed13f6e6ab9" providerId="LiveId" clId="{BB0AACE9-FF1D-42A4-A027-C4FBF8385E00}" dt="2026-04-28T03:09:35.856" v="614" actId="478"/>
          <ac:spMkLst>
            <pc:docMk/>
            <pc:sldMk cId="1587710227" sldId="4112"/>
            <ac:spMk id="13" creationId="{04A566FC-6130-E4F8-A745-7370E80BEBDA}"/>
          </ac:spMkLst>
        </pc:spChg>
      </pc:sldChg>
      <pc:sldChg chg="del">
        <pc:chgData name="Rehan Mirza" userId="20a01ed13f6e6ab9" providerId="LiveId" clId="{BB0AACE9-FF1D-42A4-A027-C4FBF8385E00}" dt="2026-04-28T03:09:51.092" v="623" actId="47"/>
        <pc:sldMkLst>
          <pc:docMk/>
          <pc:sldMk cId="2571889401" sldId="4113"/>
        </pc:sldMkLst>
      </pc:sldChg>
      <pc:sldChg chg="del">
        <pc:chgData name="Rehan Mirza" userId="20a01ed13f6e6ab9" providerId="LiveId" clId="{BB0AACE9-FF1D-42A4-A027-C4FBF8385E00}" dt="2026-04-28T03:09:53.139" v="624" actId="47"/>
        <pc:sldMkLst>
          <pc:docMk/>
          <pc:sldMk cId="2677420988" sldId="4114"/>
        </pc:sldMkLst>
      </pc:sldChg>
      <pc:sldChg chg="del">
        <pc:chgData name="Rehan Mirza" userId="20a01ed13f6e6ab9" providerId="LiveId" clId="{BB0AACE9-FF1D-42A4-A027-C4FBF8385E00}" dt="2026-04-28T03:09:49.609" v="622" actId="47"/>
        <pc:sldMkLst>
          <pc:docMk/>
          <pc:sldMk cId="359633315" sldId="4115"/>
        </pc:sldMkLst>
      </pc:sldChg>
      <pc:sldMasterChg chg="modSldLayout">
        <pc:chgData name="Rehan Mirza" userId="20a01ed13f6e6ab9" providerId="LiveId" clId="{BB0AACE9-FF1D-42A4-A027-C4FBF8385E00}" dt="2026-04-28T03:07:54.154" v="531" actId="478"/>
        <pc:sldMasterMkLst>
          <pc:docMk/>
          <pc:sldMasterMk cId="735633141" sldId="2147483740"/>
        </pc:sldMasterMkLst>
        <pc:sldLayoutChg chg="delSp">
          <pc:chgData name="Rehan Mirza" userId="20a01ed13f6e6ab9" providerId="LiveId" clId="{BB0AACE9-FF1D-42A4-A027-C4FBF8385E00}" dt="2026-04-28T03:07:54.154" v="531" actId="478"/>
          <pc:sldLayoutMkLst>
            <pc:docMk/>
            <pc:sldMasterMk cId="735633141" sldId="2147483740"/>
            <pc:sldLayoutMk cId="1016741288" sldId="2147483748"/>
          </pc:sldLayoutMkLst>
          <pc:picChg chg="del">
            <ac:chgData name="Rehan Mirza" userId="20a01ed13f6e6ab9" providerId="LiveId" clId="{BB0AACE9-FF1D-42A4-A027-C4FBF8385E00}" dt="2026-04-28T03:07:54.154" v="531" actId="478"/>
            <ac:picMkLst>
              <pc:docMk/>
              <pc:sldMasterMk cId="735633141" sldId="2147483740"/>
              <pc:sldLayoutMk cId="1016741288" sldId="2147483748"/>
              <ac:picMk id="2050" creationId="{7F95CD02-6E70-E47E-1B04-482199495F98}"/>
            </ac:picMkLst>
          </pc:picChg>
        </pc:sldLayoutChg>
      </pc:sldMasterChg>
    </pc:docChg>
  </pc:docChgLst>
</pc:chgInfo>
</file>

<file path=ppt/comments/modernComment_1001_EB8963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9DDCC5-0FCB-4169-A174-982C0A9A16BD}" authorId="{300FC2D2-C211-5CAE-B5DF-3D765C9E29E9}" created="2026-04-28T03:18:56.2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51649629" sldId="4097"/>
      <ac:spMk id="3" creationId="{98B1E3CE-D015-9B7F-B133-61DE946333C1}"/>
      <ac:txMk cp="24" len="35">
        <ac:context len="89" hash="1420438591"/>
      </ac:txMk>
    </ac:txMkLst>
    <p188:pos x="10388277" y="311676"/>
    <p188:replyLst>
      <p188:reply id="{B64E7C89-3379-2446-A112-4B6027AC4553}" authorId="{4C765813-3638-5EB3-1586-41E680E23E05}" created="2026-04-28T11:52:32.673">
        <p188:txBody>
          <a:bodyPr/>
          <a:lstStyle/>
          <a:p>
            <a:r>
              <a:rPr lang="en-US"/>
              <a:t>This is good! I fixed the text tightness a bit.</a:t>
            </a:r>
          </a:p>
        </p188:txBody>
      </p188:reply>
    </p188:replyLst>
    <p188:txBody>
      <a:bodyPr/>
      <a:lstStyle/>
      <a:p>
        <a:r>
          <a:rPr lang="en-US"/>
          <a:t>Hope you’re OK with the subtitle change. I wasn’t sure about the readability around “dis/likes” 
Otherwise we can go with the original:
Understanding Americans’ party dis/likes through open-ended questions.</a:t>
        </a:r>
      </a:p>
    </p188:txBody>
  </p188:cm>
</p188:cmLst>
</file>

<file path=ppt/comments/modernComment_1015_2FB58A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9C4396-1B67-47A9-B37F-65B7B759DDD6}" authorId="{300FC2D2-C211-5CAE-B5DF-3D765C9E29E9}" created="2026-04-28T06:00:37.8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00426751" sldId="4117"/>
      <ac:spMk id="16" creationId="{2DE09392-4B1F-872F-7BBE-F1B97C53B5C0}"/>
    </ac:deMkLst>
    <p188:txBody>
      <a:bodyPr/>
      <a:lstStyle/>
      <a:p>
        <a:r>
          <a:rPr lang="en-US"/>
          <a:t>Review section</a:t>
        </a:r>
      </a:p>
    </p188:txBody>
  </p188:cm>
</p188:cmLst>
</file>

<file path=ppt/comments/modernComment_1019_3299B5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7F8031-407B-4876-8AAA-62CA3E757E84}" authorId="{300FC2D2-C211-5CAE-B5DF-3D765C9E29E9}" created="2026-04-28T04:34:27.5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8934382" sldId="4121"/>
      <ac:spMk id="3" creationId="{686F335F-64E2-888B-4BDA-92E025792613}"/>
      <ac:txMk cp="576" len="22">
        <ac:context len="750" hash="3580214052"/>
      </ac:txMk>
    </ac:txMkLst>
    <p188:pos x="3903889" y="2441640"/>
    <p188:txBody>
      <a:bodyPr/>
      <a:lstStyle/>
      <a:p>
        <a:r>
          <a:rPr lang="en-US"/>
          <a:t>Potentially note this is distinction from Study 1, where we could not run clustered SEs due to multinomial model</a:t>
        </a:r>
      </a:p>
    </p188:txBody>
  </p188:cm>
  <p188:cm id="{3D91E104-F319-4425-8051-7812651CBA77}" authorId="{300FC2D2-C211-5CAE-B5DF-3D765C9E29E9}" created="2026-04-28T04:36:13.5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8934382" sldId="4121"/>
      <ac:spMk id="5" creationId="{F76909BD-11BF-E16A-5917-9D92D3A6B2F2}"/>
      <ac:txMk cp="0" len="48">
        <ac:context len="49" hash="601447405"/>
      </ac:txMk>
    </ac:txMkLst>
    <p188:pos x="9559018" y="353328"/>
    <p188:txBody>
      <a:bodyPr/>
      <a:lstStyle/>
      <a:p>
        <a:r>
          <a:rPr lang="en-US"/>
          <a:t>Review slide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262E3C-961D-8A41-7256-109578846A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225D6-C9D4-99EC-A0C8-6B67E06748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34E2B-CD88-4CB6-B78C-D82DEA846546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F4B49-59A0-0487-1A44-F73B1CAE6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5BACE-2E96-2D16-05BC-24AA92C6DA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DDEBB-0EAE-418E-B7D1-D134DA8D9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99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5D255-6955-4F54-86C0-D98ED5C0100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88684-2D90-4490-86EB-6020F98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0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88684-2D90-4490-86EB-6020F989A7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51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9C64B47-122F-7031-7E7E-82502E0DE0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C64B47-122F-7031-7E7E-82502E0DE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963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6F35789-EA55-1B75-B7BD-A26EA7916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F35789-EA55-1B75-B7BD-A26EA7916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1341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E32162-4988-161B-EA4C-E2B42CF07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E32162-4988-161B-EA4C-E2B42CF07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895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 and Bullets Horizonta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F3B943-02A8-2152-A6D0-BA389B0892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F3B943-02A8-2152-A6D0-BA389B08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1C349B-3F5D-6EDB-0CD6-478281261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A734BB0-1D03-9E4B-592E-97C996F16A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7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0" name="Content Placeholder 15">
            <a:extLst>
              <a:ext uri="{FF2B5EF4-FFF2-40B4-BE49-F238E27FC236}">
                <a16:creationId xmlns:a16="http://schemas.microsoft.com/office/drawing/2014/main" id="{31C36008-EEEF-126E-DBF8-9082F55A1A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5145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BFA647-9651-A464-27D7-197B920FA3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173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16F5CB1-D758-F260-F87A-377CFC43F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1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785FA74-20FC-1CF1-5D87-FC02F3874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514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3DB396A6-8D7D-398B-9268-99863F31DD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39200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CF64B3A0-7889-B34F-6568-8E9E9944AA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2170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29A3ABFA-9B0F-A696-993E-BB99E50BD6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200" y="4122738"/>
            <a:ext cx="2514600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39B8AD4-0579-3739-34C1-35729D0708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9B8AD4-0579-3739-34C1-35729D0708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76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DDE0B7-5289-A1B9-A7AF-C98F7ADC3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CE18D700-92C5-2CEE-6CC5-9F2087FE3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305" y="1984375"/>
            <a:ext cx="4760495" cy="358270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FCA9014C-2A4A-991E-9BD6-2C07FAAB4F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6" y="2041525"/>
            <a:ext cx="4760495" cy="3533862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7" name="Text Placeholder 58">
            <a:extLst>
              <a:ext uri="{FF2B5EF4-FFF2-40B4-BE49-F238E27FC236}">
                <a16:creationId xmlns:a16="http://schemas.microsoft.com/office/drawing/2014/main" id="{16270CA2-D2A5-0A08-1275-5CA6C055D8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3100" y="6319875"/>
            <a:ext cx="10680700" cy="300037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Source: [Insert source here]</a:t>
            </a:r>
          </a:p>
        </p:txBody>
      </p:sp>
    </p:spTree>
    <p:extLst>
      <p:ext uri="{BB962C8B-B14F-4D97-AF65-F5344CB8AC3E}">
        <p14:creationId xmlns:p14="http://schemas.microsoft.com/office/powerpoint/2010/main" val="3012769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hibi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DDE0B7-5289-A1B9-A7AF-C98F7ADC3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CE18D700-92C5-2CEE-6CC5-9F2087FE3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305" y="1984375"/>
            <a:ext cx="4760495" cy="358270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FCA9014C-2A4A-991E-9BD6-2C07FAAB4F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6" y="2041525"/>
            <a:ext cx="4760495" cy="3533862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</p:spTree>
    <p:extLst>
      <p:ext uri="{BB962C8B-B14F-4D97-AF65-F5344CB8AC3E}">
        <p14:creationId xmlns:p14="http://schemas.microsoft.com/office/powerpoint/2010/main" val="101674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147E0703-2013-BB34-A63A-7F88664B05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31242" y="23822"/>
            <a:ext cx="4857582" cy="1408242"/>
          </a:xfrm>
          <a:custGeom>
            <a:avLst/>
            <a:gdLst>
              <a:gd name="T0" fmla="*/ 8887 w 8888"/>
              <a:gd name="T1" fmla="*/ 2558 h 2559"/>
              <a:gd name="T2" fmla="*/ 1115 w 8888"/>
              <a:gd name="T3" fmla="*/ 2558 h 2559"/>
              <a:gd name="T4" fmla="*/ 1115 w 8888"/>
              <a:gd name="T5" fmla="*/ 2558 h 2559"/>
              <a:gd name="T6" fmla="*/ 0 w 8888"/>
              <a:gd name="T7" fmla="*/ 1443 h 2559"/>
              <a:gd name="T8" fmla="*/ 0 w 8888"/>
              <a:gd name="T9" fmla="*/ 0 h 2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88" h="2559">
                <a:moveTo>
                  <a:pt x="8887" y="2558"/>
                </a:moveTo>
                <a:lnTo>
                  <a:pt x="1115" y="2558"/>
                </a:lnTo>
                <a:lnTo>
                  <a:pt x="1115" y="2558"/>
                </a:lnTo>
                <a:cubicBezTo>
                  <a:pt x="499" y="2558"/>
                  <a:pt x="0" y="2059"/>
                  <a:pt x="0" y="1443"/>
                </a:cubicBez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1402B402-EDFF-D362-1ECB-99FDC3C35A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7" y="4738786"/>
            <a:ext cx="5401864" cy="2095392"/>
          </a:xfrm>
          <a:custGeom>
            <a:avLst/>
            <a:gdLst>
              <a:gd name="T0" fmla="*/ 8762 w 8763"/>
              <a:gd name="T1" fmla="*/ 3249 h 3250"/>
              <a:gd name="T2" fmla="*/ 8762 w 8763"/>
              <a:gd name="T3" fmla="*/ 926 h 3250"/>
              <a:gd name="T4" fmla="*/ 8762 w 8763"/>
              <a:gd name="T5" fmla="*/ 926 h 3250"/>
              <a:gd name="T6" fmla="*/ 7837 w 8763"/>
              <a:gd name="T7" fmla="*/ 0 h 3250"/>
              <a:gd name="T8" fmla="*/ 0 w 8763"/>
              <a:gd name="T9" fmla="*/ 0 h 3250"/>
              <a:gd name="T10" fmla="*/ 0 w 8763"/>
              <a:gd name="T11" fmla="*/ 3249 h 3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763" h="325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3" name="Freeform 20">
            <a:extLst>
              <a:ext uri="{FF2B5EF4-FFF2-40B4-BE49-F238E27FC236}">
                <a16:creationId xmlns:a16="http://schemas.microsoft.com/office/drawing/2014/main" id="{BE05D05C-8518-C54C-7811-621BD94BF1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" y="1432064"/>
            <a:ext cx="3183465" cy="2978241"/>
          </a:xfrm>
          <a:custGeom>
            <a:avLst/>
            <a:gdLst>
              <a:gd name="T0" fmla="*/ 2724 w 5611"/>
              <a:gd name="T1" fmla="*/ 3890 h 5771"/>
              <a:gd name="T2" fmla="*/ 2724 w 5611"/>
              <a:gd name="T3" fmla="*/ 3890 h 5771"/>
              <a:gd name="T4" fmla="*/ 1720 w 5611"/>
              <a:gd name="T5" fmla="*/ 2885 h 5771"/>
              <a:gd name="T6" fmla="*/ 1720 w 5611"/>
              <a:gd name="T7" fmla="*/ 2885 h 5771"/>
              <a:gd name="T8" fmla="*/ 2724 w 5611"/>
              <a:gd name="T9" fmla="*/ 1881 h 5771"/>
              <a:gd name="T10" fmla="*/ 2724 w 5611"/>
              <a:gd name="T11" fmla="*/ 1881 h 5771"/>
              <a:gd name="T12" fmla="*/ 3729 w 5611"/>
              <a:gd name="T13" fmla="*/ 2885 h 5771"/>
              <a:gd name="T14" fmla="*/ 3729 w 5611"/>
              <a:gd name="T15" fmla="*/ 2885 h 5771"/>
              <a:gd name="T16" fmla="*/ 2724 w 5611"/>
              <a:gd name="T17" fmla="*/ 3890 h 5771"/>
              <a:gd name="T18" fmla="*/ 2724 w 5611"/>
              <a:gd name="T19" fmla="*/ 0 h 5771"/>
              <a:gd name="T20" fmla="*/ 2724 w 5611"/>
              <a:gd name="T21" fmla="*/ 0 h 5771"/>
              <a:gd name="T22" fmla="*/ 0 w 5611"/>
              <a:gd name="T23" fmla="*/ 1934 h 5771"/>
              <a:gd name="T24" fmla="*/ 0 w 5611"/>
              <a:gd name="T25" fmla="*/ 3836 h 5771"/>
              <a:gd name="T26" fmla="*/ 0 w 5611"/>
              <a:gd name="T27" fmla="*/ 3836 h 5771"/>
              <a:gd name="T28" fmla="*/ 2724 w 5611"/>
              <a:gd name="T29" fmla="*/ 5770 h 5771"/>
              <a:gd name="T30" fmla="*/ 2724 w 5611"/>
              <a:gd name="T31" fmla="*/ 5770 h 5771"/>
              <a:gd name="T32" fmla="*/ 5610 w 5611"/>
              <a:gd name="T33" fmla="*/ 2885 h 5771"/>
              <a:gd name="T34" fmla="*/ 5610 w 5611"/>
              <a:gd name="T35" fmla="*/ 2885 h 5771"/>
              <a:gd name="T36" fmla="*/ 2724 w 5611"/>
              <a:gd name="T37" fmla="*/ 0 h 57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611" h="5771">
                <a:moveTo>
                  <a:pt x="2724" y="3890"/>
                </a:moveTo>
                <a:lnTo>
                  <a:pt x="2724" y="3890"/>
                </a:lnTo>
                <a:cubicBezTo>
                  <a:pt x="2170" y="3890"/>
                  <a:pt x="1720" y="3441"/>
                  <a:pt x="1720" y="2885"/>
                </a:cubicBezTo>
                <a:lnTo>
                  <a:pt x="1720" y="2885"/>
                </a:lnTo>
                <a:cubicBezTo>
                  <a:pt x="1720" y="2331"/>
                  <a:pt x="2170" y="1881"/>
                  <a:pt x="2724" y="1881"/>
                </a:cubicBezTo>
                <a:lnTo>
                  <a:pt x="2724" y="1881"/>
                </a:lnTo>
                <a:cubicBezTo>
                  <a:pt x="3280" y="1881"/>
                  <a:pt x="3729" y="2331"/>
                  <a:pt x="3729" y="2885"/>
                </a:cubicBezTo>
                <a:lnTo>
                  <a:pt x="3729" y="2885"/>
                </a:lnTo>
                <a:cubicBezTo>
                  <a:pt x="3729" y="3441"/>
                  <a:pt x="3280" y="3890"/>
                  <a:pt x="2724" y="3890"/>
                </a:cubicBezTo>
                <a:close/>
                <a:moveTo>
                  <a:pt x="2724" y="0"/>
                </a:moveTo>
                <a:lnTo>
                  <a:pt x="2724" y="0"/>
                </a:lnTo>
                <a:cubicBezTo>
                  <a:pt x="1465" y="0"/>
                  <a:pt x="393" y="809"/>
                  <a:pt x="0" y="1934"/>
                </a:cubicBezTo>
                <a:lnTo>
                  <a:pt x="0" y="3836"/>
                </a:lnTo>
                <a:lnTo>
                  <a:pt x="0" y="3836"/>
                </a:lnTo>
                <a:cubicBezTo>
                  <a:pt x="393" y="4962"/>
                  <a:pt x="1465" y="5770"/>
                  <a:pt x="2724" y="5770"/>
                </a:cubicBezTo>
                <a:lnTo>
                  <a:pt x="2724" y="5770"/>
                </a:lnTo>
                <a:cubicBezTo>
                  <a:pt x="4318" y="5770"/>
                  <a:pt x="5610" y="4478"/>
                  <a:pt x="5610" y="2885"/>
                </a:cubicBezTo>
                <a:lnTo>
                  <a:pt x="5610" y="2885"/>
                </a:lnTo>
                <a:cubicBezTo>
                  <a:pt x="5610" y="1292"/>
                  <a:pt x="4318" y="0"/>
                  <a:pt x="27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9DCCFE8E-39C4-03E8-AE7C-FEF0B92774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>
                <a:latin typeface="Montserrat SemiBold" panose="00000700000000000000" pitchFamily="2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</p:spTree>
    <p:extLst>
      <p:ext uri="{BB962C8B-B14F-4D97-AF65-F5344CB8AC3E}">
        <p14:creationId xmlns:p14="http://schemas.microsoft.com/office/powerpoint/2010/main" val="112585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07DEAE5-9C0B-F2D7-2FDB-C091B1D430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19200" y="4738786"/>
            <a:ext cx="4533501" cy="2095392"/>
          </a:xfrm>
          <a:custGeom>
            <a:avLst/>
            <a:gdLst>
              <a:gd name="T0" fmla="*/ 8762 w 8763"/>
              <a:gd name="T1" fmla="*/ 3249 h 3250"/>
              <a:gd name="T2" fmla="*/ 8762 w 8763"/>
              <a:gd name="T3" fmla="*/ 926 h 3250"/>
              <a:gd name="T4" fmla="*/ 8762 w 8763"/>
              <a:gd name="T5" fmla="*/ 926 h 3250"/>
              <a:gd name="T6" fmla="*/ 7837 w 8763"/>
              <a:gd name="T7" fmla="*/ 0 h 3250"/>
              <a:gd name="T8" fmla="*/ 0 w 8763"/>
              <a:gd name="T9" fmla="*/ 0 h 3250"/>
              <a:gd name="T10" fmla="*/ 0 w 8763"/>
              <a:gd name="T11" fmla="*/ 3249 h 3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763" h="325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E06A49A-60BC-E3E8-89D4-95EE658E15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7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48843B8-CA4B-5A7B-9CE0-1C3C671C71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357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8843B8-CA4B-5A7B-9CE0-1C3C671C7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0F312D-95AE-4FBF-DF46-96F8F75DFE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2238" y="3063875"/>
            <a:ext cx="5368925" cy="6969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solidFill>
                  <a:srgbClr val="8A173E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6C26B54-35CB-DC58-5F0C-3B2D71340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0238" y="1587500"/>
            <a:ext cx="4860925" cy="1011238"/>
          </a:xfrm>
        </p:spPr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-600" normalizeH="0" baseline="0" noProof="0" dirty="0">
                <a:ln>
                  <a:noFill/>
                </a:ln>
                <a:solidFill>
                  <a:srgbClr val="11134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Header</a:t>
            </a:r>
          </a:p>
          <a:p>
            <a:pPr lvl="4"/>
            <a:endParaRPr lang="en-US" dirty="0"/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AACC8D14-0884-63B7-CF16-383E62C6D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0238" y="3990320"/>
            <a:ext cx="4860925" cy="1011238"/>
          </a:xfrm>
        </p:spPr>
        <p:txBody>
          <a:bodyPr/>
          <a:lstStyle>
            <a:lvl1pPr>
              <a:defRPr sz="2400" b="1"/>
            </a:lvl1pPr>
            <a:lvl5pPr marL="1828434" indent="0" algn="r">
              <a:buNone/>
              <a:defRPr sz="2400">
                <a:solidFill>
                  <a:srgbClr val="000000"/>
                </a:solidFill>
              </a:defRPr>
            </a:lvl5pPr>
          </a:lstStyle>
          <a:p>
            <a:pPr lvl="4"/>
            <a:r>
              <a:rPr lang="en-US" dirty="0"/>
              <a:t>Attributions</a:t>
            </a:r>
          </a:p>
        </p:txBody>
      </p:sp>
    </p:spTree>
    <p:extLst>
      <p:ext uri="{BB962C8B-B14F-4D97-AF65-F5344CB8AC3E}">
        <p14:creationId xmlns:p14="http://schemas.microsoft.com/office/powerpoint/2010/main" val="203322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x and Bullets Horizontal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F3B943-02A8-2152-A6D0-BA389B0892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8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F3B943-02A8-2152-A6D0-BA389B08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1C349B-3F5D-6EDB-0CD6-478281261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 marL="0" indent="0"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50" baseline="0" dirty="0">
                <a:solidFill>
                  <a:schemeClr val="tx2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 Light" pitchFamily="2" charset="77"/>
              </a:defRPr>
            </a:lvl1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A734BB0-1D03-9E4B-592E-97C996F16A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17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0" name="Content Placeholder 15">
            <a:extLst>
              <a:ext uri="{FF2B5EF4-FFF2-40B4-BE49-F238E27FC236}">
                <a16:creationId xmlns:a16="http://schemas.microsoft.com/office/drawing/2014/main" id="{31C36008-EEEF-126E-DBF8-9082F55A1A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05145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BFA647-9651-A464-27D7-197B920FA3D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173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16F5CB1-D758-F260-F87A-377CFC43F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1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785FA74-20FC-1CF1-5D87-FC02F38746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5141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3DB396A6-8D7D-398B-9268-99863F31DD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39200" y="2041525"/>
            <a:ext cx="2514600" cy="1648159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SHAPE HERE</a:t>
            </a:r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CF64B3A0-7889-B34F-6568-8E9E9944AA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2170" y="4122738"/>
            <a:ext cx="2514601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Text Placeholder 52">
            <a:extLst>
              <a:ext uri="{FF2B5EF4-FFF2-40B4-BE49-F238E27FC236}">
                <a16:creationId xmlns:a16="http://schemas.microsoft.com/office/drawing/2014/main" id="{29A3ABFA-9B0F-A696-993E-BB99E50BD6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200" y="4122738"/>
            <a:ext cx="2514600" cy="14446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454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BB13F2A-1880-D95B-67E6-1350245A4512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84630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5" imgH="405" progId="TCLayout.ActiveDocument.1">
                  <p:embed/>
                </p:oleObj>
              </mc:Choice>
              <mc:Fallback>
                <p:oleObj name="think-cell Slide" r:id="rId14" imgW="405" imgH="405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B13F2A-1880-D95B-67E6-1350245A45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42844D6-6127-E815-A5ED-22BA9919A2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84630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05" imgH="405" progId="TCLayout.ActiveDocument.1">
                  <p:embed/>
                </p:oleObj>
              </mc:Choice>
              <mc:Fallback>
                <p:oleObj name="think-cell Slide" r:id="rId16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2844D6-6127-E815-A5ED-22BA9919A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Annenberg School for Communication Library | Penn Libraries">
            <a:extLst>
              <a:ext uri="{FF2B5EF4-FFF2-40B4-BE49-F238E27FC236}">
                <a16:creationId xmlns:a16="http://schemas.microsoft.com/office/drawing/2014/main" id="{1090DE08-E03A-02B5-79FB-3F4C1C6049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6248571"/>
            <a:ext cx="1984159" cy="48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rton School - Wikipedia">
            <a:extLst>
              <a:ext uri="{FF2B5EF4-FFF2-40B4-BE49-F238E27FC236}">
                <a16:creationId xmlns:a16="http://schemas.microsoft.com/office/drawing/2014/main" id="{1DB69777-84C2-961F-C03B-F3D3D64253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637" y="6242088"/>
            <a:ext cx="2066364" cy="53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63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5" r:id="rId4"/>
    <p:sldLayoutId id="2147483746" r:id="rId5"/>
    <p:sldLayoutId id="2147483748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spc="-50" baseline="0">
          <a:solidFill>
            <a:schemeClr val="tx2"/>
          </a:solidFill>
          <a:latin typeface="Poppins" panose="00000500000000000000" pitchFamily="2" charset="0"/>
          <a:ea typeface="Open Sans Light" panose="020B0306030504020204" pitchFamily="34" charset="0"/>
          <a:cs typeface="Poppins Light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2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lang="en-US" sz="18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4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q"/>
        <a:defRPr lang="en-US" sz="1400" b="0" i="0" kern="1200" spc="-15" baseline="0" dirty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1_EB89635D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9_3299B5EE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microsoft.com/office/2018/10/relationships/comments" Target="../comments/modernComment_1015_2FB58AFF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9D9B14C4-7F39-59C1-34E9-EFE29E7A462F}"/>
              </a:ext>
            </a:extLst>
          </p:cNvPr>
          <p:cNvSpPr txBox="1"/>
          <p:nvPr/>
        </p:nvSpPr>
        <p:spPr>
          <a:xfrm>
            <a:off x="813123" y="781884"/>
            <a:ext cx="11769402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l" defTabSz="914217">
              <a:lnSpc>
                <a:spcPct val="100000"/>
              </a:lnSpc>
            </a:pPr>
            <a:r>
              <a:rPr lang="en-US" sz="4000" spc="-15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</a:rPr>
              <a:t>Issues or traits?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514F7-8404-F570-70FB-FB5D0FF45AA7}"/>
              </a:ext>
            </a:extLst>
          </p:cNvPr>
          <p:cNvSpPr txBox="1"/>
          <p:nvPr/>
        </p:nvSpPr>
        <p:spPr>
          <a:xfrm>
            <a:off x="463296" y="4526756"/>
            <a:ext cx="1108100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r" defTabSz="914217">
              <a:lnSpc>
                <a:spcPct val="100000"/>
              </a:lnSpc>
            </a:pPr>
            <a:r>
              <a:rPr lang="en-US" sz="4000" b="0" spc="-15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Wei Wang (David),  Rehan Mirza, Ying Zhang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229AD-DDAB-6A09-9177-9662E6225DB5}"/>
              </a:ext>
            </a:extLst>
          </p:cNvPr>
          <p:cNvSpPr txBox="1"/>
          <p:nvPr/>
        </p:nvSpPr>
        <p:spPr>
          <a:xfrm>
            <a:off x="7038975" y="3614084"/>
            <a:ext cx="450532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r" defTabSz="914217">
              <a:lnSpc>
                <a:spcPct val="100000"/>
              </a:lnSpc>
            </a:pPr>
            <a:r>
              <a:rPr lang="en-US" sz="4000" b="0" spc="-15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 May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E3CE-D015-9B7F-B133-61DE946333C1}"/>
              </a:ext>
            </a:extLst>
          </p:cNvPr>
          <p:cNvSpPr txBox="1"/>
          <p:nvPr/>
        </p:nvSpPr>
        <p:spPr>
          <a:xfrm>
            <a:off x="813123" y="1489770"/>
            <a:ext cx="10940727" cy="193899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pPr algn="l" defTabSz="914217">
              <a:lnSpc>
                <a:spcPct val="100000"/>
              </a:lnSpc>
            </a:pPr>
            <a:r>
              <a:rPr lang="en-US" sz="4000" b="0" spc="-15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</a:rPr>
              <a:t>Understanding Americans partisan favorability and animosity through open-ended questions</a:t>
            </a:r>
          </a:p>
        </p:txBody>
      </p:sp>
    </p:spTree>
    <p:extLst>
      <p:ext uri="{BB962C8B-B14F-4D97-AF65-F5344CB8AC3E}">
        <p14:creationId xmlns:p14="http://schemas.microsoft.com/office/powerpoint/2010/main" val="395164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228F-542E-204C-E641-4CC4934A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0FB0FF3-65A7-74D7-3DC4-EBB7E60D59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DFE58D03-A3B9-2A45-1182-5822352BB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DAA183ED-8892-417F-FC73-F7AA5E95D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FD99C-FCD2-E9DE-92DB-099798552A57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B43E9-2FDC-45EA-3D7D-ABAE60FB1E2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F52729C4-5977-3680-D5FF-57C84EACC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944E6D64-B975-C11E-06CD-3FA488FF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198F8-D99C-BD58-D4FF-BE440571DF6F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315F6C-26A6-BB4A-749B-C88E2F19FA85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C0621BF1-FF16-CB1F-13D1-8CF3853C0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251EDB37-DC75-CE9D-AA8B-DE074049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87FCF1-2F7E-E550-B6C0-C2BDA9F8A5A7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13B0C-5363-1121-E956-C7F27BA239D0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5D1014F1-5B79-F0AD-4669-D6C7FB8D3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303D2F51-7524-0ECE-E615-CF5019028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97F0AA70-EC54-8BE0-F783-450D93FE1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18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6C4E-FE16-9CBC-60A0-18223E2A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07B593C-2D30-D1C1-A0A1-003304883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Background and Research Question(s)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0144B-7539-3275-03AC-FDF57AE73763}"/>
              </a:ext>
            </a:extLst>
          </p:cNvPr>
          <p:cNvSpPr txBox="1"/>
          <p:nvPr/>
        </p:nvSpPr>
        <p:spPr>
          <a:xfrm>
            <a:off x="962026" y="1447800"/>
            <a:ext cx="10267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Partisan animosity and polarization and grown over the past 20 years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Debate over the specific reasons for affective polarization: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Intergroup conflict (identity and affect)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</a:rPr>
              <a:t>Ideological sorting (widening policy gaps)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We use survey data from the American National Elections Study (ANES) to examine what Americans provide as their reasons for in-group favorability and out-group animosity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3A070-16C1-C6A4-55A8-F3D280B055D6}"/>
              </a:ext>
            </a:extLst>
          </p:cNvPr>
          <p:cNvSpPr txBox="1"/>
          <p:nvPr/>
        </p:nvSpPr>
        <p:spPr>
          <a:xfrm>
            <a:off x="962026" y="986135"/>
            <a:ext cx="1026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Background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F37E6-6B57-EB94-B37D-2210D3CB9A01}"/>
              </a:ext>
            </a:extLst>
          </p:cNvPr>
          <p:cNvSpPr txBox="1"/>
          <p:nvPr/>
        </p:nvSpPr>
        <p:spPr>
          <a:xfrm>
            <a:off x="962026" y="4133879"/>
            <a:ext cx="1026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RQ1: What reasons do American’s provide in open-ended responses for liking their in-group party, and disliking the out-group party?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63765-DE20-2411-2990-C1C78BFDC16E}"/>
              </a:ext>
            </a:extLst>
          </p:cNvPr>
          <p:cNvSpPr txBox="1"/>
          <p:nvPr/>
        </p:nvSpPr>
        <p:spPr>
          <a:xfrm>
            <a:off x="962026" y="5095993"/>
            <a:ext cx="10267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RQ2: Which respondent attributes predict whether someone provides open-ended responses about the parties?</a:t>
            </a:r>
          </a:p>
        </p:txBody>
      </p:sp>
    </p:spTree>
    <p:extLst>
      <p:ext uri="{BB962C8B-B14F-4D97-AF65-F5344CB8AC3E}">
        <p14:creationId xmlns:p14="http://schemas.microsoft.com/office/powerpoint/2010/main" val="329114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4D06-B7F4-B52B-92CF-5191BC12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779B974-6BF0-FB87-C5C6-1DCF0EB24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0AC5F7E9-BA57-2F66-E5FB-46278F7D5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0E22BD93-44F1-3072-70A8-B1EA9957C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BC311-614C-4C28-37AF-641E3FEFD55C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55DAA-E394-F794-5569-6B941BDFDCA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51B26CDE-445F-D57A-BA76-372F4BE3F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2E90D028-CB01-4227-6D96-8508EEF7C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CAE59-38D0-92FC-DFDC-9BF4E8B8E244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3DA17-945E-AB94-F737-B350EF408F5E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1DDE6EA4-04CF-A496-D27B-AD80AC27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0168BA59-4DEC-0B56-7D92-060605F5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6D973-C0E2-B826-FFAF-8001E72CE5AF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40B5A-8A4D-33EC-B0B2-B63DB5A840DC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AACC0569-E352-666C-1236-3855E32E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1611CC76-3D62-A7AD-0482-C61B088DA2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446853DE-FECC-C751-9DBA-D27F86D1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31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2FD0-9F3D-9C80-2525-F971AD9A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5112FF8-D3EE-E101-8C76-F4516EC94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ANES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B494F-35E4-5CC4-D4E6-CD006DAB9CC8}"/>
              </a:ext>
            </a:extLst>
          </p:cNvPr>
          <p:cNvSpPr txBox="1"/>
          <p:nvPr/>
        </p:nvSpPr>
        <p:spPr>
          <a:xfrm>
            <a:off x="962025" y="1447800"/>
            <a:ext cx="10515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ANES Time Series, 2008-2024 (5 election cycles)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2016 excluded from the analyses – open-ended responses were not available that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Final sample: 26,308 responses across 4 election years (2008, 2012, 2020,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1A116-646D-77CE-2598-2749E208B155}"/>
              </a:ext>
            </a:extLst>
          </p:cNvPr>
          <p:cNvSpPr txBox="1"/>
          <p:nvPr/>
        </p:nvSpPr>
        <p:spPr>
          <a:xfrm>
            <a:off x="962026" y="986135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Source &amp; Coverage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4A405-F72B-8678-D554-0C067774F43C}"/>
              </a:ext>
            </a:extLst>
          </p:cNvPr>
          <p:cNvSpPr txBox="1"/>
          <p:nvPr/>
        </p:nvSpPr>
        <p:spPr>
          <a:xfrm>
            <a:off x="962025" y="3011091"/>
            <a:ext cx="10515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Outcome (Study 1</a:t>
            </a: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):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Feeling thermometers for Democrats and Republicans (0-100 scale), recoded into 5-class indicator)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Text predictors: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Free text-responses to express favorability or animosity towards parties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Outcome (Study 2):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Whether respondent provided open-ended text response, coded as binary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~40-60% of respondents did not provide open-ended text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Controls: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Survey year, forced in as fixed effects for all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Demographics and other participant characteristics available as predictors in Study 2 (e.g., ideology, age, gender, race/ethnicity, education)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CSES liking scale as an alternative outcome measure to thermometers (robustness check)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25070-B68C-5230-8FFC-AB3963FAC49D}"/>
              </a:ext>
            </a:extLst>
          </p:cNvPr>
          <p:cNvSpPr txBox="1"/>
          <p:nvPr/>
        </p:nvSpPr>
        <p:spPr>
          <a:xfrm>
            <a:off x="962026" y="2549426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Key variables </a:t>
            </a:r>
          </a:p>
        </p:txBody>
      </p:sp>
    </p:spTree>
    <p:extLst>
      <p:ext uri="{BB962C8B-B14F-4D97-AF65-F5344CB8AC3E}">
        <p14:creationId xmlns:p14="http://schemas.microsoft.com/office/powerpoint/2010/main" val="88595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480D-570F-62B9-0560-F043B5B3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0A8622F-36A3-6464-D5F9-29A4909D5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F3669459-AFFD-2A9B-41D3-D9FDC55F8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08BE51A5-F927-4445-6EBD-A484F7C8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7D2CC-85E6-05D4-9820-A088C9D61BFE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E2C3D-E347-5EBC-78CA-1D16064C1185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687882F6-A445-6C00-C663-6FF7F60A0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DC179773-61FB-0B1B-E960-A1F4FA286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BAF50-CCCA-E5EF-4231-0F9B6A6451BC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F350D-DC6F-C257-D72A-E0E209AA06C0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BF43DD5E-AA2D-0384-4AC2-E8100FEF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501714AE-0BF5-9D83-64F4-AE9182DE2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90B38-C182-5204-9113-A5B5C67FB77B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3358C-98CC-A2C8-49AA-103D8C368A15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EEC6AA98-2D0C-DFC0-AA0A-D4DCC279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0B1FF351-1724-1309-A307-FD720A4F4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66F3A31E-7480-ED79-6A59-C063FBAB0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5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CBC5-486D-5069-1797-591F48C8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6AA01DA-6629-07F1-F6B0-6187ECAD8F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1: Text Mining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C8DEC-87E6-EC0F-0E8F-9FE0C273A094}"/>
              </a:ext>
            </a:extLst>
          </p:cNvPr>
          <p:cNvSpPr txBox="1"/>
          <p:nvPr/>
        </p:nvSpPr>
        <p:spPr>
          <a:xfrm>
            <a:off x="962025" y="1488103"/>
            <a:ext cx="10839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Feeling thermometers </a:t>
            </a:r>
            <a:r>
              <a:rPr lang="en-US" sz="2000" dirty="0">
                <a:solidFill>
                  <a:srgbClr val="000000"/>
                </a:solidFill>
              </a:rPr>
              <a:t>were recoded into a 5-class scale: “highly unfavorable” (0–19), “unfavorable” (20–39), “neutral” (40–59), “favorable” (60–79), “highly favorable” (80–100) 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Clustering at the tails (0-19 and 80-100) motivates a more granular scale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Separate models for Democrat and Republican thermometers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Three text mining methods: stemming, n-grams, skip-grams with consistent results across them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Skip-grams</a:t>
            </a:r>
            <a:r>
              <a:rPr lang="en-US" sz="2000" dirty="0">
                <a:solidFill>
                  <a:srgbClr val="000000"/>
                </a:solidFill>
              </a:rPr>
              <a:t> selected as primary method due to better sentiment handling (negation, within-sentence connections), and robustness to conversational language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Multinomial LASSO </a:t>
            </a:r>
            <a:r>
              <a:rPr lang="en-US" sz="2000" dirty="0">
                <a:solidFill>
                  <a:srgbClr val="000000"/>
                </a:solidFill>
              </a:rPr>
              <a:t>with year fixed effects used for variable selection (~100-150 terms per model) followed by </a:t>
            </a:r>
            <a:r>
              <a:rPr lang="en-US" sz="2000" b="1" dirty="0">
                <a:solidFill>
                  <a:srgbClr val="000000"/>
                </a:solidFill>
              </a:rPr>
              <a:t>Relaxed LASSO (GLM) </a:t>
            </a:r>
            <a:r>
              <a:rPr lang="en-US" sz="2000" dirty="0">
                <a:solidFill>
                  <a:srgbClr val="000000"/>
                </a:solidFill>
              </a:rPr>
              <a:t>on LASSO-selected terms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9B649-2557-5A23-FF86-A07E85599586}"/>
              </a:ext>
            </a:extLst>
          </p:cNvPr>
          <p:cNvSpPr txBox="1"/>
          <p:nvPr/>
        </p:nvSpPr>
        <p:spPr>
          <a:xfrm>
            <a:off x="962025" y="4833640"/>
            <a:ext cx="1051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Partisan stratification: </a:t>
            </a:r>
            <a:r>
              <a:rPr lang="en-US" sz="2000" dirty="0">
                <a:solidFill>
                  <a:srgbClr val="000000"/>
                </a:solidFill>
              </a:rPr>
              <a:t>Analyses conducted on full sample, though partisan stratification (only Republicans rating Democrats, only Democrats rating Republicans) provided consistent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sym typeface="Wingdings" panose="05000000000000000000" pitchFamily="2" charset="2"/>
              </a:rPr>
              <a:t>CSES party liking scale: </a:t>
            </a:r>
            <a:r>
              <a:rPr lang="en-US" sz="2000" dirty="0">
                <a:solidFill>
                  <a:srgbClr val="000000"/>
                </a:solidFill>
                <a:sym typeface="Wingdings" panose="05000000000000000000" pitchFamily="2" charset="2"/>
              </a:rPr>
              <a:t>Top predictors provided substantively consistent results with thermometer models 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6E43A-2CF2-57EC-0059-04869B6329BA}"/>
              </a:ext>
            </a:extLst>
          </p:cNvPr>
          <p:cNvSpPr txBox="1"/>
          <p:nvPr/>
        </p:nvSpPr>
        <p:spPr>
          <a:xfrm>
            <a:off x="962026" y="4371975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Robustness checks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E3DF6-B675-48BE-EFE6-DAD8E018A779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58678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6B3A-8AA8-FFD1-2CFC-90EB8A56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0205225-52BC-173C-A57A-FEC73C9D0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6E8A1F86-9297-6CEA-EC6D-08AE15DB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5E16F592-EB04-A08B-84B3-AE219B189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E4049-E9A1-47E4-4019-1C2416CA4FC1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2B296-454B-AB32-F94E-372A5DE98672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841762B1-3267-A89E-A46D-01FFE9AA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0F083DCA-5B9D-CBDA-C990-D2987F41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18569-CBFF-36A4-56B2-CEFB0FB15B37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9552C-791D-C524-7940-BA20ED924DE0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09417C86-5D7A-EC63-FC40-B3ACD812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1B3DBCCB-25A7-8FE6-E7FD-E92CBC671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D1B83-5D73-94F7-8409-079693F107FF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86BBE-CAA8-EF86-0CCA-964CBBC171F6}"/>
              </a:ext>
            </a:extLst>
          </p:cNvPr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5DB58D1C-FC5C-8502-7484-73EF9FE99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726BFE2D-D097-63EB-E4F4-FE2460EFF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C241241C-E6B7-8489-1D8C-1FA54412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41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5882-6A1C-D05F-DE01-8453C9AD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76909BD-11BF-E16A-5917-9D92D3A6B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2: Open-ended Response Predictors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F335F-64E2-888B-4BDA-92E025792613}"/>
              </a:ext>
            </a:extLst>
          </p:cNvPr>
          <p:cNvSpPr txBox="1"/>
          <p:nvPr/>
        </p:nvSpPr>
        <p:spPr>
          <a:xfrm>
            <a:off x="962025" y="1469053"/>
            <a:ext cx="108394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Whether a respondent provided open-ended text</a:t>
            </a:r>
            <a:r>
              <a:rPr lang="en-US" sz="2000" dirty="0">
                <a:solidFill>
                  <a:srgbClr val="000000"/>
                </a:solidFill>
              </a:rPr>
              <a:t>, coded a binary (1 = provided text, 0 = did not respond or provided no usable text)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Four separate outcomes: Democrat likes, Democrat dislikes, Republican likes, Republican dislikes 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Candidate Predictors: </a:t>
            </a:r>
            <a:r>
              <a:rPr lang="en-US" sz="2000" dirty="0">
                <a:solidFill>
                  <a:srgbClr val="000000"/>
                </a:solidFill>
              </a:rPr>
              <a:t>Demographics and participant characteristics (party ID, ideology, age, gender, race/ethnicity, education, region, thermometer ratings)</a:t>
            </a:r>
          </a:p>
          <a:p>
            <a:pPr marL="800100" lvl="1" indent="-342900">
              <a:buSzPct val="800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</a:rPr>
              <a:t>Dropped collinear predictors (e.g., age cohort) and items not asked every survey year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Binomial LASSO </a:t>
            </a:r>
            <a:r>
              <a:rPr lang="en-US" sz="2000" dirty="0">
                <a:solidFill>
                  <a:srgbClr val="000000"/>
                </a:solidFill>
              </a:rPr>
              <a:t>with year fixed effects used for variable selection, followed by </a:t>
            </a:r>
            <a:r>
              <a:rPr lang="en-US" sz="2000" b="1" dirty="0">
                <a:solidFill>
                  <a:srgbClr val="000000"/>
                </a:solidFill>
              </a:rPr>
              <a:t>Relaxed LASSO (GLM) </a:t>
            </a:r>
            <a:r>
              <a:rPr lang="en-US" sz="2000" dirty="0">
                <a:solidFill>
                  <a:srgbClr val="000000"/>
                </a:solidFill>
              </a:rPr>
              <a:t>with year-clustered errors on LASSO-selected terms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Key motivation: </a:t>
            </a:r>
            <a:r>
              <a:rPr lang="en-US" sz="2000" dirty="0">
                <a:solidFill>
                  <a:srgbClr val="000000"/>
                </a:solidFill>
              </a:rPr>
              <a:t>Understand whether ~40-60% non-response rate is non-random; who responds will inform selection bias for Study 1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4FD9B-0C86-3236-E904-8454BAC8CCDE}"/>
              </a:ext>
            </a:extLst>
          </p:cNvPr>
          <p:cNvSpPr txBox="1"/>
          <p:nvPr/>
        </p:nvSpPr>
        <p:spPr>
          <a:xfrm>
            <a:off x="962025" y="5368231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Pooled outcome: </a:t>
            </a:r>
            <a:r>
              <a:rPr lang="en-US" sz="2000" dirty="0">
                <a:solidFill>
                  <a:srgbClr val="000000"/>
                </a:solidFill>
              </a:rPr>
              <a:t>Single binary outcome (provided text of any of the four items) results in consistent predictors to main study, supporting that results are not item-specific noise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5585D-4632-CC1C-A5A3-772AD32F37D2}"/>
              </a:ext>
            </a:extLst>
          </p:cNvPr>
          <p:cNvSpPr txBox="1"/>
          <p:nvPr/>
        </p:nvSpPr>
        <p:spPr>
          <a:xfrm>
            <a:off x="962026" y="4906566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Robustness check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DC311-93C2-EC3D-DC81-C011B59D9D9F}"/>
              </a:ext>
            </a:extLst>
          </p:cNvPr>
          <p:cNvSpPr txBox="1"/>
          <p:nvPr/>
        </p:nvSpPr>
        <p:spPr>
          <a:xfrm>
            <a:off x="962026" y="98583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Study Design</a:t>
            </a:r>
          </a:p>
        </p:txBody>
      </p:sp>
    </p:spTree>
    <p:extLst>
      <p:ext uri="{BB962C8B-B14F-4D97-AF65-F5344CB8AC3E}">
        <p14:creationId xmlns:p14="http://schemas.microsoft.com/office/powerpoint/2010/main" val="8489343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8992-5826-76F3-1C52-C4E550A1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248B0C0-2AA4-A283-9CCF-8D5A1A179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A8B7994F-5B15-5C28-E11C-BA928355F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74E04D0C-A0CA-8379-C959-CE0A9190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46327-9795-E728-FFB8-CB336478B6BA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95865-FD0C-B734-3969-3E3EF8F0BD40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D6C5F03E-E693-4775-EEA6-95841241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BCA94A32-A73A-EF4C-DE98-975CD92A7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A73A4-82DB-FBE8-62E5-06CFB8C103A6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D3FCD-4D5E-675F-5058-E0DA75D5CE66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39AC63D6-75DE-AF31-CD25-73E1F3C8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B07CF5D3-5CC3-7683-98B6-379D2D952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4F591-A8DA-8659-9AD1-ED1763942684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CF3720-CE94-D1C4-F85B-B579D82A3FA3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809E5203-3BA6-5FF4-670C-85ED458D5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7CAAB48E-DAAE-6721-584C-FDA7D198E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E38529D6-B4F3-86CD-34C0-7CE3279A2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78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D446-A5EB-74BE-47C9-3436C48A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79D2184-6943-97FC-D6FE-0AA4435E8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Exploratory Data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C1B27-3C42-DC31-E128-4477340C41A3}"/>
              </a:ext>
            </a:extLst>
          </p:cNvPr>
          <p:cNvSpPr/>
          <p:nvPr/>
        </p:nvSpPr>
        <p:spPr>
          <a:xfrm>
            <a:off x="1009650" y="1085850"/>
            <a:ext cx="10515600" cy="5019675"/>
          </a:xfrm>
          <a:prstGeom prst="rect">
            <a:avLst/>
          </a:prstGeom>
          <a:solidFill>
            <a:srgbClr val="035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once data is received from David</a:t>
            </a:r>
          </a:p>
        </p:txBody>
      </p:sp>
    </p:spTree>
    <p:extLst>
      <p:ext uri="{BB962C8B-B14F-4D97-AF65-F5344CB8AC3E}">
        <p14:creationId xmlns:p14="http://schemas.microsoft.com/office/powerpoint/2010/main" val="333298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23C6-B204-874B-6AA7-631940B3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09FD6F6-1530-1CEB-8F23-612BA24F0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617077E5-97EC-C17C-2037-7A8F72FC3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21B91312-7167-BEB6-E57A-F5768043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D266A-1448-85ED-1543-C7CF8342D979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4C742-ECE2-6F3A-2245-D59BFB76A6CE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E3436769-980B-E5D8-E276-7536B839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8FC24A14-0A6F-0A86-686D-80A9FCCBC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A202D-A2E8-5A0A-2FF0-D7771748D45C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9B4C9-BD7D-D225-A295-EFB3911FA604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70B8D88F-9D76-8DF9-4A49-3CCB37280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DF6C8FE7-2850-2B73-E97A-CAA1E217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C7C46-68D7-EEBF-F709-F88A506F9F28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17ABB-8E58-5068-CECF-DDBB9B279C02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solidFill>
                <a:srgbClr val="0354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724550F0-9192-6293-2CAE-89D5153A8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1DE9226F-67F3-D515-CB12-AA9F9CD350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48D07024-6679-AFD5-0DBE-49822023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7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94A8-AC34-CC02-C4AF-68BEA49D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5398629-ABC0-32B8-03EA-507E5BE77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Partisan sentiment is polarized, with a notable cluster at peak animosity (thermometer = 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E8BB69-5B36-0F27-2601-C1106090C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457166"/>
            <a:ext cx="8915400" cy="44577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C990DDD-6884-5C0E-D42B-E8BD9136AA1C}"/>
              </a:ext>
            </a:extLst>
          </p:cNvPr>
          <p:cNvSpPr/>
          <p:nvPr/>
        </p:nvSpPr>
        <p:spPr>
          <a:xfrm>
            <a:off x="2752725" y="4143375"/>
            <a:ext cx="638176" cy="84296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446145-0C83-7A8A-A3A7-5A9A11753AFB}"/>
              </a:ext>
            </a:extLst>
          </p:cNvPr>
          <p:cNvSpPr/>
          <p:nvPr/>
        </p:nvSpPr>
        <p:spPr>
          <a:xfrm>
            <a:off x="7191375" y="4143375"/>
            <a:ext cx="638176" cy="842962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D09BBE23-E595-A805-D8E4-34331866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45" y="3833811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D06333E-1B04-CE66-EC28-768EC3157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229" y="3924299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27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35AF-2194-CE0A-8070-98C01BE5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5D576FD-1592-D135-F9AA-E903868BA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LASSO selects ~100-150 informative terms per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ADE63-C3E1-8AEE-F4DD-1DA37F15D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5"/>
          <a:stretch>
            <a:fillRect/>
          </a:stretch>
        </p:blipFill>
        <p:spPr>
          <a:xfrm>
            <a:off x="666538" y="2295524"/>
            <a:ext cx="5275403" cy="3152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4C5519-A928-70CE-36DF-75F74CBFD95E}"/>
              </a:ext>
            </a:extLst>
          </p:cNvPr>
          <p:cNvSpPr txBox="1"/>
          <p:nvPr/>
        </p:nvSpPr>
        <p:spPr>
          <a:xfrm>
            <a:off x="895350" y="1409701"/>
            <a:ext cx="450532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LASSO Cross-validation Plot</a:t>
            </a:r>
          </a:p>
          <a:p>
            <a:r>
              <a:rPr lang="en-US" i="1" dirty="0">
                <a:solidFill>
                  <a:srgbClr val="000000"/>
                </a:solidFill>
              </a:rPr>
              <a:t>(Democrat thermometer, skip-grams model)</a:t>
            </a:r>
          </a:p>
          <a:p>
            <a:endParaRPr lang="en-US" sz="2200" b="1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BD2BC-2F0E-47A9-07A0-A1D8CD0570ED}"/>
              </a:ext>
            </a:extLst>
          </p:cNvPr>
          <p:cNvSpPr txBox="1"/>
          <p:nvPr/>
        </p:nvSpPr>
        <p:spPr>
          <a:xfrm>
            <a:off x="6478871" y="1409701"/>
            <a:ext cx="497970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LASSO Cross-validation Plot</a:t>
            </a:r>
          </a:p>
          <a:p>
            <a:r>
              <a:rPr lang="en-US" i="1" dirty="0">
                <a:solidFill>
                  <a:srgbClr val="000000"/>
                </a:solidFill>
              </a:rPr>
              <a:t>(Republican thermometer, skip-grams model)</a:t>
            </a:r>
          </a:p>
          <a:p>
            <a:endParaRPr lang="en-US" sz="2200" b="1" dirty="0">
              <a:solidFill>
                <a:srgbClr val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470AB0-3E14-1875-4F59-A582C9A5D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4"/>
          <a:stretch>
            <a:fillRect/>
          </a:stretch>
        </p:blipFill>
        <p:spPr>
          <a:xfrm>
            <a:off x="6170752" y="2295523"/>
            <a:ext cx="5274000" cy="315277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CC91E5A-6337-337B-D226-9845A8F80266}"/>
              </a:ext>
            </a:extLst>
          </p:cNvPr>
          <p:cNvSpPr/>
          <p:nvPr/>
        </p:nvSpPr>
        <p:spPr>
          <a:xfrm>
            <a:off x="2989914" y="2558534"/>
            <a:ext cx="314325" cy="2214562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E3F0A3-D860-12FD-7545-E905494B25D7}"/>
              </a:ext>
            </a:extLst>
          </p:cNvPr>
          <p:cNvSpPr/>
          <p:nvPr/>
        </p:nvSpPr>
        <p:spPr>
          <a:xfrm>
            <a:off x="8650589" y="2558534"/>
            <a:ext cx="314325" cy="2214562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AAF0C-1503-0692-A728-4AEE752C5698}"/>
              </a:ext>
            </a:extLst>
          </p:cNvPr>
          <p:cNvSpPr txBox="1"/>
          <p:nvPr/>
        </p:nvSpPr>
        <p:spPr>
          <a:xfrm>
            <a:off x="3221321" y="5401179"/>
            <a:ext cx="325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Use </a:t>
            </a:r>
            <a:r>
              <a:rPr lang="el-GR" sz="2200" b="1" dirty="0">
                <a:solidFill>
                  <a:srgbClr val="00B050"/>
                </a:solidFill>
              </a:rPr>
              <a:t>λ.1</a:t>
            </a:r>
            <a:r>
              <a:rPr lang="en-US" sz="2200" b="1" dirty="0">
                <a:solidFill>
                  <a:srgbClr val="00B050"/>
                </a:solidFill>
              </a:rPr>
              <a:t>se-selected terms for relaxed LASSO</a:t>
            </a:r>
          </a:p>
        </p:txBody>
      </p:sp>
      <p:pic>
        <p:nvPicPr>
          <p:cNvPr id="20" name="Picture 2" descr="Democratic Party (United States) - Wikipedia">
            <a:extLst>
              <a:ext uri="{FF2B5EF4-FFF2-40B4-BE49-F238E27FC236}">
                <a16:creationId xmlns:a16="http://schemas.microsoft.com/office/drawing/2014/main" id="{64CE8723-1585-F867-C047-9DF7BED00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315" y="2687775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358F6969-3589-EBA7-DF63-F88BB8653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367" y="2723494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99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2753-2CCA-907B-C897-66DB6C11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36C150E-749D-31B3-A500-EDFB9AA95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Partisan animosity is more trait/affect-driven for the Republican party, and more policy-driven for Democrats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0287F-78EC-338F-B967-CDB510010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0" t="21682" r="13285" b="20315"/>
          <a:stretch>
            <a:fillRect/>
          </a:stretch>
        </p:blipFill>
        <p:spPr>
          <a:xfrm>
            <a:off x="2590800" y="1299588"/>
            <a:ext cx="3029213" cy="241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6ED798-CF93-F837-820F-5588A1458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4" t="20776" r="9964" b="15558"/>
          <a:stretch>
            <a:fillRect/>
          </a:stretch>
        </p:blipFill>
        <p:spPr>
          <a:xfrm>
            <a:off x="2886075" y="3794805"/>
            <a:ext cx="2811533" cy="241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21093-FA9F-3990-5D00-79089D3A0C24}"/>
              </a:ext>
            </a:extLst>
          </p:cNvPr>
          <p:cNvSpPr txBox="1"/>
          <p:nvPr/>
        </p:nvSpPr>
        <p:spPr>
          <a:xfrm>
            <a:off x="900112" y="1438779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Democrat animosity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F2FDB-AE56-2E67-6FF1-63827BF32287}"/>
              </a:ext>
            </a:extLst>
          </p:cNvPr>
          <p:cNvSpPr txBox="1"/>
          <p:nvPr/>
        </p:nvSpPr>
        <p:spPr>
          <a:xfrm>
            <a:off x="900112" y="4008543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Democrat favorability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04177-4A32-1091-FB44-CF5EABCD56F3}"/>
              </a:ext>
            </a:extLst>
          </p:cNvPr>
          <p:cNvSpPr txBox="1"/>
          <p:nvPr/>
        </p:nvSpPr>
        <p:spPr>
          <a:xfrm>
            <a:off x="6467477" y="1438779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Republican animosity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17380-0CE7-6BF5-1F98-83EF38AF64EF}"/>
              </a:ext>
            </a:extLst>
          </p:cNvPr>
          <p:cNvSpPr txBox="1"/>
          <p:nvPr/>
        </p:nvSpPr>
        <p:spPr>
          <a:xfrm>
            <a:off x="6467477" y="4008543"/>
            <a:ext cx="169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Republican favorability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C6D24B-3FDF-8EC6-1EA2-5910EC3FF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3" t="17707" r="14752" b="17665"/>
          <a:stretch>
            <a:fillRect/>
          </a:stretch>
        </p:blipFill>
        <p:spPr>
          <a:xfrm>
            <a:off x="8557874" y="1186618"/>
            <a:ext cx="2811533" cy="27211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A569B9E-052D-925C-872C-7011E4F00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2" t="23049" r="16409" b="27497"/>
          <a:stretch>
            <a:fillRect/>
          </a:stretch>
        </p:blipFill>
        <p:spPr>
          <a:xfrm>
            <a:off x="8277226" y="3711588"/>
            <a:ext cx="3181350" cy="2412001"/>
          </a:xfrm>
          <a:prstGeom prst="rect">
            <a:avLst/>
          </a:prstGeom>
        </p:spPr>
      </p:pic>
      <p:pic>
        <p:nvPicPr>
          <p:cNvPr id="24" name="Picture 2" descr="Democratic Party (United States) - Wikipedia">
            <a:extLst>
              <a:ext uri="{FF2B5EF4-FFF2-40B4-BE49-F238E27FC236}">
                <a16:creationId xmlns:a16="http://schemas.microsoft.com/office/drawing/2014/main" id="{A7691CB6-5D6C-7011-97CD-CDE01B15D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08" y="2886173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5ED25086-4114-007B-4525-846D8376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94" y="297666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B1A182D1-43B6-2550-7D89-84BC1D5B8000}"/>
              </a:ext>
            </a:extLst>
          </p:cNvPr>
          <p:cNvSpPr/>
          <p:nvPr/>
        </p:nvSpPr>
        <p:spPr>
          <a:xfrm>
            <a:off x="3532249" y="4696131"/>
            <a:ext cx="1373126" cy="5140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78296D-0AE3-05C4-77E0-4E1C3B6B6AB8}"/>
              </a:ext>
            </a:extLst>
          </p:cNvPr>
          <p:cNvSpPr/>
          <p:nvPr/>
        </p:nvSpPr>
        <p:spPr>
          <a:xfrm>
            <a:off x="9238977" y="2314980"/>
            <a:ext cx="1373126" cy="514043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4C2C036-34BE-98C7-43A3-CE48F91DD32A}"/>
              </a:ext>
            </a:extLst>
          </p:cNvPr>
          <p:cNvSpPr/>
          <p:nvPr/>
        </p:nvSpPr>
        <p:spPr>
          <a:xfrm>
            <a:off x="5714276" y="4964870"/>
            <a:ext cx="2546281" cy="72072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Climate a wedge issue between parties!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746DB4-68F7-A620-55BF-83CD3BDD5FB6}"/>
              </a:ext>
            </a:extLst>
          </p:cNvPr>
          <p:cNvCxnSpPr>
            <a:stCxn id="27" idx="3"/>
            <a:endCxn id="28" idx="3"/>
          </p:cNvCxnSpPr>
          <p:nvPr/>
        </p:nvCxnSpPr>
        <p:spPr>
          <a:xfrm flipH="1">
            <a:off x="8260557" y="2753743"/>
            <a:ext cx="1179510" cy="2571488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3C26F3-B903-7E36-3532-F920D6967990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905375" y="5000805"/>
            <a:ext cx="808901" cy="324426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30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845E-ACC4-2CC7-BFC9-9AE3523F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F503A8A-F698-BDA7-EA6E-B4A996B93E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4" y="365129"/>
            <a:ext cx="11115675" cy="720721"/>
          </a:xfrm>
        </p:spPr>
        <p:txBody>
          <a:bodyPr>
            <a:noAutofit/>
          </a:bodyPr>
          <a:lstStyle/>
          <a:p>
            <a:r>
              <a:rPr lang="en-US" sz="2400" dirty="0"/>
              <a:t>Democrat animosity is linked to ideological traits and immigration / crime policy, and favorability to progressive identity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94ED6-B967-0BB3-502A-A866A3906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771524" y="1895474"/>
            <a:ext cx="10561323" cy="3771901"/>
          </a:xfrm>
          <a:prstGeom prst="rect">
            <a:avLst/>
          </a:prstGeom>
        </p:spPr>
      </p:pic>
      <p:pic>
        <p:nvPicPr>
          <p:cNvPr id="6" name="Picture 2" descr="Democratic Party (United States) - Wikipedia">
            <a:extLst>
              <a:ext uri="{FF2B5EF4-FFF2-40B4-BE49-F238E27FC236}">
                <a16:creationId xmlns:a16="http://schemas.microsoft.com/office/drawing/2014/main" id="{5C2DB0F5-EFE6-07F4-AA14-48B50BD94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540" y="814386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413788-A5E0-53A0-A095-039161F6E6CB}"/>
              </a:ext>
            </a:extLst>
          </p:cNvPr>
          <p:cNvSpPr/>
          <p:nvPr/>
        </p:nvSpPr>
        <p:spPr>
          <a:xfrm>
            <a:off x="4635490" y="5813309"/>
            <a:ext cx="2546281" cy="462202"/>
          </a:xfrm>
          <a:prstGeom prst="roundRect">
            <a:avLst/>
          </a:prstGeom>
          <a:noFill/>
          <a:ln>
            <a:solidFill>
              <a:srgbClr val="03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35480"/>
                </a:solidFill>
              </a:rPr>
              <a:t>Top 10 predictors only</a:t>
            </a:r>
          </a:p>
        </p:txBody>
      </p:sp>
    </p:spTree>
    <p:extLst>
      <p:ext uri="{BB962C8B-B14F-4D97-AF65-F5344CB8AC3E}">
        <p14:creationId xmlns:p14="http://schemas.microsoft.com/office/powerpoint/2010/main" val="238924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E993-E266-8F31-C62B-9754C5E7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C1F187-C2FC-C51A-670A-77A7A2D4C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4" y="365129"/>
            <a:ext cx="11191876" cy="720721"/>
          </a:xfrm>
        </p:spPr>
        <p:txBody>
          <a:bodyPr>
            <a:noAutofit/>
          </a:bodyPr>
          <a:lstStyle/>
          <a:p>
            <a:r>
              <a:rPr lang="en-US" sz="2400" dirty="0"/>
              <a:t>Republican animosity is driven by identity  and class concerns, with favorability driven by national identity and economic themes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BB6F247-0C3A-8195-6A9C-78820CF83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919" y="862113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D9000-6360-7E3A-B2B7-2AA515814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72"/>
          <a:stretch>
            <a:fillRect/>
          </a:stretch>
        </p:blipFill>
        <p:spPr>
          <a:xfrm>
            <a:off x="846641" y="1943098"/>
            <a:ext cx="10250626" cy="37728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356CDF-6946-403F-549B-460A7224CCB4}"/>
              </a:ext>
            </a:extLst>
          </p:cNvPr>
          <p:cNvSpPr/>
          <p:nvPr/>
        </p:nvSpPr>
        <p:spPr>
          <a:xfrm>
            <a:off x="4635490" y="5813309"/>
            <a:ext cx="2546281" cy="4622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 10 predictors only</a:t>
            </a:r>
          </a:p>
        </p:txBody>
      </p:sp>
    </p:spTree>
    <p:extLst>
      <p:ext uri="{BB962C8B-B14F-4D97-AF65-F5344CB8AC3E}">
        <p14:creationId xmlns:p14="http://schemas.microsoft.com/office/powerpoint/2010/main" val="399414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2D2B-BE08-A3D3-2372-5C891ECF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AD5AEFA-6AB8-5A9F-A6BB-037DE85AE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1: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B9DBE-A6D7-C45A-7C8A-7D99E150B226}"/>
              </a:ext>
            </a:extLst>
          </p:cNvPr>
          <p:cNvSpPr txBox="1"/>
          <p:nvPr/>
        </p:nvSpPr>
        <p:spPr>
          <a:xfrm>
            <a:off x="962025" y="1488103"/>
            <a:ext cx="1083945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Year fixed effects </a:t>
            </a:r>
            <a:r>
              <a:rPr lang="en-US" sz="2400" dirty="0">
                <a:solidFill>
                  <a:srgbClr val="000000"/>
                </a:solidFill>
              </a:rPr>
              <a:t>suggest that animosity towards both parties has increased over time: Democrat instability peaks in 2020 before stabilizing, and Republican animosity continues to rise through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Democrat animosity</a:t>
            </a:r>
            <a:r>
              <a:rPr lang="en-US" sz="2400" dirty="0">
                <a:solidFill>
                  <a:srgbClr val="000000"/>
                </a:solidFill>
              </a:rPr>
              <a:t> is primarily ideological and policy-driven, with trait labeling (“socialist”) and immigration and crime concerns (“border”, “illegal” “crime”)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Republican animosity </a:t>
            </a:r>
            <a:r>
              <a:rPr lang="en-US" sz="2400" dirty="0">
                <a:solidFill>
                  <a:srgbClr val="000000"/>
                </a:solidFill>
              </a:rPr>
              <a:t>skews more affect and identity-based, linked to race (“racist”), economic class (“wealthy”, “corporations”, “big business”) and Trump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Climate is a wedge issue:</a:t>
            </a:r>
            <a:r>
              <a:rPr lang="en-US" sz="2400" dirty="0">
                <a:solidFill>
                  <a:srgbClr val="000000"/>
                </a:solidFill>
              </a:rPr>
              <a:t> it is the strongest single animosity predictor for Republicans and a leading favorability predictor for democrats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83498-57A6-F862-78C0-DD7DA03AB884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Partisan animosity is rising, driven by distinct mechanisms for each party</a:t>
            </a:r>
          </a:p>
        </p:txBody>
      </p:sp>
    </p:spTree>
    <p:extLst>
      <p:ext uri="{BB962C8B-B14F-4D97-AF65-F5344CB8AC3E}">
        <p14:creationId xmlns:p14="http://schemas.microsoft.com/office/powerpoint/2010/main" val="1983442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7155-D368-A257-3C47-CF8B6206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9C3667D-E6EE-1A28-8B0A-69CD152D6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Agenda</a:t>
            </a:r>
          </a:p>
        </p:txBody>
      </p:sp>
      <p:sp>
        <p:nvSpPr>
          <p:cNvPr id="3" name="Freeform 64">
            <a:extLst>
              <a:ext uri="{FF2B5EF4-FFF2-40B4-BE49-F238E27FC236}">
                <a16:creationId xmlns:a16="http://schemas.microsoft.com/office/drawing/2014/main" id="{0724D1AF-4106-5FF5-1D64-B62A14A1A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1214606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8C2A92A4-49A0-AA42-9FE6-07DCB473D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16739-C4E9-22F5-585F-535B5AD357DC}"/>
              </a:ext>
            </a:extLst>
          </p:cNvPr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 QUESTIONS AND DATA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4A042-E6DC-1E1A-356C-4223168B1CC6}"/>
              </a:ext>
            </a:extLst>
          </p:cNvPr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How can we predict partisan animosity and favorability?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ANES (American National Election Studies) dataset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9805651F-9961-3138-E630-6937861F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2976731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0" name="Freeform 65">
            <a:extLst>
              <a:ext uri="{FF2B5EF4-FFF2-40B4-BE49-F238E27FC236}">
                <a16:creationId xmlns:a16="http://schemas.microsoft.com/office/drawing/2014/main" id="{DF29A715-7DF1-A329-E3C3-19D14C0A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E37E6-B0F6-0CA0-4859-133B9B3ED112}"/>
              </a:ext>
            </a:extLst>
          </p:cNvPr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1EEA6-43C6-43A3-78CE-9FA0B0C96CFF}"/>
              </a:ext>
            </a:extLst>
          </p:cNvPr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sp>
        <p:nvSpPr>
          <p:cNvPr id="13" name="Freeform 64">
            <a:extLst>
              <a:ext uri="{FF2B5EF4-FFF2-40B4-BE49-F238E27FC236}">
                <a16:creationId xmlns:a16="http://schemas.microsoft.com/office/drawing/2014/main" id="{274154E5-5290-5C05-0FA3-3466EED7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54" y="4708079"/>
            <a:ext cx="915745" cy="865318"/>
          </a:xfrm>
          <a:custGeom>
            <a:avLst/>
            <a:gdLst>
              <a:gd name="T0" fmla="*/ 651639 w 2003"/>
              <a:gd name="T1" fmla="*/ 477662 h 1892"/>
              <a:gd name="T2" fmla="*/ 651639 w 2003"/>
              <a:gd name="T3" fmla="*/ 477662 h 1892"/>
              <a:gd name="T4" fmla="*/ 680425 w 2003"/>
              <a:gd name="T5" fmla="*/ 340519 h 1892"/>
              <a:gd name="T6" fmla="*/ 680425 w 2003"/>
              <a:gd name="T7" fmla="*/ 340519 h 1892"/>
              <a:gd name="T8" fmla="*/ 340392 w 2003"/>
              <a:gd name="T9" fmla="*/ 0 h 1892"/>
              <a:gd name="T10" fmla="*/ 340392 w 2003"/>
              <a:gd name="T11" fmla="*/ 0 h 1892"/>
              <a:gd name="T12" fmla="*/ 0 w 2003"/>
              <a:gd name="T13" fmla="*/ 340519 h 1892"/>
              <a:gd name="T14" fmla="*/ 0 w 2003"/>
              <a:gd name="T15" fmla="*/ 340519 h 1892"/>
              <a:gd name="T16" fmla="*/ 340392 w 2003"/>
              <a:gd name="T17" fmla="*/ 680677 h 1892"/>
              <a:gd name="T18" fmla="*/ 340392 w 2003"/>
              <a:gd name="T19" fmla="*/ 680677 h 1892"/>
              <a:gd name="T20" fmla="*/ 562763 w 2003"/>
              <a:gd name="T21" fmla="*/ 597527 h 1892"/>
              <a:gd name="T22" fmla="*/ 720365 w 2003"/>
              <a:gd name="T23" fmla="*/ 651161 h 1892"/>
              <a:gd name="T24" fmla="*/ 651639 w 2003"/>
              <a:gd name="T25" fmla="*/ 477662 h 18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003" h="1892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4" name="Freeform 65">
            <a:extLst>
              <a:ext uri="{FF2B5EF4-FFF2-40B4-BE49-F238E27FC236}">
                <a16:creationId xmlns:a16="http://schemas.microsoft.com/office/drawing/2014/main" id="{08BB6A2F-3E62-6FA2-6926-A08AED068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AF22C-35A3-AAC2-340C-AE2ADDA83823}"/>
              </a:ext>
            </a:extLst>
          </p:cNvPr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ts val="1750"/>
              </a:lnSpc>
            </a:pPr>
            <a:r>
              <a:rPr lang="es-NI" sz="17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en-US" sz="1700" b="1" spc="-15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E09392-4B1F-872F-7BBE-F1B97C53B5C0}"/>
              </a:ext>
            </a:extLst>
          </p:cNvPr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spc="-35" dirty="0">
                <a:latin typeface="Poppins" panose="00000500000000000000" pitchFamily="2" charset="0"/>
                <a:cs typeface="Poppins" panose="00000500000000000000" pitchFamily="2" charset="0"/>
              </a:rPr>
              <a:t>Exploratory Data Analysis</a:t>
            </a:r>
            <a:endParaRPr lang="en-US" sz="1250" b="1" spc="-35" dirty="0">
              <a:solidFill>
                <a:srgbClr val="747A9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1: </a:t>
            </a:r>
            <a:r>
              <a:rPr lang="en-US" sz="1250" spc="-35" dirty="0">
                <a:solidFill>
                  <a:srgbClr val="747A9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Text mining analysis to predict partisan favorability and animosity</a:t>
            </a:r>
          </a:p>
          <a:p>
            <a:pPr marL="285750" indent="-285750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250" b="1" spc="-35" dirty="0">
                <a:solidFill>
                  <a:srgbClr val="0354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2: Who responds to open-ended questions on the parties? </a:t>
            </a:r>
          </a:p>
        </p:txBody>
      </p:sp>
      <p:pic>
        <p:nvPicPr>
          <p:cNvPr id="2052" name="Picture 4" descr="Human Brain Thinking Icons - Free SVG &amp; PNG Human Brain Thinking Images -  Noun Project">
            <a:extLst>
              <a:ext uri="{FF2B5EF4-FFF2-40B4-BE49-F238E27FC236}">
                <a16:creationId xmlns:a16="http://schemas.microsoft.com/office/drawing/2014/main" id="{A9A2C9C3-FCCB-AF18-A2C9-C557F35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70" y="1361234"/>
            <a:ext cx="533961" cy="5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thod And Gear Monotone Icon In Powerpoint Pptx Png And Editable Eps  Format PPT Sample">
            <a:extLst>
              <a:ext uri="{FF2B5EF4-FFF2-40B4-BE49-F238E27FC236}">
                <a16:creationId xmlns:a16="http://schemas.microsoft.com/office/drawing/2014/main" id="{AFD54B04-62C5-D06E-E3C7-FDB61B778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24921" t="21111" r="28595" b="9028"/>
          <a:stretch/>
        </p:blipFill>
        <p:spPr bwMode="auto">
          <a:xfrm>
            <a:off x="1068023" y="3113992"/>
            <a:ext cx="698854" cy="5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cons for PowerPoint Presentations – Chart – Smiletemplates - download at  SmileTemplates.com">
            <a:extLst>
              <a:ext uri="{FF2B5EF4-FFF2-40B4-BE49-F238E27FC236}">
                <a16:creationId xmlns:a16="http://schemas.microsoft.com/office/drawing/2014/main" id="{066F8611-6057-9ED5-2134-1CEA4CBA7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 bwMode="auto">
          <a:xfrm>
            <a:off x="971421" y="4816357"/>
            <a:ext cx="895665" cy="6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4267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F430-E918-9FEF-E0EE-A28A4FD9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CF93FEE-AC4A-2263-C1A1-D41791FC3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~40-60% of respondents did not provide open-ended text responses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1E197-E268-6EB9-BF7A-B33C42BAA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44" y="1415261"/>
            <a:ext cx="9603348" cy="4801673"/>
          </a:xfrm>
          <a:prstGeom prst="rect">
            <a:avLst/>
          </a:prstGeom>
        </p:spPr>
      </p:pic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76B93060-4EA1-5FBE-E6BC-89544AEE6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638" y="3156093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760D521-298B-C5E2-4D70-F25A7F7B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516" y="3201338"/>
            <a:ext cx="853848" cy="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28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0F82-75B8-B733-98FB-58984DBE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25171A3-9271-5C45-9BC8-EE24523434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LASSO selects ~15-50 predictors per model (depending on choice of </a:t>
            </a:r>
            <a:r>
              <a:rPr lang="el-GR" sz="2800" dirty="0"/>
              <a:t>λ</a:t>
            </a:r>
            <a:r>
              <a:rPr lang="en-US" sz="28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30C65-992B-A8A9-2A36-149CA8078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472" y="1337734"/>
            <a:ext cx="6737055" cy="505279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F35C39E-4092-EAD3-C4DD-C4FF2AEB3265}"/>
              </a:ext>
            </a:extLst>
          </p:cNvPr>
          <p:cNvSpPr/>
          <p:nvPr/>
        </p:nvSpPr>
        <p:spPr>
          <a:xfrm>
            <a:off x="4483793" y="1754581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D17A9-6C87-3DE5-518C-F98030132642}"/>
              </a:ext>
            </a:extLst>
          </p:cNvPr>
          <p:cNvSpPr txBox="1"/>
          <p:nvPr/>
        </p:nvSpPr>
        <p:spPr>
          <a:xfrm>
            <a:off x="9543153" y="2591789"/>
            <a:ext cx="23454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B050"/>
                </a:solidFill>
              </a:rPr>
              <a:t>Use </a:t>
            </a:r>
            <a:r>
              <a:rPr lang="el-GR" sz="2200" b="1" dirty="0">
                <a:solidFill>
                  <a:srgbClr val="00B050"/>
                </a:solidFill>
              </a:rPr>
              <a:t>λ.1</a:t>
            </a:r>
            <a:r>
              <a:rPr lang="en-US" sz="2200" b="1" dirty="0">
                <a:solidFill>
                  <a:srgbClr val="00B050"/>
                </a:solidFill>
              </a:rPr>
              <a:t>se-selected terms for relaxed LASSO </a:t>
            </a:r>
          </a:p>
          <a:p>
            <a:r>
              <a:rPr lang="en-US" sz="2200" b="1" dirty="0">
                <a:solidFill>
                  <a:srgbClr val="00B050"/>
                </a:solidFill>
              </a:rPr>
              <a:t>(enhanced parsimony)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70D440-4428-409B-3B12-554CCFF28B06}"/>
              </a:ext>
            </a:extLst>
          </p:cNvPr>
          <p:cNvSpPr/>
          <p:nvPr/>
        </p:nvSpPr>
        <p:spPr>
          <a:xfrm>
            <a:off x="7854318" y="1754581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97EAE3-4B2A-0BA2-6AF9-BDF1326141FC}"/>
              </a:ext>
            </a:extLst>
          </p:cNvPr>
          <p:cNvSpPr/>
          <p:nvPr/>
        </p:nvSpPr>
        <p:spPr>
          <a:xfrm>
            <a:off x="4252386" y="4312085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C0C73F-BD0A-AC24-B07A-621A7C32C017}"/>
              </a:ext>
            </a:extLst>
          </p:cNvPr>
          <p:cNvSpPr/>
          <p:nvPr/>
        </p:nvSpPr>
        <p:spPr>
          <a:xfrm>
            <a:off x="7854318" y="4312085"/>
            <a:ext cx="231407" cy="1674419"/>
          </a:xfrm>
          <a:prstGeom prst="ellipse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mocratic Party (United States) - Wikipedia">
            <a:extLst>
              <a:ext uri="{FF2B5EF4-FFF2-40B4-BE49-F238E27FC236}">
                <a16:creationId xmlns:a16="http://schemas.microsoft.com/office/drawing/2014/main" id="{F934D7AA-7B4B-4296-53A2-232A6A17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81" y="2170308"/>
            <a:ext cx="86369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0DF5E6E-9685-15C3-F38F-548C8F29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598" y="4761427"/>
            <a:ext cx="861072" cy="75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431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4A3D-44C8-6CBB-4B99-B4AE5C87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DB11FD0-657A-BF8C-1E43-5335EB9B74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34307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Democrat open-ended responses are driven by partisanship, ideology, and education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8E749C-310C-5FB4-3B6D-1ED980C2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83" y="1339439"/>
            <a:ext cx="9336758" cy="466837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2B7814-749F-C09E-799A-4569D11BC67A}"/>
              </a:ext>
            </a:extLst>
          </p:cNvPr>
          <p:cNvSpPr/>
          <p:nvPr/>
        </p:nvSpPr>
        <p:spPr>
          <a:xfrm>
            <a:off x="4756184" y="6231068"/>
            <a:ext cx="2546281" cy="462202"/>
          </a:xfrm>
          <a:prstGeom prst="roundRect">
            <a:avLst/>
          </a:prstGeom>
          <a:noFill/>
          <a:ln>
            <a:solidFill>
              <a:srgbClr val="03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35480"/>
                </a:solidFill>
              </a:rPr>
              <a:t>Top 10 predictors only</a:t>
            </a:r>
          </a:p>
        </p:txBody>
      </p:sp>
    </p:spTree>
    <p:extLst>
      <p:ext uri="{BB962C8B-B14F-4D97-AF65-F5344CB8AC3E}">
        <p14:creationId xmlns:p14="http://schemas.microsoft.com/office/powerpoint/2010/main" val="3040609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2CA3-1935-2800-125C-B052ABE0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E7F4C77-4C05-C694-4605-C0AFCC38E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44581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Republican open-ended responses are driven by political engagement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FD2BE-35DC-B7CF-3FA8-78DB5950538E}"/>
              </a:ext>
            </a:extLst>
          </p:cNvPr>
          <p:cNvSpPr/>
          <p:nvPr/>
        </p:nvSpPr>
        <p:spPr>
          <a:xfrm>
            <a:off x="4756184" y="6231068"/>
            <a:ext cx="2546281" cy="4622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Top 10 predictors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BA898-1528-3B46-EDFB-002F53981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31" y="1317660"/>
            <a:ext cx="9363193" cy="46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9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B5B7-3747-DC05-BC7A-4B46CE10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885783E-87A0-6238-5719-DD990A65FC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1525" y="365129"/>
            <a:ext cx="10515600" cy="720721"/>
          </a:xfrm>
        </p:spPr>
        <p:txBody>
          <a:bodyPr>
            <a:noAutofit/>
          </a:bodyPr>
          <a:lstStyle/>
          <a:p>
            <a:r>
              <a:rPr lang="en-US" sz="2800" dirty="0"/>
              <a:t>Study 2: 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C144C-FDBA-2DAA-989A-AF832820618E}"/>
              </a:ext>
            </a:extLst>
          </p:cNvPr>
          <p:cNvSpPr txBox="1"/>
          <p:nvPr/>
        </p:nvSpPr>
        <p:spPr>
          <a:xfrm>
            <a:off x="962025" y="1488103"/>
            <a:ext cx="1083945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Education </a:t>
            </a:r>
            <a:r>
              <a:rPr lang="en-US" sz="2400" dirty="0">
                <a:solidFill>
                  <a:srgbClr val="000000"/>
                </a:solidFill>
              </a:rPr>
              <a:t>is the most consistent predictor of response, with college-educated respondents ~60% more likely to respond across all items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Political engagement, </a:t>
            </a:r>
            <a:r>
              <a:rPr lang="en-US" sz="2400" dirty="0">
                <a:solidFill>
                  <a:srgbClr val="000000"/>
                </a:solidFill>
              </a:rPr>
              <a:t>measured by perceptions of a difference between the parties, has the single largest effect across models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Partisan strength </a:t>
            </a:r>
            <a:r>
              <a:rPr lang="en-US" sz="2400" dirty="0">
                <a:solidFill>
                  <a:srgbClr val="000000"/>
                </a:solidFill>
              </a:rPr>
              <a:t>matters more than direction, with both Democrats and Republicans more likely to respond than independents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Demographics, </a:t>
            </a:r>
            <a:r>
              <a:rPr lang="en-US" sz="2400" dirty="0">
                <a:solidFill>
                  <a:srgbClr val="000000"/>
                </a:solidFill>
              </a:rPr>
              <a:t>such as age, gender and race/ethnicity predict responses commenting on animosity more so than favorability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BB3B5-B571-30A3-551E-78DB240EC181}"/>
              </a:ext>
            </a:extLst>
          </p:cNvPr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Who respondents to open-ended questions is systematic and </a:t>
            </a:r>
            <a:r>
              <a:rPr lang="en-US" sz="2200" b="1" dirty="0" err="1">
                <a:solidFill>
                  <a:srgbClr val="000000"/>
                </a:solidFill>
              </a:rPr>
              <a:t>nonr</a:t>
            </a:r>
            <a:r>
              <a:rPr lang="en-US" sz="2200" b="1" dirty="0">
                <a:solidFill>
                  <a:srgbClr val="000000"/>
                </a:solidFill>
              </a:rPr>
              <a:t>-random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83C65-A185-8FF5-D11F-A50EA34C4E55}"/>
              </a:ext>
            </a:extLst>
          </p:cNvPr>
          <p:cNvSpPr/>
          <p:nvPr/>
        </p:nvSpPr>
        <p:spPr>
          <a:xfrm>
            <a:off x="1104900" y="4859347"/>
            <a:ext cx="10125075" cy="929223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00"/>
                </a:solidFill>
              </a:rPr>
              <a:t>Implications for Study 1: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~40-60% non-response rate is non-random, motivating a Heckman selection correction for a study extension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65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sulting template theme">
  <a:themeElements>
    <a:clrScheme name="AI - Title Slides - S1">
      <a:dk1>
        <a:srgbClr val="747A94"/>
      </a:dk1>
      <a:lt1>
        <a:srgbClr val="FFFFFF"/>
      </a:lt1>
      <a:dk2>
        <a:srgbClr val="111340"/>
      </a:dk2>
      <a:lt2>
        <a:srgbClr val="FFFFFF"/>
      </a:lt2>
      <a:accent1>
        <a:srgbClr val="6BC9D3"/>
      </a:accent1>
      <a:accent2>
        <a:srgbClr val="34B1E1"/>
      </a:accent2>
      <a:accent3>
        <a:srgbClr val="035480"/>
      </a:accent3>
      <a:accent4>
        <a:srgbClr val="8A173E"/>
      </a:accent4>
      <a:accent5>
        <a:srgbClr val="E24856"/>
      </a:accent5>
      <a:accent6>
        <a:srgbClr val="C3C8CE"/>
      </a:accent6>
      <a:hlink>
        <a:srgbClr val="32A79F"/>
      </a:hlink>
      <a:folHlink>
        <a:srgbClr val="89E1DE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nsulting template theme" id="{12CEE93B-C586-4F94-B49D-559A92400924}" vid="{3A0FEB64-3E4C-44A5-98C4-EFE2D7C8C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Consulting template theme</Template>
  <TotalTime>2244</TotalTime>
  <Words>1618</Words>
  <Application>Microsoft Macintosh PowerPoint</Application>
  <PresentationFormat>Widescreen</PresentationFormat>
  <Paragraphs>165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Courier New</vt:lpstr>
      <vt:lpstr>Montserrat SemiBold</vt:lpstr>
      <vt:lpstr>Poppins</vt:lpstr>
      <vt:lpstr>Wingdings</vt:lpstr>
      <vt:lpstr>Consulting template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Rehan Mirza</dc:creator>
  <cp:lastModifiedBy>Wang, David</cp:lastModifiedBy>
  <cp:revision>13</cp:revision>
  <dcterms:created xsi:type="dcterms:W3CDTF">2024-08-11T18:17:14Z</dcterms:created>
  <dcterms:modified xsi:type="dcterms:W3CDTF">2026-04-28T15:27:02Z</dcterms:modified>
</cp:coreProperties>
</file>