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comments/modernComment_1001_EB89635D.xml" ContentType="application/vnd.ms-powerpoint.comments+xml"/>
  <Override PartName="/ppt/comments/modernComment_1019_3299B5EE.xml" ContentType="application/vnd.ms-powerpoint.comment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1015_2FB58AFF.xml" ContentType="application/vnd.ms-powerpoint.comment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0" r:id="rId1"/>
  </p:sldMasterIdLst>
  <p:notesMasterIdLst>
    <p:notesMasterId r:id="rId26"/>
  </p:notesMasterIdLst>
  <p:handoutMasterIdLst>
    <p:handoutMasterId r:id="rId27"/>
  </p:handoutMasterIdLst>
  <p:sldIdLst>
    <p:sldId id="4097" r:id="rId2"/>
    <p:sldId id="4103" r:id="rId3"/>
    <p:sldId id="4119" r:id="rId4"/>
    <p:sldId id="4113" r:id="rId5"/>
    <p:sldId id="4105" r:id="rId6"/>
    <p:sldId id="4114" r:id="rId7"/>
    <p:sldId id="4120" r:id="rId8"/>
    <p:sldId id="4115" r:id="rId9"/>
    <p:sldId id="4121" r:id="rId10"/>
    <p:sldId id="4118" r:id="rId11"/>
    <p:sldId id="4122" r:id="rId12"/>
    <p:sldId id="4116" r:id="rId13"/>
    <p:sldId id="4123" r:id="rId14"/>
    <p:sldId id="4124" r:id="rId15"/>
    <p:sldId id="4125" r:id="rId16"/>
    <p:sldId id="4126" r:id="rId17"/>
    <p:sldId id="4127" r:id="rId18"/>
    <p:sldId id="4128" r:id="rId19"/>
    <p:sldId id="4117" r:id="rId20"/>
    <p:sldId id="4131" r:id="rId21"/>
    <p:sldId id="4132" r:id="rId22"/>
    <p:sldId id="4133" r:id="rId23"/>
    <p:sldId id="4134" r:id="rId24"/>
    <p:sldId id="4135" r:id="rId25"/>
  </p:sldIdLst>
  <p:sldSz cx="12192000" cy="6858000"/>
  <p:notesSz cx="6858000" cy="9144000"/>
  <p:custDataLst>
    <p:tags r:id="rId2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72" userDrawn="1">
          <p15:clr>
            <a:srgbClr val="A4A3A4"/>
          </p15:clr>
        </p15:guide>
        <p15:guide id="2" pos="7272" userDrawn="1">
          <p15:clr>
            <a:srgbClr val="A4A3A4"/>
          </p15:clr>
        </p15:guide>
        <p15:guide id="3" orient="horz" pos="3884" userDrawn="1">
          <p15:clr>
            <a:srgbClr val="A4A3A4"/>
          </p15:clr>
        </p15:guide>
        <p15:guide id="4" pos="2252" userDrawn="1">
          <p15:clr>
            <a:srgbClr val="A4A3A4"/>
          </p15:clr>
        </p15:guide>
        <p15:guide id="5" orient="horz" pos="422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00FC2D2-C211-5CAE-B5DF-3D765C9E29E9}" name="Rehan Mirza" initials="RM" userId="20a01ed13f6e6ab9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5480"/>
    <a:srgbClr val="000000"/>
    <a:srgbClr val="747A94"/>
    <a:srgbClr val="CAE8AA"/>
    <a:srgbClr val="4F7921"/>
    <a:srgbClr val="8A17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DE9E81-BBCB-456C-BB4C-7F5A98DB8F8F}" v="1" dt="2026-04-28T03:07:54.1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572" y="44"/>
      </p:cViewPr>
      <p:guideLst>
        <p:guide orient="horz" pos="2772"/>
        <p:guide pos="7272"/>
        <p:guide orient="horz" pos="3884"/>
        <p:guide pos="2252"/>
        <p:guide orient="horz" pos="422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4" d="100"/>
          <a:sy n="54" d="100"/>
        </p:scale>
        <p:origin x="2564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Relationship Id="rId35" Type="http://schemas.microsoft.com/office/2018/10/relationships/authors" Target="author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han Mirza" userId="20a01ed13f6e6ab9" providerId="LiveId" clId="{BB0AACE9-FF1D-42A4-A027-C4FBF8385E00}"/>
    <pc:docChg chg="undo redo custSel addSld delSld modSld sldOrd modMainMaster">
      <pc:chgData name="Rehan Mirza" userId="20a01ed13f6e6ab9" providerId="LiveId" clId="{BB0AACE9-FF1D-42A4-A027-C4FBF8385E00}" dt="2026-04-28T03:09:53.139" v="624" actId="47"/>
      <pc:docMkLst>
        <pc:docMk/>
      </pc:docMkLst>
      <pc:sldChg chg="addSp modSp mod">
        <pc:chgData name="Rehan Mirza" userId="20a01ed13f6e6ab9" providerId="LiveId" clId="{BB0AACE9-FF1D-42A4-A027-C4FBF8385E00}" dt="2026-04-28T03:08:41.245" v="581" actId="20577"/>
        <pc:sldMkLst>
          <pc:docMk/>
          <pc:sldMk cId="3951649629" sldId="4097"/>
        </pc:sldMkLst>
        <pc:spChg chg="mod">
          <ac:chgData name="Rehan Mirza" userId="20a01ed13f6e6ab9" providerId="LiveId" clId="{BB0AACE9-FF1D-42A4-A027-C4FBF8385E00}" dt="2026-04-28T03:08:38.036" v="580" actId="20577"/>
          <ac:spMkLst>
            <pc:docMk/>
            <pc:sldMk cId="3951649629" sldId="4097"/>
            <ac:spMk id="2" creationId="{2B4229AD-DDAB-6A09-9177-9662E6225DB5}"/>
          </ac:spMkLst>
        </pc:spChg>
        <pc:spChg chg="mod">
          <ac:chgData name="Rehan Mirza" userId="20a01ed13f6e6ab9" providerId="LiveId" clId="{BB0AACE9-FF1D-42A4-A027-C4FBF8385E00}" dt="2026-04-28T03:08:41.245" v="581" actId="20577"/>
          <ac:spMkLst>
            <pc:docMk/>
            <pc:sldMk cId="3951649629" sldId="4097"/>
            <ac:spMk id="3" creationId="{98B1E3CE-D015-9B7F-B133-61DE946333C1}"/>
          </ac:spMkLst>
        </pc:spChg>
        <pc:spChg chg="mod">
          <ac:chgData name="Rehan Mirza" userId="20a01ed13f6e6ab9" providerId="LiveId" clId="{BB0AACE9-FF1D-42A4-A027-C4FBF8385E00}" dt="2026-04-28T03:08:26.250" v="567" actId="20577"/>
          <ac:spMkLst>
            <pc:docMk/>
            <pc:sldMk cId="3951649629" sldId="4097"/>
            <ac:spMk id="5" creationId="{076514F7-8404-F570-70FB-FB5D0FF45AA7}"/>
          </ac:spMkLst>
        </pc:spChg>
        <pc:spChg chg="mod">
          <ac:chgData name="Rehan Mirza" userId="20a01ed13f6e6ab9" providerId="LiveId" clId="{BB0AACE9-FF1D-42A4-A027-C4FBF8385E00}" dt="2026-04-28T03:08:16.281" v="537" actId="20577"/>
          <ac:spMkLst>
            <pc:docMk/>
            <pc:sldMk cId="3951649629" sldId="4097"/>
            <ac:spMk id="68" creationId="{9D9B14C4-7F39-59C1-34E9-EFE29E7A462F}"/>
          </ac:spMkLst>
        </pc:spChg>
      </pc:sldChg>
      <pc:sldChg chg="modSp mod">
        <pc:chgData name="Rehan Mirza" userId="20a01ed13f6e6ab9" providerId="LiveId" clId="{BB0AACE9-FF1D-42A4-A027-C4FBF8385E00}" dt="2026-04-28T03:07:37.274" v="530" actId="20577"/>
        <pc:sldMkLst>
          <pc:docMk/>
          <pc:sldMk cId="1361182257" sldId="4103"/>
        </pc:sldMkLst>
        <pc:spChg chg="mod">
          <ac:chgData name="Rehan Mirza" userId="20a01ed13f6e6ab9" providerId="LiveId" clId="{BB0AACE9-FF1D-42A4-A027-C4FBF8385E00}" dt="2026-04-28T03:07:37.274" v="530" actId="20577"/>
          <ac:spMkLst>
            <pc:docMk/>
            <pc:sldMk cId="1361182257" sldId="4103"/>
            <ac:spMk id="2" creationId="{DD651C7D-2D20-D8C6-940A-28FFFC0F663B}"/>
          </ac:spMkLst>
        </pc:spChg>
        <pc:spChg chg="mod">
          <ac:chgData name="Rehan Mirza" userId="20a01ed13f6e6ab9" providerId="LiveId" clId="{BB0AACE9-FF1D-42A4-A027-C4FBF8385E00}" dt="2026-04-28T03:07:29.179" v="516" actId="20577"/>
          <ac:spMkLst>
            <pc:docMk/>
            <pc:sldMk cId="1361182257" sldId="4103"/>
            <ac:spMk id="5" creationId="{D0FB0FF3-65A7-74D7-3DC4-EBB7E60D596D}"/>
          </ac:spMkLst>
        </pc:spChg>
        <pc:spChg chg="mod">
          <ac:chgData name="Rehan Mirza" userId="20a01ed13f6e6ab9" providerId="LiveId" clId="{BB0AACE9-FF1D-42A4-A027-C4FBF8385E00}" dt="2026-04-28T03:07:34.558" v="529" actId="20577"/>
          <ac:spMkLst>
            <pc:docMk/>
            <pc:sldMk cId="1361182257" sldId="4103"/>
            <ac:spMk id="6" creationId="{1B69CB66-C4DC-5E80-C10B-1F9F8875CB6A}"/>
          </ac:spMkLst>
        </pc:spChg>
      </pc:sldChg>
      <pc:sldChg chg="del">
        <pc:chgData name="Rehan Mirza" userId="20a01ed13f6e6ab9" providerId="LiveId" clId="{BB0AACE9-FF1D-42A4-A027-C4FBF8385E00}" dt="2026-04-28T03:08:08.975" v="532" actId="47"/>
        <pc:sldMkLst>
          <pc:docMk/>
          <pc:sldMk cId="432856457" sldId="4104"/>
        </pc:sldMkLst>
      </pc:sldChg>
      <pc:sldChg chg="modSp add del mod">
        <pc:chgData name="Rehan Mirza" userId="20a01ed13f6e6ab9" providerId="LiveId" clId="{BB0AACE9-FF1D-42A4-A027-C4FBF8385E00}" dt="2026-04-28T03:09:43.017" v="620" actId="20577"/>
        <pc:sldMkLst>
          <pc:docMk/>
          <pc:sldMk cId="885954323" sldId="4105"/>
        </pc:sldMkLst>
        <pc:spChg chg="mod">
          <ac:chgData name="Rehan Mirza" userId="20a01ed13f6e6ab9" providerId="LiveId" clId="{BB0AACE9-FF1D-42A4-A027-C4FBF8385E00}" dt="2026-04-28T03:09:43.017" v="620" actId="20577"/>
          <ac:spMkLst>
            <pc:docMk/>
            <pc:sldMk cId="885954323" sldId="4105"/>
            <ac:spMk id="2" creationId="{9CC2ECE2-36CD-C64B-EBA4-220F3FF93199}"/>
          </ac:spMkLst>
        </pc:spChg>
        <pc:spChg chg="mod">
          <ac:chgData name="Rehan Mirza" userId="20a01ed13f6e6ab9" providerId="LiveId" clId="{BB0AACE9-FF1D-42A4-A027-C4FBF8385E00}" dt="2026-04-28T03:08:51.212" v="587" actId="20577"/>
          <ac:spMkLst>
            <pc:docMk/>
            <pc:sldMk cId="885954323" sldId="4105"/>
            <ac:spMk id="5" creationId="{E5112FF8-D3EE-E101-8C76-F4516EC944ED}"/>
          </ac:spMkLst>
        </pc:spChg>
      </pc:sldChg>
      <pc:sldChg chg="del">
        <pc:chgData name="Rehan Mirza" userId="20a01ed13f6e6ab9" providerId="LiveId" clId="{BB0AACE9-FF1D-42A4-A027-C4FBF8385E00}" dt="2026-04-28T03:08:57.685" v="589" actId="47"/>
        <pc:sldMkLst>
          <pc:docMk/>
          <pc:sldMk cId="2074961650" sldId="4106"/>
        </pc:sldMkLst>
      </pc:sldChg>
      <pc:sldChg chg="del">
        <pc:chgData name="Rehan Mirza" userId="20a01ed13f6e6ab9" providerId="LiveId" clId="{BB0AACE9-FF1D-42A4-A027-C4FBF8385E00}" dt="2026-04-28T03:09:00.099" v="590" actId="47"/>
        <pc:sldMkLst>
          <pc:docMk/>
          <pc:sldMk cId="1740172750" sldId="4107"/>
        </pc:sldMkLst>
      </pc:sldChg>
      <pc:sldChg chg="del">
        <pc:chgData name="Rehan Mirza" userId="20a01ed13f6e6ab9" providerId="LiveId" clId="{BB0AACE9-FF1D-42A4-A027-C4FBF8385E00}" dt="2026-04-28T03:09:03.146" v="591" actId="47"/>
        <pc:sldMkLst>
          <pc:docMk/>
          <pc:sldMk cId="1645774898" sldId="4108"/>
        </pc:sldMkLst>
      </pc:sldChg>
      <pc:sldChg chg="del">
        <pc:chgData name="Rehan Mirza" userId="20a01ed13f6e6ab9" providerId="LiveId" clId="{BB0AACE9-FF1D-42A4-A027-C4FBF8385E00}" dt="2026-04-28T03:09:03.801" v="592" actId="47"/>
        <pc:sldMkLst>
          <pc:docMk/>
          <pc:sldMk cId="1269076932" sldId="4109"/>
        </pc:sldMkLst>
      </pc:sldChg>
      <pc:sldChg chg="delSp modSp mod">
        <pc:chgData name="Rehan Mirza" userId="20a01ed13f6e6ab9" providerId="LiveId" clId="{BB0AACE9-FF1D-42A4-A027-C4FBF8385E00}" dt="2026-04-28T03:09:19.020" v="598" actId="6549"/>
        <pc:sldMkLst>
          <pc:docMk/>
          <pc:sldMk cId="2111934881" sldId="4110"/>
        </pc:sldMkLst>
        <pc:graphicFrameChg chg="mod modGraphic">
          <ac:chgData name="Rehan Mirza" userId="20a01ed13f6e6ab9" providerId="LiveId" clId="{BB0AACE9-FF1D-42A4-A027-C4FBF8385E00}" dt="2026-04-28T03:09:19.020" v="598" actId="6549"/>
          <ac:graphicFrameMkLst>
            <pc:docMk/>
            <pc:sldMk cId="2111934881" sldId="4110"/>
            <ac:graphicFrameMk id="11" creationId="{F0ED07E0-A297-A98D-3E9A-BD0D7C06184C}"/>
          </ac:graphicFrameMkLst>
        </pc:graphicFrameChg>
        <pc:graphicFrameChg chg="del">
          <ac:chgData name="Rehan Mirza" userId="20a01ed13f6e6ab9" providerId="LiveId" clId="{BB0AACE9-FF1D-42A4-A027-C4FBF8385E00}" dt="2026-04-28T03:09:09.609" v="594" actId="478"/>
          <ac:graphicFrameMkLst>
            <pc:docMk/>
            <pc:sldMk cId="2111934881" sldId="4110"/>
            <ac:graphicFrameMk id="12" creationId="{0D7E0D26-E3BB-1C47-C378-A41FC08C7956}"/>
          </ac:graphicFrameMkLst>
        </pc:graphicFrameChg>
        <pc:graphicFrameChg chg="del">
          <ac:chgData name="Rehan Mirza" userId="20a01ed13f6e6ab9" providerId="LiveId" clId="{BB0AACE9-FF1D-42A4-A027-C4FBF8385E00}" dt="2026-04-28T03:09:09.609" v="594" actId="478"/>
          <ac:graphicFrameMkLst>
            <pc:docMk/>
            <pc:sldMk cId="2111934881" sldId="4110"/>
            <ac:graphicFrameMk id="13" creationId="{6EDE7461-E9AD-437A-B948-04F6280FB432}"/>
          </ac:graphicFrameMkLst>
        </pc:graphicFrameChg>
        <pc:graphicFrameChg chg="del">
          <ac:chgData name="Rehan Mirza" userId="20a01ed13f6e6ab9" providerId="LiveId" clId="{BB0AACE9-FF1D-42A4-A027-C4FBF8385E00}" dt="2026-04-28T03:09:07.273" v="593" actId="478"/>
          <ac:graphicFrameMkLst>
            <pc:docMk/>
            <pc:sldMk cId="2111934881" sldId="4110"/>
            <ac:graphicFrameMk id="14" creationId="{A26069D0-AC26-93D0-18E5-A54E579FB951}"/>
          </ac:graphicFrameMkLst>
        </pc:graphicFrameChg>
        <pc:graphicFrameChg chg="del">
          <ac:chgData name="Rehan Mirza" userId="20a01ed13f6e6ab9" providerId="LiveId" clId="{BB0AACE9-FF1D-42A4-A027-C4FBF8385E00}" dt="2026-04-28T03:09:07.273" v="593" actId="478"/>
          <ac:graphicFrameMkLst>
            <pc:docMk/>
            <pc:sldMk cId="2111934881" sldId="4110"/>
            <ac:graphicFrameMk id="15" creationId="{555FCF04-BB66-3531-F66E-DBA3C7910095}"/>
          </ac:graphicFrameMkLst>
        </pc:graphicFrameChg>
        <pc:graphicFrameChg chg="del">
          <ac:chgData name="Rehan Mirza" userId="20a01ed13f6e6ab9" providerId="LiveId" clId="{BB0AACE9-FF1D-42A4-A027-C4FBF8385E00}" dt="2026-04-28T03:09:07.273" v="593" actId="478"/>
          <ac:graphicFrameMkLst>
            <pc:docMk/>
            <pc:sldMk cId="2111934881" sldId="4110"/>
            <ac:graphicFrameMk id="16" creationId="{B3ED7C4A-94DB-D582-2EFD-6B10716E1AB6}"/>
          </ac:graphicFrameMkLst>
        </pc:graphicFrameChg>
      </pc:sldChg>
      <pc:sldChg chg="del">
        <pc:chgData name="Rehan Mirza" userId="20a01ed13f6e6ab9" providerId="LiveId" clId="{BB0AACE9-FF1D-42A4-A027-C4FBF8385E00}" dt="2026-04-28T03:09:47.015" v="621" actId="47"/>
        <pc:sldMkLst>
          <pc:docMk/>
          <pc:sldMk cId="3815987300" sldId="4111"/>
        </pc:sldMkLst>
      </pc:sldChg>
      <pc:sldChg chg="delSp modSp mod">
        <pc:chgData name="Rehan Mirza" userId="20a01ed13f6e6ab9" providerId="LiveId" clId="{BB0AACE9-FF1D-42A4-A027-C4FBF8385E00}" dt="2026-04-28T03:09:38.935" v="617" actId="20577"/>
        <pc:sldMkLst>
          <pc:docMk/>
          <pc:sldMk cId="1587710227" sldId="4112"/>
        </pc:sldMkLst>
        <pc:spChg chg="mod">
          <ac:chgData name="Rehan Mirza" userId="20a01ed13f6e6ab9" providerId="LiveId" clId="{BB0AACE9-FF1D-42A4-A027-C4FBF8385E00}" dt="2026-04-28T03:09:28.584" v="607" actId="20577"/>
          <ac:spMkLst>
            <pc:docMk/>
            <pc:sldMk cId="1587710227" sldId="4112"/>
            <ac:spMk id="2" creationId="{99C0AC1E-6B61-E24B-59DC-C0834F8F31EE}"/>
          </ac:spMkLst>
        </pc:spChg>
        <pc:spChg chg="mod">
          <ac:chgData name="Rehan Mirza" userId="20a01ed13f6e6ab9" providerId="LiveId" clId="{BB0AACE9-FF1D-42A4-A027-C4FBF8385E00}" dt="2026-04-28T03:09:38.935" v="617" actId="20577"/>
          <ac:spMkLst>
            <pc:docMk/>
            <pc:sldMk cId="1587710227" sldId="4112"/>
            <ac:spMk id="5" creationId="{80682543-DB48-3CCB-47E6-5EE162F1BBA6}"/>
          </ac:spMkLst>
        </pc:spChg>
        <pc:spChg chg="mod">
          <ac:chgData name="Rehan Mirza" userId="20a01ed13f6e6ab9" providerId="LiveId" clId="{BB0AACE9-FF1D-42A4-A027-C4FBF8385E00}" dt="2026-04-28T03:09:23.508" v="601" actId="20577"/>
          <ac:spMkLst>
            <pc:docMk/>
            <pc:sldMk cId="1587710227" sldId="4112"/>
            <ac:spMk id="7" creationId="{4EB8216F-8F7A-C464-D6E7-E1A699160A8C}"/>
          </ac:spMkLst>
        </pc:spChg>
        <pc:spChg chg="mod">
          <ac:chgData name="Rehan Mirza" userId="20a01ed13f6e6ab9" providerId="LiveId" clId="{BB0AACE9-FF1D-42A4-A027-C4FBF8385E00}" dt="2026-04-28T03:09:31.281" v="610" actId="20577"/>
          <ac:spMkLst>
            <pc:docMk/>
            <pc:sldMk cId="1587710227" sldId="4112"/>
            <ac:spMk id="10" creationId="{49033E24-31C0-80C7-BC84-33D8843B0A72}"/>
          </ac:spMkLst>
        </pc:spChg>
        <pc:spChg chg="mod">
          <ac:chgData name="Rehan Mirza" userId="20a01ed13f6e6ab9" providerId="LiveId" clId="{BB0AACE9-FF1D-42A4-A027-C4FBF8385E00}" dt="2026-04-28T03:09:32.771" v="613" actId="20577"/>
          <ac:spMkLst>
            <pc:docMk/>
            <pc:sldMk cId="1587710227" sldId="4112"/>
            <ac:spMk id="11" creationId="{340F377E-C78F-2F0D-30C4-F0B8526535F9}"/>
          </ac:spMkLst>
        </pc:spChg>
        <pc:spChg chg="del">
          <ac:chgData name="Rehan Mirza" userId="20a01ed13f6e6ab9" providerId="LiveId" clId="{BB0AACE9-FF1D-42A4-A027-C4FBF8385E00}" dt="2026-04-28T03:09:35.856" v="614" actId="478"/>
          <ac:spMkLst>
            <pc:docMk/>
            <pc:sldMk cId="1587710227" sldId="4112"/>
            <ac:spMk id="12" creationId="{5B5F4BB4-C7AC-DBCA-7389-91BDEEFD2917}"/>
          </ac:spMkLst>
        </pc:spChg>
        <pc:spChg chg="del">
          <ac:chgData name="Rehan Mirza" userId="20a01ed13f6e6ab9" providerId="LiveId" clId="{BB0AACE9-FF1D-42A4-A027-C4FBF8385E00}" dt="2026-04-28T03:09:35.856" v="614" actId="478"/>
          <ac:spMkLst>
            <pc:docMk/>
            <pc:sldMk cId="1587710227" sldId="4112"/>
            <ac:spMk id="13" creationId="{04A566FC-6130-E4F8-A745-7370E80BEBDA}"/>
          </ac:spMkLst>
        </pc:spChg>
      </pc:sldChg>
      <pc:sldChg chg="del">
        <pc:chgData name="Rehan Mirza" userId="20a01ed13f6e6ab9" providerId="LiveId" clId="{BB0AACE9-FF1D-42A4-A027-C4FBF8385E00}" dt="2026-04-28T03:09:51.092" v="623" actId="47"/>
        <pc:sldMkLst>
          <pc:docMk/>
          <pc:sldMk cId="2571889401" sldId="4113"/>
        </pc:sldMkLst>
      </pc:sldChg>
      <pc:sldChg chg="del">
        <pc:chgData name="Rehan Mirza" userId="20a01ed13f6e6ab9" providerId="LiveId" clId="{BB0AACE9-FF1D-42A4-A027-C4FBF8385E00}" dt="2026-04-28T03:09:53.139" v="624" actId="47"/>
        <pc:sldMkLst>
          <pc:docMk/>
          <pc:sldMk cId="2677420988" sldId="4114"/>
        </pc:sldMkLst>
      </pc:sldChg>
      <pc:sldChg chg="del">
        <pc:chgData name="Rehan Mirza" userId="20a01ed13f6e6ab9" providerId="LiveId" clId="{BB0AACE9-FF1D-42A4-A027-C4FBF8385E00}" dt="2026-04-28T03:09:49.609" v="622" actId="47"/>
        <pc:sldMkLst>
          <pc:docMk/>
          <pc:sldMk cId="359633315" sldId="4115"/>
        </pc:sldMkLst>
      </pc:sldChg>
      <pc:sldMasterChg chg="modSldLayout">
        <pc:chgData name="Rehan Mirza" userId="20a01ed13f6e6ab9" providerId="LiveId" clId="{BB0AACE9-FF1D-42A4-A027-C4FBF8385E00}" dt="2026-04-28T03:07:54.154" v="531" actId="478"/>
        <pc:sldMasterMkLst>
          <pc:docMk/>
          <pc:sldMasterMk cId="735633141" sldId="2147483740"/>
        </pc:sldMasterMkLst>
        <pc:sldLayoutChg chg="delSp">
          <pc:chgData name="Rehan Mirza" userId="20a01ed13f6e6ab9" providerId="LiveId" clId="{BB0AACE9-FF1D-42A4-A027-C4FBF8385E00}" dt="2026-04-28T03:07:54.154" v="531" actId="478"/>
          <pc:sldLayoutMkLst>
            <pc:docMk/>
            <pc:sldMasterMk cId="735633141" sldId="2147483740"/>
            <pc:sldLayoutMk cId="1016741288" sldId="2147483748"/>
          </pc:sldLayoutMkLst>
          <pc:picChg chg="del">
            <ac:chgData name="Rehan Mirza" userId="20a01ed13f6e6ab9" providerId="LiveId" clId="{BB0AACE9-FF1D-42A4-A027-C4FBF8385E00}" dt="2026-04-28T03:07:54.154" v="531" actId="478"/>
            <ac:picMkLst>
              <pc:docMk/>
              <pc:sldMasterMk cId="735633141" sldId="2147483740"/>
              <pc:sldLayoutMk cId="1016741288" sldId="2147483748"/>
              <ac:picMk id="2050" creationId="{7F95CD02-6E70-E47E-1B04-482199495F98}"/>
            </ac:picMkLst>
          </pc:picChg>
        </pc:sldLayoutChg>
      </pc:sldMasterChg>
    </pc:docChg>
  </pc:docChgLst>
</pc:chgInfo>
</file>

<file path=ppt/comments/modernComment_1001_EB89635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C9DDCC5-0FCB-4169-A174-982C0A9A16BD}" authorId="{300FC2D2-C211-5CAE-B5DF-3D765C9E29E9}" created="2026-04-28T03:18:56.295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951649629" sldId="4097"/>
      <ac:spMk id="3" creationId="{98B1E3CE-D015-9B7F-B133-61DE946333C1}"/>
      <ac:txMk cp="24" len="35">
        <ac:context len="89" hash="1420438591"/>
      </ac:txMk>
    </ac:txMkLst>
    <p188:pos x="10388277" y="311676"/>
    <p188:txBody>
      <a:bodyPr/>
      <a:lstStyle/>
      <a:p>
        <a:r>
          <a:rPr lang="en-US"/>
          <a:t>Hope you’re OK with the subtitle change. I wasn’t sure about the readability around “dis/likes” 
Otherwise we can go with the original:
Understanding Americans’ party dis/likes through open-ended questions.</a:t>
        </a:r>
      </a:p>
    </p188:txBody>
  </p188:cm>
</p188:cmLst>
</file>

<file path=ppt/comments/modernComment_1015_2FB58AF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C9C4396-1B67-47A9-B37F-65B7B759DDD6}" authorId="{300FC2D2-C211-5CAE-B5DF-3D765C9E29E9}" created="2026-04-28T06:00:37.87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800426751" sldId="4117"/>
      <ac:spMk id="16" creationId="{2DE09392-4B1F-872F-7BBE-F1B97C53B5C0}"/>
    </ac:deMkLst>
    <p188:txBody>
      <a:bodyPr/>
      <a:lstStyle/>
      <a:p>
        <a:r>
          <a:rPr lang="en-US"/>
          <a:t>Review section</a:t>
        </a:r>
      </a:p>
    </p188:txBody>
  </p188:cm>
</p188:cmLst>
</file>

<file path=ppt/comments/modernComment_1019_3299B5E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F7F8031-407B-4876-8AAA-62CA3E757E84}" authorId="{300FC2D2-C211-5CAE-B5DF-3D765C9E29E9}" created="2026-04-28T04:34:27.54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848934382" sldId="4121"/>
      <ac:spMk id="3" creationId="{686F335F-64E2-888B-4BDA-92E025792613}"/>
      <ac:txMk cp="576" len="22">
        <ac:context len="750" hash="3580214052"/>
      </ac:txMk>
    </ac:txMkLst>
    <p188:pos x="3903889" y="2441640"/>
    <p188:txBody>
      <a:bodyPr/>
      <a:lstStyle/>
      <a:p>
        <a:r>
          <a:rPr lang="en-US"/>
          <a:t>Potentially note this is distinction from Study 1, where we could not run clustered SEs due to multinomial model</a:t>
        </a:r>
      </a:p>
    </p188:txBody>
  </p188:cm>
  <p188:cm id="{3D91E104-F319-4425-8051-7812651CBA77}" authorId="{300FC2D2-C211-5CAE-B5DF-3D765C9E29E9}" created="2026-04-28T04:36:13.505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848934382" sldId="4121"/>
      <ac:spMk id="5" creationId="{F76909BD-11BF-E16A-5917-9D92D3A6B2F2}"/>
      <ac:txMk cp="0" len="48">
        <ac:context len="49" hash="601447405"/>
      </ac:txMk>
    </ac:txMkLst>
    <p188:pos x="9559018" y="353328"/>
    <p188:txBody>
      <a:bodyPr/>
      <a:lstStyle/>
      <a:p>
        <a:r>
          <a:rPr lang="en-US"/>
          <a:t>Review slide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9262E3C-961D-8A41-7256-109578846A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225D6-C9D4-99EC-A0C8-6B67E067483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934E2B-CD88-4CB6-B78C-D82DEA846546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FF4B49-59A0-0487-1A44-F73B1CAE63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C5BACE-2E96-2D16-05BC-24AA92C6DAB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FDDEBB-0EAE-418E-B7D1-D134DA8D9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7997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E5D255-6955-4F54-86C0-D98ED5C0100E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A88684-2D90-4490-86EB-6020F989A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701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A88684-2D90-4490-86EB-6020F989A72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8145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A88684-2D90-4490-86EB-6020F989A72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8058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A88684-2D90-4490-86EB-6020F989A72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499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A88684-2D90-4490-86EB-6020F989A72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4774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1.emf"/><Relationship Id="rId4" Type="http://schemas.openxmlformats.org/officeDocument/2006/relationships/oleObject" Target="../embeddings/oleObject7.bin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48843B8-CA4B-5A7B-9CE0-1C3C671C714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03576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5" imgH="405" progId="TCLayout.ActiveDocument.1">
                  <p:embed/>
                </p:oleObj>
              </mc:Choice>
              <mc:Fallback>
                <p:oleObj name="think-cell Slide" r:id="rId4" imgW="405" imgH="40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48843B8-CA4B-5A7B-9CE0-1C3C671C71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09C64B47-122F-7031-7E7E-82502E0DE0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8703576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405" imgH="405" progId="TCLayout.ActiveDocument.1">
                  <p:embed/>
                </p:oleObj>
              </mc:Choice>
              <mc:Fallback>
                <p:oleObj name="think-cell Slide" r:id="rId6" imgW="405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9C64B47-122F-7031-7E7E-82502E0DE0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909635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 userDrawn="1">
          <p15:clr>
            <a:srgbClr val="FBAE40"/>
          </p15:clr>
        </p15:guide>
        <p15:guide id="4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48843B8-CA4B-5A7B-9CE0-1C3C671C714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03576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5" imgH="405" progId="TCLayout.ActiveDocument.1">
                  <p:embed/>
                </p:oleObj>
              </mc:Choice>
              <mc:Fallback>
                <p:oleObj name="think-cell Slide" r:id="rId4" imgW="405" imgH="40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48843B8-CA4B-5A7B-9CE0-1C3C671C71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0E0F312D-95AE-4FBF-DF46-96F8F75DFED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72238" y="3063875"/>
            <a:ext cx="5368925" cy="696913"/>
          </a:xfrm>
        </p:spPr>
        <p:txBody>
          <a:bodyPr>
            <a:noAutofit/>
          </a:bodyPr>
          <a:lstStyle>
            <a:lvl1pPr marL="0" indent="0" algn="r">
              <a:buNone/>
              <a:defRPr sz="4000">
                <a:solidFill>
                  <a:srgbClr val="8A173E"/>
                </a:solidFill>
              </a:defRPr>
            </a:lvl1pPr>
          </a:lstStyle>
          <a:p>
            <a:pPr lvl="0"/>
            <a:r>
              <a:rPr lang="en-US" dirty="0" err="1"/>
              <a:t>Subheader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66C26B54-35CB-DC58-5F0C-3B2D713401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80238" y="1587500"/>
            <a:ext cx="4860925" cy="1011238"/>
          </a:xfrm>
        </p:spPr>
        <p:txBody>
          <a:bodyPr/>
          <a:lstStyle>
            <a:lvl1pPr>
              <a:defRPr b="1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0" b="0" i="0" u="none" strike="noStrike" kern="1200" cap="none" spc="-600" normalizeH="0" baseline="0" noProof="0" dirty="0">
                <a:ln>
                  <a:noFill/>
                </a:ln>
                <a:solidFill>
                  <a:srgbClr val="11134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Header</a:t>
            </a:r>
          </a:p>
          <a:p>
            <a:pPr lvl="4"/>
            <a:endParaRPr lang="en-US" dirty="0"/>
          </a:p>
        </p:txBody>
      </p:sp>
      <p:sp>
        <p:nvSpPr>
          <p:cNvPr id="30" name="Text Placeholder 26">
            <a:extLst>
              <a:ext uri="{FF2B5EF4-FFF2-40B4-BE49-F238E27FC236}">
                <a16:creationId xmlns:a16="http://schemas.microsoft.com/office/drawing/2014/main" id="{AACC8D14-0884-63B7-CF16-383E62C6D68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80238" y="3990320"/>
            <a:ext cx="4860925" cy="1011238"/>
          </a:xfrm>
        </p:spPr>
        <p:txBody>
          <a:bodyPr/>
          <a:lstStyle>
            <a:lvl1pPr>
              <a:defRPr sz="2400" b="1"/>
            </a:lvl1pPr>
            <a:lvl5pPr marL="1828434" indent="0" algn="r">
              <a:buNone/>
              <a:defRPr sz="2400">
                <a:solidFill>
                  <a:srgbClr val="000000"/>
                </a:solidFill>
              </a:defRPr>
            </a:lvl5pPr>
          </a:lstStyle>
          <a:p>
            <a:pPr lvl="4"/>
            <a:r>
              <a:rPr lang="en-US" dirty="0"/>
              <a:t>Attributions</a:t>
            </a:r>
          </a:p>
        </p:txBody>
      </p:sp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26F35789-EA55-1B75-B7BD-A26EA7916C1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8703576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405" imgH="405" progId="TCLayout.ActiveDocument.1">
                  <p:embed/>
                </p:oleObj>
              </mc:Choice>
              <mc:Fallback>
                <p:oleObj name="think-cell Slide" r:id="rId6" imgW="405" imgH="405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6F35789-EA55-1B75-B7BD-A26EA7916C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613416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 userDrawn="1">
          <p15:clr>
            <a:srgbClr val="FBAE40"/>
          </p15:clr>
        </p15:guide>
        <p15:guide id="4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48843B8-CA4B-5A7B-9CE0-1C3C671C714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03576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5" imgH="405" progId="TCLayout.ActiveDocument.1">
                  <p:embed/>
                </p:oleObj>
              </mc:Choice>
              <mc:Fallback>
                <p:oleObj name="think-cell Slide" r:id="rId4" imgW="405" imgH="40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48843B8-CA4B-5A7B-9CE0-1C3C671C71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0E0F312D-95AE-4FBF-DF46-96F8F75DFED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72238" y="3063875"/>
            <a:ext cx="5368925" cy="696913"/>
          </a:xfrm>
        </p:spPr>
        <p:txBody>
          <a:bodyPr>
            <a:noAutofit/>
          </a:bodyPr>
          <a:lstStyle>
            <a:lvl1pPr marL="0" indent="0" algn="r">
              <a:buNone/>
              <a:defRPr sz="4000">
                <a:solidFill>
                  <a:srgbClr val="8A173E"/>
                </a:solidFill>
              </a:defRPr>
            </a:lvl1pPr>
          </a:lstStyle>
          <a:p>
            <a:pPr lvl="0"/>
            <a:r>
              <a:rPr lang="en-US" dirty="0" err="1"/>
              <a:t>Subheader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66C26B54-35CB-DC58-5F0C-3B2D713401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80238" y="1587500"/>
            <a:ext cx="4860925" cy="1011238"/>
          </a:xfrm>
        </p:spPr>
        <p:txBody>
          <a:bodyPr/>
          <a:lstStyle>
            <a:lvl1pPr>
              <a:defRPr b="1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0" b="0" i="0" u="none" strike="noStrike" kern="1200" cap="none" spc="-600" normalizeH="0" baseline="0" noProof="0" dirty="0">
                <a:ln>
                  <a:noFill/>
                </a:ln>
                <a:solidFill>
                  <a:srgbClr val="11134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Header</a:t>
            </a:r>
          </a:p>
          <a:p>
            <a:pPr lvl="4"/>
            <a:endParaRPr lang="en-US" dirty="0"/>
          </a:p>
        </p:txBody>
      </p:sp>
      <p:sp>
        <p:nvSpPr>
          <p:cNvPr id="30" name="Text Placeholder 26">
            <a:extLst>
              <a:ext uri="{FF2B5EF4-FFF2-40B4-BE49-F238E27FC236}">
                <a16:creationId xmlns:a16="http://schemas.microsoft.com/office/drawing/2014/main" id="{AACC8D14-0884-63B7-CF16-383E62C6D68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80238" y="3990320"/>
            <a:ext cx="4860925" cy="1011238"/>
          </a:xfrm>
        </p:spPr>
        <p:txBody>
          <a:bodyPr/>
          <a:lstStyle>
            <a:lvl1pPr>
              <a:defRPr sz="2400" b="1"/>
            </a:lvl1pPr>
            <a:lvl5pPr marL="1828434" indent="0" algn="r">
              <a:buNone/>
              <a:defRPr sz="2400">
                <a:solidFill>
                  <a:srgbClr val="000000"/>
                </a:solidFill>
              </a:defRPr>
            </a:lvl5pPr>
          </a:lstStyle>
          <a:p>
            <a:pPr lvl="4"/>
            <a:r>
              <a:rPr lang="en-US" dirty="0"/>
              <a:t>Attributions</a:t>
            </a:r>
          </a:p>
        </p:txBody>
      </p:sp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DE32162-4988-161B-EA4C-E2B42CF076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8703576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405" imgH="405" progId="TCLayout.ActiveDocument.1">
                  <p:embed/>
                </p:oleObj>
              </mc:Choice>
              <mc:Fallback>
                <p:oleObj name="think-cell Slide" r:id="rId6" imgW="405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DE32162-4988-161B-EA4C-E2B42CF076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589557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 userDrawn="1">
          <p15:clr>
            <a:srgbClr val="FBAE40"/>
          </p15:clr>
        </p15:guide>
        <p15:guide id="4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ox and Bullets Horizontal #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E7F3B943-02A8-2152-A6D0-BA389B08925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395856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5" imgH="405" progId="TCLayout.ActiveDocument.1">
                  <p:embed/>
                </p:oleObj>
              </mc:Choice>
              <mc:Fallback>
                <p:oleObj name="think-cell Slide" r:id="rId4" imgW="405" imgH="40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7F3B943-02A8-2152-A6D0-BA389B0892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91C349B-3F5D-6EDB-0CD6-478281261A7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65129"/>
            <a:ext cx="10515600" cy="1325563"/>
          </a:xfrm>
        </p:spPr>
        <p:txBody>
          <a:bodyPr>
            <a:normAutofit/>
          </a:bodyPr>
          <a:lstStyle>
            <a:lvl1pPr marL="0" indent="0" algn="l" defTabSz="91421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i="0" kern="1200" spc="-50" baseline="0" dirty="0">
                <a:solidFill>
                  <a:schemeClr val="tx2"/>
                </a:solidFill>
                <a:latin typeface="Poppins" panose="00000500000000000000" pitchFamily="2" charset="0"/>
                <a:ea typeface="Open Sans Light" panose="020B0306030504020204" pitchFamily="34" charset="0"/>
                <a:cs typeface="Poppins Light" pitchFamily="2" charset="77"/>
              </a:defRPr>
            </a:lvl1pPr>
          </a:lstStyle>
          <a:p>
            <a:pPr lvl="0"/>
            <a:r>
              <a:rPr lang="en-US" dirty="0"/>
              <a:t>INSERT TITLE HERE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4A734BB0-1D03-9E4B-592E-97C996F16A4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38117" y="2041525"/>
            <a:ext cx="2514600" cy="1648159"/>
          </a:xfrm>
          <a:prstGeom prst="round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SHAPE HERE</a:t>
            </a:r>
          </a:p>
        </p:txBody>
      </p:sp>
      <p:sp>
        <p:nvSpPr>
          <p:cNvPr id="50" name="Content Placeholder 15">
            <a:extLst>
              <a:ext uri="{FF2B5EF4-FFF2-40B4-BE49-F238E27FC236}">
                <a16:creationId xmlns:a16="http://schemas.microsoft.com/office/drawing/2014/main" id="{31C36008-EEEF-126E-DBF8-9082F55A1A3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505145" y="2041525"/>
            <a:ext cx="2514600" cy="1648159"/>
          </a:xfrm>
          <a:prstGeom prst="round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SHAPE HERE</a:t>
            </a:r>
          </a:p>
        </p:txBody>
      </p:sp>
      <p:sp>
        <p:nvSpPr>
          <p:cNvPr id="51" name="Content Placeholder 15">
            <a:extLst>
              <a:ext uri="{FF2B5EF4-FFF2-40B4-BE49-F238E27FC236}">
                <a16:creationId xmlns:a16="http://schemas.microsoft.com/office/drawing/2014/main" id="{97BFA647-9651-A464-27D7-197B920FA3D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72173" y="2041525"/>
            <a:ext cx="2514600" cy="1648159"/>
          </a:xfrm>
          <a:prstGeom prst="round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SHAPE HERE</a:t>
            </a:r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C16F5CB1-D758-F260-F87A-377CFC43F4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111" y="4122738"/>
            <a:ext cx="2514601" cy="1444625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54" name="Text Placeholder 52">
            <a:extLst>
              <a:ext uri="{FF2B5EF4-FFF2-40B4-BE49-F238E27FC236}">
                <a16:creationId xmlns:a16="http://schemas.microsoft.com/office/drawing/2014/main" id="{D785FA74-20FC-1CF1-5D87-FC02F387462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05141" y="4122738"/>
            <a:ext cx="2514601" cy="1444625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" name="Content Placeholder 15">
            <a:extLst>
              <a:ext uri="{FF2B5EF4-FFF2-40B4-BE49-F238E27FC236}">
                <a16:creationId xmlns:a16="http://schemas.microsoft.com/office/drawing/2014/main" id="{3DB396A6-8D7D-398B-9268-99863F31DDE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839200" y="2041525"/>
            <a:ext cx="2514600" cy="1648159"/>
          </a:xfrm>
          <a:prstGeom prst="round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SHAPE HERE</a:t>
            </a:r>
          </a:p>
        </p:txBody>
      </p:sp>
      <p:sp>
        <p:nvSpPr>
          <p:cNvPr id="3" name="Text Placeholder 52">
            <a:extLst>
              <a:ext uri="{FF2B5EF4-FFF2-40B4-BE49-F238E27FC236}">
                <a16:creationId xmlns:a16="http://schemas.microsoft.com/office/drawing/2014/main" id="{CF64B3A0-7889-B34F-6568-8E9E9944AAC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72170" y="4122738"/>
            <a:ext cx="2514601" cy="1444625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4" name="Text Placeholder 52">
            <a:extLst>
              <a:ext uri="{FF2B5EF4-FFF2-40B4-BE49-F238E27FC236}">
                <a16:creationId xmlns:a16="http://schemas.microsoft.com/office/drawing/2014/main" id="{29A3ABFA-9B0F-A696-993E-BB99E50BD69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839200" y="4122738"/>
            <a:ext cx="2514600" cy="1444625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39B8AD4-0579-3739-34C1-35729D07082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8395856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405" imgH="405" progId="TCLayout.ActiveDocument.1">
                  <p:embed/>
                </p:oleObj>
              </mc:Choice>
              <mc:Fallback>
                <p:oleObj name="think-cell Slide" r:id="rId6" imgW="405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39B8AD4-0579-3739-34C1-35729D07082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327661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 userDrawn="1">
          <p15:clr>
            <a:srgbClr val="FBAE40"/>
          </p15:clr>
        </p15:guide>
        <p15:guide id="4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7DDDE0B7-5289-A1B9-A7AF-C98F7ADC38F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65129"/>
            <a:ext cx="10515600" cy="1325563"/>
          </a:xfrm>
        </p:spPr>
        <p:txBody>
          <a:bodyPr>
            <a:normAutofit/>
          </a:bodyPr>
          <a:lstStyle>
            <a:lvl1pPr marL="0" indent="0" algn="l" defTabSz="91421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i="0" kern="1200" spc="-50" baseline="0" dirty="0">
                <a:solidFill>
                  <a:schemeClr val="tx2"/>
                </a:solidFill>
                <a:latin typeface="Poppins" panose="00000500000000000000" pitchFamily="2" charset="0"/>
                <a:ea typeface="Open Sans Light" panose="020B0306030504020204" pitchFamily="34" charset="0"/>
                <a:cs typeface="Poppins Light" pitchFamily="2" charset="77"/>
              </a:defRPr>
            </a:lvl1pPr>
          </a:lstStyle>
          <a:p>
            <a:pPr lvl="0"/>
            <a:r>
              <a:rPr lang="en-US" dirty="0"/>
              <a:t>INSERT TITLE HERE</a:t>
            </a:r>
          </a:p>
        </p:txBody>
      </p:sp>
      <p:sp>
        <p:nvSpPr>
          <p:cNvPr id="4" name="Text Placeholder 52">
            <a:extLst>
              <a:ext uri="{FF2B5EF4-FFF2-40B4-BE49-F238E27FC236}">
                <a16:creationId xmlns:a16="http://schemas.microsoft.com/office/drawing/2014/main" id="{CE18D700-92C5-2CEE-6CC5-9F2087FE334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93305" y="1984375"/>
            <a:ext cx="4760495" cy="3582707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5" name="Content Placeholder 15">
            <a:extLst>
              <a:ext uri="{FF2B5EF4-FFF2-40B4-BE49-F238E27FC236}">
                <a16:creationId xmlns:a16="http://schemas.microsoft.com/office/drawing/2014/main" id="{FCA9014C-2A4A-991E-9BD6-2C07FAAB4F1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38116" y="2041525"/>
            <a:ext cx="4760495" cy="3533862"/>
          </a:xfrm>
          <a:prstGeom prst="round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SHAPE HERE</a:t>
            </a:r>
          </a:p>
        </p:txBody>
      </p:sp>
      <p:sp>
        <p:nvSpPr>
          <p:cNvPr id="7" name="Text Placeholder 58">
            <a:extLst>
              <a:ext uri="{FF2B5EF4-FFF2-40B4-BE49-F238E27FC236}">
                <a16:creationId xmlns:a16="http://schemas.microsoft.com/office/drawing/2014/main" id="{16270CA2-D2A5-0A08-1275-5CA6C055D81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3100" y="6319875"/>
            <a:ext cx="10680700" cy="300037"/>
          </a:xfrm>
        </p:spPr>
        <p:txBody>
          <a:bodyPr>
            <a:noAutofit/>
          </a:bodyPr>
          <a:lstStyle>
            <a:lvl1pPr marL="0" indent="0">
              <a:buNone/>
              <a:defRPr sz="1000" b="0"/>
            </a:lvl1pPr>
          </a:lstStyle>
          <a:p>
            <a:pPr lvl="0"/>
            <a:r>
              <a:rPr lang="en-US" dirty="0"/>
              <a:t>Source: [Insert source here]</a:t>
            </a:r>
          </a:p>
        </p:txBody>
      </p:sp>
    </p:spTree>
    <p:extLst>
      <p:ext uri="{BB962C8B-B14F-4D97-AF65-F5344CB8AC3E}">
        <p14:creationId xmlns:p14="http://schemas.microsoft.com/office/powerpoint/2010/main" val="30127691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xhibi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7DDDE0B7-5289-A1B9-A7AF-C98F7ADC38F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65129"/>
            <a:ext cx="10515600" cy="1325563"/>
          </a:xfrm>
        </p:spPr>
        <p:txBody>
          <a:bodyPr>
            <a:normAutofit/>
          </a:bodyPr>
          <a:lstStyle>
            <a:lvl1pPr marL="0" indent="0" algn="l" defTabSz="91421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i="0" kern="1200" spc="-50" baseline="0" dirty="0">
                <a:solidFill>
                  <a:schemeClr val="tx2"/>
                </a:solidFill>
                <a:latin typeface="Poppins" panose="00000500000000000000" pitchFamily="2" charset="0"/>
                <a:ea typeface="Open Sans Light" panose="020B0306030504020204" pitchFamily="34" charset="0"/>
                <a:cs typeface="Poppins Light" pitchFamily="2" charset="77"/>
              </a:defRPr>
            </a:lvl1pPr>
          </a:lstStyle>
          <a:p>
            <a:pPr lvl="0"/>
            <a:r>
              <a:rPr lang="en-US" dirty="0"/>
              <a:t>INSERT TITLE HERE</a:t>
            </a:r>
          </a:p>
        </p:txBody>
      </p:sp>
      <p:sp>
        <p:nvSpPr>
          <p:cNvPr id="4" name="Text Placeholder 52">
            <a:extLst>
              <a:ext uri="{FF2B5EF4-FFF2-40B4-BE49-F238E27FC236}">
                <a16:creationId xmlns:a16="http://schemas.microsoft.com/office/drawing/2014/main" id="{CE18D700-92C5-2CEE-6CC5-9F2087FE334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93305" y="1984375"/>
            <a:ext cx="4760495" cy="3582707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5" name="Content Placeholder 15">
            <a:extLst>
              <a:ext uri="{FF2B5EF4-FFF2-40B4-BE49-F238E27FC236}">
                <a16:creationId xmlns:a16="http://schemas.microsoft.com/office/drawing/2014/main" id="{FCA9014C-2A4A-991E-9BD6-2C07FAAB4F1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38116" y="2041525"/>
            <a:ext cx="4760495" cy="3533862"/>
          </a:xfrm>
          <a:prstGeom prst="round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SHAPE HERE</a:t>
            </a:r>
          </a:p>
        </p:txBody>
      </p:sp>
    </p:spTree>
    <p:extLst>
      <p:ext uri="{BB962C8B-B14F-4D97-AF65-F5344CB8AC3E}">
        <p14:creationId xmlns:p14="http://schemas.microsoft.com/office/powerpoint/2010/main" val="10167412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48843B8-CA4B-5A7B-9CE0-1C3C671C714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03576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5" imgH="405" progId="TCLayout.ActiveDocument.1">
                  <p:embed/>
                </p:oleObj>
              </mc:Choice>
              <mc:Fallback>
                <p:oleObj name="think-cell Slide" r:id="rId3" imgW="405" imgH="40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48843B8-CA4B-5A7B-9CE0-1C3C671C71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0E0F312D-95AE-4FBF-DF46-96F8F75DFED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72238" y="3063875"/>
            <a:ext cx="5368925" cy="696913"/>
          </a:xfrm>
        </p:spPr>
        <p:txBody>
          <a:bodyPr>
            <a:noAutofit/>
          </a:bodyPr>
          <a:lstStyle>
            <a:lvl1pPr marL="0" indent="0" algn="r">
              <a:buNone/>
              <a:defRPr sz="4000">
                <a:solidFill>
                  <a:srgbClr val="8A173E"/>
                </a:solidFill>
              </a:defRPr>
            </a:lvl1pPr>
          </a:lstStyle>
          <a:p>
            <a:pPr lvl="0"/>
            <a:r>
              <a:rPr lang="en-US" dirty="0" err="1"/>
              <a:t>Subheader</a:t>
            </a:r>
            <a:endParaRPr lang="en-US" dirty="0"/>
          </a:p>
        </p:txBody>
      </p:sp>
      <p:sp>
        <p:nvSpPr>
          <p:cNvPr id="24" name="Freeform 46">
            <a:extLst>
              <a:ext uri="{FF2B5EF4-FFF2-40B4-BE49-F238E27FC236}">
                <a16:creationId xmlns:a16="http://schemas.microsoft.com/office/drawing/2014/main" id="{147E0703-2013-BB34-A63A-7F88664B05B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331242" y="23822"/>
            <a:ext cx="4857582" cy="1408242"/>
          </a:xfrm>
          <a:custGeom>
            <a:avLst/>
            <a:gdLst>
              <a:gd name="T0" fmla="*/ 8887 w 8888"/>
              <a:gd name="T1" fmla="*/ 2558 h 2559"/>
              <a:gd name="T2" fmla="*/ 1115 w 8888"/>
              <a:gd name="T3" fmla="*/ 2558 h 2559"/>
              <a:gd name="T4" fmla="*/ 1115 w 8888"/>
              <a:gd name="T5" fmla="*/ 2558 h 2559"/>
              <a:gd name="T6" fmla="*/ 0 w 8888"/>
              <a:gd name="T7" fmla="*/ 1443 h 2559"/>
              <a:gd name="T8" fmla="*/ 0 w 8888"/>
              <a:gd name="T9" fmla="*/ 0 h 25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88" h="2559">
                <a:moveTo>
                  <a:pt x="8887" y="2558"/>
                </a:moveTo>
                <a:lnTo>
                  <a:pt x="1115" y="2558"/>
                </a:lnTo>
                <a:lnTo>
                  <a:pt x="1115" y="2558"/>
                </a:lnTo>
                <a:cubicBezTo>
                  <a:pt x="499" y="2558"/>
                  <a:pt x="0" y="2059"/>
                  <a:pt x="0" y="1443"/>
                </a:cubicBezTo>
                <a:lnTo>
                  <a:pt x="0" y="0"/>
                </a:lnTo>
              </a:path>
            </a:pathLst>
          </a:custGeom>
          <a:noFill/>
          <a:ln w="12700" cap="flat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25" name="Freeform 2">
            <a:extLst>
              <a:ext uri="{FF2B5EF4-FFF2-40B4-BE49-F238E27FC236}">
                <a16:creationId xmlns:a16="http://schemas.microsoft.com/office/drawing/2014/main" id="{1402B402-EDFF-D362-1ECB-99FDC3C35A9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0837" y="4738786"/>
            <a:ext cx="5401864" cy="2095392"/>
          </a:xfrm>
          <a:custGeom>
            <a:avLst/>
            <a:gdLst>
              <a:gd name="T0" fmla="*/ 8762 w 8763"/>
              <a:gd name="T1" fmla="*/ 3249 h 3250"/>
              <a:gd name="T2" fmla="*/ 8762 w 8763"/>
              <a:gd name="T3" fmla="*/ 926 h 3250"/>
              <a:gd name="T4" fmla="*/ 8762 w 8763"/>
              <a:gd name="T5" fmla="*/ 926 h 3250"/>
              <a:gd name="T6" fmla="*/ 7837 w 8763"/>
              <a:gd name="T7" fmla="*/ 0 h 3250"/>
              <a:gd name="T8" fmla="*/ 0 w 8763"/>
              <a:gd name="T9" fmla="*/ 0 h 3250"/>
              <a:gd name="T10" fmla="*/ 0 w 8763"/>
              <a:gd name="T11" fmla="*/ 3249 h 32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763" h="3250">
                <a:moveTo>
                  <a:pt x="8762" y="3249"/>
                </a:moveTo>
                <a:lnTo>
                  <a:pt x="8762" y="926"/>
                </a:lnTo>
                <a:lnTo>
                  <a:pt x="8762" y="926"/>
                </a:lnTo>
                <a:cubicBezTo>
                  <a:pt x="8762" y="415"/>
                  <a:pt x="8348" y="0"/>
                  <a:pt x="7837" y="0"/>
                </a:cubicBezTo>
                <a:lnTo>
                  <a:pt x="0" y="0"/>
                </a:lnTo>
                <a:lnTo>
                  <a:pt x="0" y="3249"/>
                </a:lnTo>
              </a:path>
            </a:pathLst>
          </a:custGeom>
          <a:noFill/>
          <a:ln w="12700" cap="flat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13" name="Freeform 20">
            <a:extLst>
              <a:ext uri="{FF2B5EF4-FFF2-40B4-BE49-F238E27FC236}">
                <a16:creationId xmlns:a16="http://schemas.microsoft.com/office/drawing/2014/main" id="{BE05D05C-8518-C54C-7811-621BD94BF16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" y="1432064"/>
            <a:ext cx="3183465" cy="2978241"/>
          </a:xfrm>
          <a:custGeom>
            <a:avLst/>
            <a:gdLst>
              <a:gd name="T0" fmla="*/ 2724 w 5611"/>
              <a:gd name="T1" fmla="*/ 3890 h 5771"/>
              <a:gd name="T2" fmla="*/ 2724 w 5611"/>
              <a:gd name="T3" fmla="*/ 3890 h 5771"/>
              <a:gd name="T4" fmla="*/ 1720 w 5611"/>
              <a:gd name="T5" fmla="*/ 2885 h 5771"/>
              <a:gd name="T6" fmla="*/ 1720 w 5611"/>
              <a:gd name="T7" fmla="*/ 2885 h 5771"/>
              <a:gd name="T8" fmla="*/ 2724 w 5611"/>
              <a:gd name="T9" fmla="*/ 1881 h 5771"/>
              <a:gd name="T10" fmla="*/ 2724 w 5611"/>
              <a:gd name="T11" fmla="*/ 1881 h 5771"/>
              <a:gd name="T12" fmla="*/ 3729 w 5611"/>
              <a:gd name="T13" fmla="*/ 2885 h 5771"/>
              <a:gd name="T14" fmla="*/ 3729 w 5611"/>
              <a:gd name="T15" fmla="*/ 2885 h 5771"/>
              <a:gd name="T16" fmla="*/ 2724 w 5611"/>
              <a:gd name="T17" fmla="*/ 3890 h 5771"/>
              <a:gd name="T18" fmla="*/ 2724 w 5611"/>
              <a:gd name="T19" fmla="*/ 0 h 5771"/>
              <a:gd name="T20" fmla="*/ 2724 w 5611"/>
              <a:gd name="T21" fmla="*/ 0 h 5771"/>
              <a:gd name="T22" fmla="*/ 0 w 5611"/>
              <a:gd name="T23" fmla="*/ 1934 h 5771"/>
              <a:gd name="T24" fmla="*/ 0 w 5611"/>
              <a:gd name="T25" fmla="*/ 3836 h 5771"/>
              <a:gd name="T26" fmla="*/ 0 w 5611"/>
              <a:gd name="T27" fmla="*/ 3836 h 5771"/>
              <a:gd name="T28" fmla="*/ 2724 w 5611"/>
              <a:gd name="T29" fmla="*/ 5770 h 5771"/>
              <a:gd name="T30" fmla="*/ 2724 w 5611"/>
              <a:gd name="T31" fmla="*/ 5770 h 5771"/>
              <a:gd name="T32" fmla="*/ 5610 w 5611"/>
              <a:gd name="T33" fmla="*/ 2885 h 5771"/>
              <a:gd name="T34" fmla="*/ 5610 w 5611"/>
              <a:gd name="T35" fmla="*/ 2885 h 5771"/>
              <a:gd name="T36" fmla="*/ 2724 w 5611"/>
              <a:gd name="T37" fmla="*/ 0 h 57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5611" h="5771">
                <a:moveTo>
                  <a:pt x="2724" y="3890"/>
                </a:moveTo>
                <a:lnTo>
                  <a:pt x="2724" y="3890"/>
                </a:lnTo>
                <a:cubicBezTo>
                  <a:pt x="2170" y="3890"/>
                  <a:pt x="1720" y="3441"/>
                  <a:pt x="1720" y="2885"/>
                </a:cubicBezTo>
                <a:lnTo>
                  <a:pt x="1720" y="2885"/>
                </a:lnTo>
                <a:cubicBezTo>
                  <a:pt x="1720" y="2331"/>
                  <a:pt x="2170" y="1881"/>
                  <a:pt x="2724" y="1881"/>
                </a:cubicBezTo>
                <a:lnTo>
                  <a:pt x="2724" y="1881"/>
                </a:lnTo>
                <a:cubicBezTo>
                  <a:pt x="3280" y="1881"/>
                  <a:pt x="3729" y="2331"/>
                  <a:pt x="3729" y="2885"/>
                </a:cubicBezTo>
                <a:lnTo>
                  <a:pt x="3729" y="2885"/>
                </a:lnTo>
                <a:cubicBezTo>
                  <a:pt x="3729" y="3441"/>
                  <a:pt x="3280" y="3890"/>
                  <a:pt x="2724" y="3890"/>
                </a:cubicBezTo>
                <a:close/>
                <a:moveTo>
                  <a:pt x="2724" y="0"/>
                </a:moveTo>
                <a:lnTo>
                  <a:pt x="2724" y="0"/>
                </a:lnTo>
                <a:cubicBezTo>
                  <a:pt x="1465" y="0"/>
                  <a:pt x="393" y="809"/>
                  <a:pt x="0" y="1934"/>
                </a:cubicBezTo>
                <a:lnTo>
                  <a:pt x="0" y="3836"/>
                </a:lnTo>
                <a:lnTo>
                  <a:pt x="0" y="3836"/>
                </a:lnTo>
                <a:cubicBezTo>
                  <a:pt x="393" y="4962"/>
                  <a:pt x="1465" y="5770"/>
                  <a:pt x="2724" y="5770"/>
                </a:cubicBezTo>
                <a:lnTo>
                  <a:pt x="2724" y="5770"/>
                </a:lnTo>
                <a:cubicBezTo>
                  <a:pt x="4318" y="5770"/>
                  <a:pt x="5610" y="4478"/>
                  <a:pt x="5610" y="2885"/>
                </a:cubicBezTo>
                <a:lnTo>
                  <a:pt x="5610" y="2885"/>
                </a:lnTo>
                <a:cubicBezTo>
                  <a:pt x="5610" y="1292"/>
                  <a:pt x="4318" y="0"/>
                  <a:pt x="272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15" name="Picture Placeholder 5">
            <a:extLst>
              <a:ext uri="{FF2B5EF4-FFF2-40B4-BE49-F238E27FC236}">
                <a16:creationId xmlns:a16="http://schemas.microsoft.com/office/drawing/2014/main" id="{9DCCFE8E-39C4-03E8-AE7C-FEF0B92774D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36434" y="2909508"/>
            <a:ext cx="3500789" cy="3302926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66C26B54-35CB-DC58-5F0C-3B2D713401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80238" y="1587500"/>
            <a:ext cx="4860925" cy="1011238"/>
          </a:xfrm>
        </p:spPr>
        <p:txBody>
          <a:bodyPr/>
          <a:lstStyle>
            <a:lvl1pPr>
              <a:defRPr b="1">
                <a:latin typeface="Montserrat SemiBold" panose="00000700000000000000" pitchFamily="2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0" b="0" i="0" u="none" strike="noStrike" kern="1200" cap="none" spc="-600" normalizeH="0" baseline="0" noProof="0" dirty="0">
                <a:ln>
                  <a:noFill/>
                </a:ln>
                <a:solidFill>
                  <a:srgbClr val="11134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Header</a:t>
            </a:r>
          </a:p>
          <a:p>
            <a:pPr lvl="4"/>
            <a:endParaRPr lang="en-US" dirty="0"/>
          </a:p>
        </p:txBody>
      </p:sp>
      <p:sp>
        <p:nvSpPr>
          <p:cNvPr id="30" name="Text Placeholder 26">
            <a:extLst>
              <a:ext uri="{FF2B5EF4-FFF2-40B4-BE49-F238E27FC236}">
                <a16:creationId xmlns:a16="http://schemas.microsoft.com/office/drawing/2014/main" id="{AACC8D14-0884-63B7-CF16-383E62C6D68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80238" y="3990320"/>
            <a:ext cx="4860925" cy="1011238"/>
          </a:xfrm>
        </p:spPr>
        <p:txBody>
          <a:bodyPr/>
          <a:lstStyle>
            <a:lvl1pPr>
              <a:defRPr sz="2400" b="1"/>
            </a:lvl1pPr>
            <a:lvl5pPr marL="1828434" indent="0" algn="r">
              <a:buNone/>
              <a:defRPr sz="2400">
                <a:solidFill>
                  <a:srgbClr val="000000"/>
                </a:solidFill>
              </a:defRPr>
            </a:lvl5pPr>
          </a:lstStyle>
          <a:p>
            <a:pPr lvl="4"/>
            <a:r>
              <a:rPr lang="en-US" dirty="0"/>
              <a:t>Attributions</a:t>
            </a:r>
          </a:p>
        </p:txBody>
      </p:sp>
    </p:spTree>
    <p:extLst>
      <p:ext uri="{BB962C8B-B14F-4D97-AF65-F5344CB8AC3E}">
        <p14:creationId xmlns:p14="http://schemas.microsoft.com/office/powerpoint/2010/main" val="11258527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48843B8-CA4B-5A7B-9CE0-1C3C671C714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03576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5" imgH="405" progId="TCLayout.ActiveDocument.1">
                  <p:embed/>
                </p:oleObj>
              </mc:Choice>
              <mc:Fallback>
                <p:oleObj name="think-cell Slide" r:id="rId3" imgW="405" imgH="40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48843B8-CA4B-5A7B-9CE0-1C3C671C71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0E0F312D-95AE-4FBF-DF46-96F8F75DFED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72238" y="3063875"/>
            <a:ext cx="5368925" cy="696913"/>
          </a:xfrm>
        </p:spPr>
        <p:txBody>
          <a:bodyPr>
            <a:noAutofit/>
          </a:bodyPr>
          <a:lstStyle>
            <a:lvl1pPr marL="0" indent="0" algn="r">
              <a:buNone/>
              <a:defRPr sz="4000">
                <a:solidFill>
                  <a:srgbClr val="8A173E"/>
                </a:solidFill>
              </a:defRPr>
            </a:lvl1pPr>
          </a:lstStyle>
          <a:p>
            <a:pPr lvl="0"/>
            <a:r>
              <a:rPr lang="en-US" dirty="0" err="1"/>
              <a:t>Subheader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66C26B54-35CB-DC58-5F0C-3B2D713401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80238" y="1587500"/>
            <a:ext cx="4860925" cy="1011238"/>
          </a:xfrm>
        </p:spPr>
        <p:txBody>
          <a:bodyPr/>
          <a:lstStyle>
            <a:lvl1pPr>
              <a:defRPr b="1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0" b="0" i="0" u="none" strike="noStrike" kern="1200" cap="none" spc="-600" normalizeH="0" baseline="0" noProof="0" dirty="0">
                <a:ln>
                  <a:noFill/>
                </a:ln>
                <a:solidFill>
                  <a:srgbClr val="11134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Header</a:t>
            </a:r>
          </a:p>
          <a:p>
            <a:pPr lvl="4"/>
            <a:endParaRPr lang="en-US" dirty="0"/>
          </a:p>
        </p:txBody>
      </p:sp>
      <p:sp>
        <p:nvSpPr>
          <p:cNvPr id="30" name="Text Placeholder 26">
            <a:extLst>
              <a:ext uri="{FF2B5EF4-FFF2-40B4-BE49-F238E27FC236}">
                <a16:creationId xmlns:a16="http://schemas.microsoft.com/office/drawing/2014/main" id="{AACC8D14-0884-63B7-CF16-383E62C6D68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80238" y="3990320"/>
            <a:ext cx="4860925" cy="1011238"/>
          </a:xfrm>
        </p:spPr>
        <p:txBody>
          <a:bodyPr/>
          <a:lstStyle>
            <a:lvl1pPr>
              <a:defRPr sz="2400" b="1"/>
            </a:lvl1pPr>
            <a:lvl5pPr marL="1828434" indent="0" algn="r">
              <a:buNone/>
              <a:defRPr sz="2400">
                <a:solidFill>
                  <a:srgbClr val="000000"/>
                </a:solidFill>
              </a:defRPr>
            </a:lvl5pPr>
          </a:lstStyle>
          <a:p>
            <a:pPr lvl="4"/>
            <a:r>
              <a:rPr lang="en-US" dirty="0"/>
              <a:t>Attributions</a:t>
            </a:r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707DEAE5-9C0B-F2D7-2FDB-C091B1D4300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219200" y="4738786"/>
            <a:ext cx="4533501" cy="2095392"/>
          </a:xfrm>
          <a:custGeom>
            <a:avLst/>
            <a:gdLst>
              <a:gd name="T0" fmla="*/ 8762 w 8763"/>
              <a:gd name="T1" fmla="*/ 3249 h 3250"/>
              <a:gd name="T2" fmla="*/ 8762 w 8763"/>
              <a:gd name="T3" fmla="*/ 926 h 3250"/>
              <a:gd name="T4" fmla="*/ 8762 w 8763"/>
              <a:gd name="T5" fmla="*/ 926 h 3250"/>
              <a:gd name="T6" fmla="*/ 7837 w 8763"/>
              <a:gd name="T7" fmla="*/ 0 h 3250"/>
              <a:gd name="T8" fmla="*/ 0 w 8763"/>
              <a:gd name="T9" fmla="*/ 0 h 3250"/>
              <a:gd name="T10" fmla="*/ 0 w 8763"/>
              <a:gd name="T11" fmla="*/ 3249 h 32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763" h="3250">
                <a:moveTo>
                  <a:pt x="8762" y="3249"/>
                </a:moveTo>
                <a:lnTo>
                  <a:pt x="8762" y="926"/>
                </a:lnTo>
                <a:lnTo>
                  <a:pt x="8762" y="926"/>
                </a:lnTo>
                <a:cubicBezTo>
                  <a:pt x="8762" y="415"/>
                  <a:pt x="8348" y="0"/>
                  <a:pt x="7837" y="0"/>
                </a:cubicBezTo>
                <a:lnTo>
                  <a:pt x="0" y="0"/>
                </a:lnTo>
                <a:lnTo>
                  <a:pt x="0" y="3249"/>
                </a:lnTo>
              </a:path>
            </a:pathLst>
          </a:custGeom>
          <a:noFill/>
          <a:ln w="12700" cap="flat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AE06A49A-60BC-E3E8-89D4-95EE658E151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36434" y="2909508"/>
            <a:ext cx="3500789" cy="3302926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7719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48843B8-CA4B-5A7B-9CE0-1C3C671C714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03576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5" imgH="405" progId="TCLayout.ActiveDocument.1">
                  <p:embed/>
                </p:oleObj>
              </mc:Choice>
              <mc:Fallback>
                <p:oleObj name="think-cell Slide" r:id="rId3" imgW="405" imgH="40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48843B8-CA4B-5A7B-9CE0-1C3C671C71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0E0F312D-95AE-4FBF-DF46-96F8F75DFED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72238" y="3063875"/>
            <a:ext cx="5368925" cy="696913"/>
          </a:xfrm>
        </p:spPr>
        <p:txBody>
          <a:bodyPr>
            <a:noAutofit/>
          </a:bodyPr>
          <a:lstStyle>
            <a:lvl1pPr marL="0" indent="0" algn="r">
              <a:buNone/>
              <a:defRPr sz="4000">
                <a:solidFill>
                  <a:srgbClr val="8A173E"/>
                </a:solidFill>
              </a:defRPr>
            </a:lvl1pPr>
          </a:lstStyle>
          <a:p>
            <a:pPr lvl="0"/>
            <a:r>
              <a:rPr lang="en-US" dirty="0" err="1"/>
              <a:t>Subheader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66C26B54-35CB-DC58-5F0C-3B2D713401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80238" y="1587500"/>
            <a:ext cx="4860925" cy="1011238"/>
          </a:xfrm>
        </p:spPr>
        <p:txBody>
          <a:bodyPr/>
          <a:lstStyle>
            <a:lvl1pPr>
              <a:defRPr b="1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0" b="0" i="0" u="none" strike="noStrike" kern="1200" cap="none" spc="-600" normalizeH="0" baseline="0" noProof="0" dirty="0">
                <a:ln>
                  <a:noFill/>
                </a:ln>
                <a:solidFill>
                  <a:srgbClr val="11134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Header</a:t>
            </a:r>
          </a:p>
          <a:p>
            <a:pPr lvl="4"/>
            <a:endParaRPr lang="en-US" dirty="0"/>
          </a:p>
        </p:txBody>
      </p:sp>
      <p:sp>
        <p:nvSpPr>
          <p:cNvPr id="30" name="Text Placeholder 26">
            <a:extLst>
              <a:ext uri="{FF2B5EF4-FFF2-40B4-BE49-F238E27FC236}">
                <a16:creationId xmlns:a16="http://schemas.microsoft.com/office/drawing/2014/main" id="{AACC8D14-0884-63B7-CF16-383E62C6D68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80238" y="3990320"/>
            <a:ext cx="4860925" cy="1011238"/>
          </a:xfrm>
        </p:spPr>
        <p:txBody>
          <a:bodyPr/>
          <a:lstStyle>
            <a:lvl1pPr>
              <a:defRPr sz="2400" b="1"/>
            </a:lvl1pPr>
            <a:lvl5pPr marL="1828434" indent="0" algn="r">
              <a:buNone/>
              <a:defRPr sz="2400">
                <a:solidFill>
                  <a:srgbClr val="000000"/>
                </a:solidFill>
              </a:defRPr>
            </a:lvl5pPr>
          </a:lstStyle>
          <a:p>
            <a:pPr lvl="4"/>
            <a:r>
              <a:rPr lang="en-US" dirty="0"/>
              <a:t>Attributions</a:t>
            </a:r>
          </a:p>
        </p:txBody>
      </p:sp>
    </p:spTree>
    <p:extLst>
      <p:ext uri="{BB962C8B-B14F-4D97-AF65-F5344CB8AC3E}">
        <p14:creationId xmlns:p14="http://schemas.microsoft.com/office/powerpoint/2010/main" val="2033228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ox and Bullets Horizontal #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E7F3B943-02A8-2152-A6D0-BA389B08925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395856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5" imgH="405" progId="TCLayout.ActiveDocument.1">
                  <p:embed/>
                </p:oleObj>
              </mc:Choice>
              <mc:Fallback>
                <p:oleObj name="think-cell Slide" r:id="rId3" imgW="405" imgH="40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7F3B943-02A8-2152-A6D0-BA389B0892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91C349B-3F5D-6EDB-0CD6-478281261A7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65129"/>
            <a:ext cx="10515600" cy="1325563"/>
          </a:xfrm>
        </p:spPr>
        <p:txBody>
          <a:bodyPr>
            <a:normAutofit/>
          </a:bodyPr>
          <a:lstStyle>
            <a:lvl1pPr marL="0" indent="0" algn="l" defTabSz="91421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i="0" kern="1200" spc="-50" baseline="0" dirty="0">
                <a:solidFill>
                  <a:schemeClr val="tx2"/>
                </a:solidFill>
                <a:latin typeface="Poppins" panose="00000500000000000000" pitchFamily="2" charset="0"/>
                <a:ea typeface="Open Sans Light" panose="020B0306030504020204" pitchFamily="34" charset="0"/>
                <a:cs typeface="Poppins Light" pitchFamily="2" charset="77"/>
              </a:defRPr>
            </a:lvl1pPr>
          </a:lstStyle>
          <a:p>
            <a:pPr lvl="0"/>
            <a:r>
              <a:rPr lang="en-US" dirty="0"/>
              <a:t>INSERT TITLE HERE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4A734BB0-1D03-9E4B-592E-97C996F16A4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38117" y="2041525"/>
            <a:ext cx="2514600" cy="1648159"/>
          </a:xfrm>
          <a:prstGeom prst="round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SHAPE HERE</a:t>
            </a:r>
          </a:p>
        </p:txBody>
      </p:sp>
      <p:sp>
        <p:nvSpPr>
          <p:cNvPr id="50" name="Content Placeholder 15">
            <a:extLst>
              <a:ext uri="{FF2B5EF4-FFF2-40B4-BE49-F238E27FC236}">
                <a16:creationId xmlns:a16="http://schemas.microsoft.com/office/drawing/2014/main" id="{31C36008-EEEF-126E-DBF8-9082F55A1A3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505145" y="2041525"/>
            <a:ext cx="2514600" cy="1648159"/>
          </a:xfrm>
          <a:prstGeom prst="round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SHAPE HERE</a:t>
            </a:r>
          </a:p>
        </p:txBody>
      </p:sp>
      <p:sp>
        <p:nvSpPr>
          <p:cNvPr id="51" name="Content Placeholder 15">
            <a:extLst>
              <a:ext uri="{FF2B5EF4-FFF2-40B4-BE49-F238E27FC236}">
                <a16:creationId xmlns:a16="http://schemas.microsoft.com/office/drawing/2014/main" id="{97BFA647-9651-A464-27D7-197B920FA3D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72173" y="2041525"/>
            <a:ext cx="2514600" cy="1648159"/>
          </a:xfrm>
          <a:prstGeom prst="round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SHAPE HERE</a:t>
            </a:r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C16F5CB1-D758-F260-F87A-377CFC43F4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111" y="4122738"/>
            <a:ext cx="2514601" cy="1444625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54" name="Text Placeholder 52">
            <a:extLst>
              <a:ext uri="{FF2B5EF4-FFF2-40B4-BE49-F238E27FC236}">
                <a16:creationId xmlns:a16="http://schemas.microsoft.com/office/drawing/2014/main" id="{D785FA74-20FC-1CF1-5D87-FC02F387462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05141" y="4122738"/>
            <a:ext cx="2514601" cy="1444625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" name="Content Placeholder 15">
            <a:extLst>
              <a:ext uri="{FF2B5EF4-FFF2-40B4-BE49-F238E27FC236}">
                <a16:creationId xmlns:a16="http://schemas.microsoft.com/office/drawing/2014/main" id="{3DB396A6-8D7D-398B-9268-99863F31DDE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839200" y="2041525"/>
            <a:ext cx="2514600" cy="1648159"/>
          </a:xfrm>
          <a:prstGeom prst="round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SHAPE HERE</a:t>
            </a:r>
          </a:p>
        </p:txBody>
      </p:sp>
      <p:sp>
        <p:nvSpPr>
          <p:cNvPr id="3" name="Text Placeholder 52">
            <a:extLst>
              <a:ext uri="{FF2B5EF4-FFF2-40B4-BE49-F238E27FC236}">
                <a16:creationId xmlns:a16="http://schemas.microsoft.com/office/drawing/2014/main" id="{CF64B3A0-7889-B34F-6568-8E9E9944AAC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72170" y="4122738"/>
            <a:ext cx="2514601" cy="1444625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4" name="Text Placeholder 52">
            <a:extLst>
              <a:ext uri="{FF2B5EF4-FFF2-40B4-BE49-F238E27FC236}">
                <a16:creationId xmlns:a16="http://schemas.microsoft.com/office/drawing/2014/main" id="{29A3ABFA-9B0F-A696-993E-BB99E50BD69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839200" y="4122738"/>
            <a:ext cx="2514600" cy="1444625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6454377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ags" Target="../tags/tag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2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hink-cell data - do not delete" hidden="1">
            <a:extLst>
              <a:ext uri="{FF2B5EF4-FFF2-40B4-BE49-F238E27FC236}">
                <a16:creationId xmlns:a16="http://schemas.microsoft.com/office/drawing/2014/main" id="{7BB13F2A-1880-D95B-67E6-1350245A4512}"/>
              </a:ext>
            </a:extLst>
          </p:cNvPr>
          <p:cNvGraphicFramePr>
            <a:graphicFrameLocks/>
          </p:cNvGraphicFramePr>
          <p:nvPr>
            <p:custDataLst>
              <p:tags r:id="rId12"/>
            </p:custDataLst>
            <p:extLst>
              <p:ext uri="{D42A27DB-BD31-4B8C-83A1-F6EECF244321}">
                <p14:modId xmlns:p14="http://schemas.microsoft.com/office/powerpoint/2010/main" val="22846303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405" imgH="405" progId="TCLayout.ActiveDocument.1">
                  <p:embed/>
                </p:oleObj>
              </mc:Choice>
              <mc:Fallback>
                <p:oleObj name="think-cell Slide" r:id="rId14" imgW="405" imgH="405" progId="TCLayout.ActiveDocument.1">
                  <p:embed/>
                  <p:pic>
                    <p:nvPicPr>
                      <p:cNvPr id="1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BB13F2A-1880-D95B-67E6-1350245A451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9"/>
            <a:ext cx="10515600" cy="1325563"/>
          </a:xfrm>
          <a:prstGeom prst="rect">
            <a:avLst/>
          </a:prstGeom>
        </p:spPr>
        <p:txBody>
          <a:bodyPr vert="horz" lIns="182843" tIns="91422" rIns="182843" bIns="91422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182843" tIns="91422" rIns="182843" bIns="91422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A42844D6-6127-E815-A5ED-22BA9919A20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22846303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6" imgW="405" imgH="405" progId="TCLayout.ActiveDocument.1">
                  <p:embed/>
                </p:oleObj>
              </mc:Choice>
              <mc:Fallback>
                <p:oleObj name="think-cell Slide" r:id="rId16" imgW="405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42844D6-6127-E815-A5ED-22BA9919A2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26" name="Picture 2" descr="Annenberg School for Communication Library | Penn Libraries">
            <a:extLst>
              <a:ext uri="{FF2B5EF4-FFF2-40B4-BE49-F238E27FC236}">
                <a16:creationId xmlns:a16="http://schemas.microsoft.com/office/drawing/2014/main" id="{1090DE08-E03A-02B5-79FB-3F4C1C60495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1" y="6248571"/>
            <a:ext cx="1984159" cy="48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Wharton School - Wikipedia">
            <a:extLst>
              <a:ext uri="{FF2B5EF4-FFF2-40B4-BE49-F238E27FC236}">
                <a16:creationId xmlns:a16="http://schemas.microsoft.com/office/drawing/2014/main" id="{1DB69777-84C2-961F-C03B-F3D3D64253B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3637" y="6242088"/>
            <a:ext cx="2066364" cy="538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5633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5" r:id="rId4"/>
    <p:sldLayoutId id="2147483746" r:id="rId5"/>
    <p:sldLayoutId id="2147483748" r:id="rId6"/>
    <p:sldLayoutId id="2147483677" r:id="rId7"/>
    <p:sldLayoutId id="2147483678" r:id="rId8"/>
    <p:sldLayoutId id="2147483679" r:id="rId9"/>
    <p:sldLayoutId id="2147483680" r:id="rId10"/>
  </p:sldLayoutIdLst>
  <p:hf hdr="0" ftr="0" dt="0"/>
  <p:txStyles>
    <p:titleStyle>
      <a:lvl1pPr algn="ctr" defTabSz="914217" rtl="0" eaLnBrk="1" latinLnBrk="0" hangingPunct="1">
        <a:lnSpc>
          <a:spcPct val="90000"/>
        </a:lnSpc>
        <a:spcBef>
          <a:spcPct val="0"/>
        </a:spcBef>
        <a:buNone/>
        <a:defRPr lang="en-US" sz="4000" b="1" i="0" kern="1200" spc="-50" baseline="0">
          <a:solidFill>
            <a:schemeClr val="tx2"/>
          </a:solidFill>
          <a:latin typeface="Poppins" panose="00000500000000000000" pitchFamily="2" charset="0"/>
          <a:ea typeface="Open Sans Light" panose="020B0306030504020204" pitchFamily="34" charset="0"/>
          <a:cs typeface="Poppins Light" pitchFamily="2" charset="77"/>
        </a:defRPr>
      </a:lvl1pPr>
    </p:titleStyle>
    <p:bodyStyle>
      <a:lvl1pPr marL="228555" indent="-228555" algn="l" defTabSz="91421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2200" b="0" i="0" kern="1200" spc="-15" baseline="0" dirty="0" smtClean="0">
          <a:solidFill>
            <a:schemeClr val="tx1"/>
          </a:solidFill>
          <a:effectLst/>
          <a:latin typeface="Poppins" panose="00000500000000000000" pitchFamily="2" charset="0"/>
          <a:ea typeface="Open Sans Light" panose="020B0306030504020204" pitchFamily="34" charset="0"/>
          <a:cs typeface="Open Sans" charset="0"/>
        </a:defRPr>
      </a:lvl1pPr>
      <a:lvl2pPr marL="685663" indent="-228555" algn="l" defTabSz="914217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lang="en-US" sz="1800" b="0" i="0" kern="1200" spc="-15" baseline="0" dirty="0" smtClean="0">
          <a:solidFill>
            <a:schemeClr val="tx1"/>
          </a:solidFill>
          <a:effectLst/>
          <a:latin typeface="Poppins" panose="00000500000000000000" pitchFamily="2" charset="0"/>
          <a:ea typeface="Open Sans Light" panose="020B0306030504020204" pitchFamily="34" charset="0"/>
          <a:cs typeface="Open Sans" charset="0"/>
        </a:defRPr>
      </a:lvl2pPr>
      <a:lvl3pPr marL="1142772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600" b="0" i="0" kern="1200" spc="-15" baseline="0" dirty="0" smtClean="0">
          <a:solidFill>
            <a:schemeClr val="tx1"/>
          </a:solidFill>
          <a:effectLst/>
          <a:latin typeface="Poppins" panose="00000500000000000000" pitchFamily="2" charset="0"/>
          <a:ea typeface="Open Sans Light" panose="020B0306030504020204" pitchFamily="34" charset="0"/>
          <a:cs typeface="Open Sans" charset="0"/>
        </a:defRPr>
      </a:lvl3pPr>
      <a:lvl4pPr marL="1599880" indent="-228555" algn="l" defTabSz="914217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lang="en-US" sz="1400" b="0" i="0" kern="1200" spc="-15" baseline="0" dirty="0" smtClean="0">
          <a:solidFill>
            <a:schemeClr val="tx1"/>
          </a:solidFill>
          <a:effectLst/>
          <a:latin typeface="Poppins" panose="00000500000000000000" pitchFamily="2" charset="0"/>
          <a:ea typeface="Open Sans Light" panose="020B0306030504020204" pitchFamily="34" charset="0"/>
          <a:cs typeface="Open Sans" charset="0"/>
        </a:defRPr>
      </a:lvl4pPr>
      <a:lvl5pPr marL="2056989" indent="-228555" algn="l" defTabSz="914217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q"/>
        <a:defRPr lang="en-US" sz="1400" b="0" i="0" kern="1200" spc="-15" baseline="0" dirty="0">
          <a:solidFill>
            <a:schemeClr val="tx1"/>
          </a:solidFill>
          <a:effectLst/>
          <a:latin typeface="Poppins" panose="00000500000000000000" pitchFamily="2" charset="0"/>
          <a:ea typeface="Open Sans Light" panose="020B0306030504020204" pitchFamily="34" charset="0"/>
          <a:cs typeface="Open Sans" charset="0"/>
        </a:defRPr>
      </a:lvl5pPr>
      <a:lvl6pPr marL="2514097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206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14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423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17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6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34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43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52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6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01_EB89635D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microsoft.com/office/2007/relationships/hdphoto" Target="../media/hdphoto2.wdp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microsoft.com/office/2007/relationships/hdphoto" Target="../media/hdphoto2.wdp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microsoft.com/office/2007/relationships/hdphoto" Target="../media/hdphoto2.wdp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microsoft.com/office/2007/relationships/hdphoto" Target="../media/hdphoto2.wdp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19_3299B5EE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microsoft.com/office/2007/relationships/hdphoto" Target="../media/hdphoto2.wdp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microsoft.com/office/2007/relationships/hdphoto" Target="../media/hdphoto2.wdp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microsoft.com/office/2007/relationships/hdphoto" Target="../media/hdphoto2.wdp"/><Relationship Id="rId2" Type="http://schemas.microsoft.com/office/2018/10/relationships/comments" Target="../comments/modernComment_1015_2FB58AFF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67">
            <a:extLst>
              <a:ext uri="{FF2B5EF4-FFF2-40B4-BE49-F238E27FC236}">
                <a16:creationId xmlns:a16="http://schemas.microsoft.com/office/drawing/2014/main" id="{9D9B14C4-7F39-59C1-34E9-EFE29E7A462F}"/>
              </a:ext>
            </a:extLst>
          </p:cNvPr>
          <p:cNvSpPr txBox="1"/>
          <p:nvPr/>
        </p:nvSpPr>
        <p:spPr>
          <a:xfrm>
            <a:off x="813123" y="781884"/>
            <a:ext cx="11769402" cy="707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 algn="ctr">
              <a:lnSpc>
                <a:spcPts val="9400"/>
              </a:lnSpc>
              <a:defRPr sz="8000" b="1" spc="-290">
                <a:solidFill>
                  <a:schemeClr val="tx2"/>
                </a:solidFill>
                <a:latin typeface="Raleway" panose="020B0503030101060003" pitchFamily="34" charset="77"/>
              </a:defRPr>
            </a:lvl1pPr>
          </a:lstStyle>
          <a:p>
            <a:pPr algn="l" defTabSz="914217">
              <a:lnSpc>
                <a:spcPct val="100000"/>
              </a:lnSpc>
            </a:pPr>
            <a:r>
              <a:rPr lang="en-US" sz="4000" spc="-30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Issues or traits?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6514F7-8404-F570-70FB-FB5D0FF45AA7}"/>
              </a:ext>
            </a:extLst>
          </p:cNvPr>
          <p:cNvSpPr txBox="1"/>
          <p:nvPr/>
        </p:nvSpPr>
        <p:spPr>
          <a:xfrm>
            <a:off x="1809751" y="4526756"/>
            <a:ext cx="9734550" cy="707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 algn="ctr">
              <a:lnSpc>
                <a:spcPts val="9400"/>
              </a:lnSpc>
              <a:defRPr sz="8000" b="1" spc="-290">
                <a:solidFill>
                  <a:schemeClr val="tx2"/>
                </a:solidFill>
                <a:latin typeface="Raleway" panose="020B0503030101060003" pitchFamily="34" charset="77"/>
              </a:defRPr>
            </a:lvl1pPr>
          </a:lstStyle>
          <a:p>
            <a:pPr algn="r" defTabSz="914217">
              <a:lnSpc>
                <a:spcPct val="100000"/>
              </a:lnSpc>
            </a:pPr>
            <a:r>
              <a:rPr lang="en-US" sz="4000" b="0" spc="-30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David Wei Wang,  Rehan Mirza, Ying Zhang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B4229AD-DDAB-6A09-9177-9662E6225DB5}"/>
              </a:ext>
            </a:extLst>
          </p:cNvPr>
          <p:cNvSpPr txBox="1"/>
          <p:nvPr/>
        </p:nvSpPr>
        <p:spPr>
          <a:xfrm>
            <a:off x="7038975" y="3614084"/>
            <a:ext cx="4505325" cy="707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 algn="ctr">
              <a:lnSpc>
                <a:spcPts val="9400"/>
              </a:lnSpc>
              <a:defRPr sz="8000" b="1" spc="-290">
                <a:solidFill>
                  <a:schemeClr val="tx2"/>
                </a:solidFill>
                <a:latin typeface="Raleway" panose="020B0503030101060003" pitchFamily="34" charset="77"/>
              </a:defRPr>
            </a:lvl1pPr>
          </a:lstStyle>
          <a:p>
            <a:pPr algn="r" defTabSz="914217">
              <a:lnSpc>
                <a:spcPct val="100000"/>
              </a:lnSpc>
            </a:pPr>
            <a:r>
              <a:rPr lang="en-US" sz="4000" b="0" spc="-30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01 May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B1E3CE-D015-9B7F-B133-61DE946333C1}"/>
              </a:ext>
            </a:extLst>
          </p:cNvPr>
          <p:cNvSpPr txBox="1"/>
          <p:nvPr/>
        </p:nvSpPr>
        <p:spPr>
          <a:xfrm>
            <a:off x="813123" y="1669524"/>
            <a:ext cx="10940727" cy="132343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 algn="ctr">
              <a:lnSpc>
                <a:spcPts val="9400"/>
              </a:lnSpc>
              <a:defRPr sz="8000" b="1" spc="-290">
                <a:solidFill>
                  <a:schemeClr val="tx2"/>
                </a:solidFill>
                <a:latin typeface="Raleway" panose="020B0503030101060003" pitchFamily="34" charset="77"/>
              </a:defRPr>
            </a:lvl1pPr>
          </a:lstStyle>
          <a:p>
            <a:pPr algn="l" defTabSz="914217">
              <a:lnSpc>
                <a:spcPct val="100000"/>
              </a:lnSpc>
            </a:pPr>
            <a:r>
              <a:rPr lang="en-US" sz="4000" b="0" spc="-30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Understanding Americans partisan favorability and animosity through open-ended questions</a:t>
            </a:r>
          </a:p>
        </p:txBody>
      </p:sp>
    </p:spTree>
    <p:extLst>
      <p:ext uri="{BB962C8B-B14F-4D97-AF65-F5344CB8AC3E}">
        <p14:creationId xmlns:p14="http://schemas.microsoft.com/office/powerpoint/2010/main" val="395164962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B228F-542E-204C-E641-4CC4934AD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D0FB0FF3-65A7-74D7-3DC4-EBB7E60D59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71525" y="365129"/>
            <a:ext cx="10515600" cy="720721"/>
          </a:xfrm>
        </p:spPr>
        <p:txBody>
          <a:bodyPr>
            <a:noAutofit/>
          </a:bodyPr>
          <a:lstStyle/>
          <a:p>
            <a:r>
              <a:rPr lang="en-US" sz="2800" dirty="0"/>
              <a:t>Agenda</a:t>
            </a:r>
          </a:p>
        </p:txBody>
      </p:sp>
      <p:sp>
        <p:nvSpPr>
          <p:cNvPr id="3" name="Freeform 64">
            <a:extLst>
              <a:ext uri="{FF2B5EF4-FFF2-40B4-BE49-F238E27FC236}">
                <a16:creationId xmlns:a16="http://schemas.microsoft.com/office/drawing/2014/main" id="{DFE58D03-A3B9-2A45-1182-5822352BBD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154" y="1214606"/>
            <a:ext cx="915745" cy="865318"/>
          </a:xfrm>
          <a:custGeom>
            <a:avLst/>
            <a:gdLst>
              <a:gd name="T0" fmla="*/ 651639 w 2003"/>
              <a:gd name="T1" fmla="*/ 477662 h 1892"/>
              <a:gd name="T2" fmla="*/ 651639 w 2003"/>
              <a:gd name="T3" fmla="*/ 477662 h 1892"/>
              <a:gd name="T4" fmla="*/ 680425 w 2003"/>
              <a:gd name="T5" fmla="*/ 340519 h 1892"/>
              <a:gd name="T6" fmla="*/ 680425 w 2003"/>
              <a:gd name="T7" fmla="*/ 340519 h 1892"/>
              <a:gd name="T8" fmla="*/ 340392 w 2003"/>
              <a:gd name="T9" fmla="*/ 0 h 1892"/>
              <a:gd name="T10" fmla="*/ 340392 w 2003"/>
              <a:gd name="T11" fmla="*/ 0 h 1892"/>
              <a:gd name="T12" fmla="*/ 0 w 2003"/>
              <a:gd name="T13" fmla="*/ 340519 h 1892"/>
              <a:gd name="T14" fmla="*/ 0 w 2003"/>
              <a:gd name="T15" fmla="*/ 340519 h 1892"/>
              <a:gd name="T16" fmla="*/ 340392 w 2003"/>
              <a:gd name="T17" fmla="*/ 680677 h 1892"/>
              <a:gd name="T18" fmla="*/ 340392 w 2003"/>
              <a:gd name="T19" fmla="*/ 680677 h 1892"/>
              <a:gd name="T20" fmla="*/ 562763 w 2003"/>
              <a:gd name="T21" fmla="*/ 597527 h 1892"/>
              <a:gd name="T22" fmla="*/ 720365 w 2003"/>
              <a:gd name="T23" fmla="*/ 651161 h 1892"/>
              <a:gd name="T24" fmla="*/ 651639 w 2003"/>
              <a:gd name="T25" fmla="*/ 477662 h 189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2003" h="1892">
                <a:moveTo>
                  <a:pt x="1811" y="1327"/>
                </a:moveTo>
                <a:lnTo>
                  <a:pt x="1811" y="1327"/>
                </a:lnTo>
                <a:cubicBezTo>
                  <a:pt x="1862" y="1210"/>
                  <a:pt x="1891" y="1081"/>
                  <a:pt x="1891" y="946"/>
                </a:cubicBezTo>
                <a:cubicBezTo>
                  <a:pt x="1891" y="423"/>
                  <a:pt x="1468" y="0"/>
                  <a:pt x="946" y="0"/>
                </a:cubicBezTo>
                <a:cubicBezTo>
                  <a:pt x="424" y="0"/>
                  <a:pt x="0" y="423"/>
                  <a:pt x="0" y="946"/>
                </a:cubicBezTo>
                <a:cubicBezTo>
                  <a:pt x="0" y="1467"/>
                  <a:pt x="424" y="1891"/>
                  <a:pt x="946" y="1891"/>
                </a:cubicBezTo>
                <a:cubicBezTo>
                  <a:pt x="1182" y="1891"/>
                  <a:pt x="1398" y="1804"/>
                  <a:pt x="1564" y="1660"/>
                </a:cubicBezTo>
                <a:lnTo>
                  <a:pt x="2002" y="1809"/>
                </a:lnTo>
                <a:lnTo>
                  <a:pt x="1811" y="1327"/>
                </a:ln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4" name="Freeform 65">
            <a:extLst>
              <a:ext uri="{FF2B5EF4-FFF2-40B4-BE49-F238E27FC236}">
                <a16:creationId xmlns:a16="http://schemas.microsoft.com/office/drawing/2014/main" id="{DAA183ED-8892-417F-FC73-F7AA5E95D6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804" y="1256964"/>
            <a:ext cx="40341" cy="8653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6FD99C-FCD2-E9DE-92DB-099798552A57}"/>
              </a:ext>
            </a:extLst>
          </p:cNvPr>
          <p:cNvSpPr txBox="1"/>
          <p:nvPr/>
        </p:nvSpPr>
        <p:spPr>
          <a:xfrm>
            <a:off x="2514284" y="1121300"/>
            <a:ext cx="4846300" cy="32650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ts val="1750"/>
              </a:lnSpc>
            </a:pPr>
            <a:r>
              <a:rPr lang="es-NI" sz="1700" b="1" spc="-15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RESEARCH QUESTIONS AND DATA</a:t>
            </a:r>
            <a:endParaRPr lang="en-US" sz="1700" b="1" spc="-15" dirty="0">
              <a:solidFill>
                <a:schemeClr val="tx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0B43E9-2FDC-45EA-3D7D-ABAE60FB1E22}"/>
              </a:ext>
            </a:extLst>
          </p:cNvPr>
          <p:cNvSpPr txBox="1"/>
          <p:nvPr/>
        </p:nvSpPr>
        <p:spPr>
          <a:xfrm>
            <a:off x="2514284" y="1575725"/>
            <a:ext cx="6334441" cy="541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b="1" spc="-35" dirty="0">
                <a:solidFill>
                  <a:srgbClr val="03548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How can we predict partisan animosity and favorability?</a:t>
            </a:r>
          </a:p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ANES (American National Election Studies) dataset</a:t>
            </a:r>
          </a:p>
        </p:txBody>
      </p:sp>
      <p:sp>
        <p:nvSpPr>
          <p:cNvPr id="9" name="Freeform 64">
            <a:extLst>
              <a:ext uri="{FF2B5EF4-FFF2-40B4-BE49-F238E27FC236}">
                <a16:creationId xmlns:a16="http://schemas.microsoft.com/office/drawing/2014/main" id="{F52729C4-5977-3680-D5FF-57C84EACC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154" y="2976731"/>
            <a:ext cx="915745" cy="865318"/>
          </a:xfrm>
          <a:custGeom>
            <a:avLst/>
            <a:gdLst>
              <a:gd name="T0" fmla="*/ 651639 w 2003"/>
              <a:gd name="T1" fmla="*/ 477662 h 1892"/>
              <a:gd name="T2" fmla="*/ 651639 w 2003"/>
              <a:gd name="T3" fmla="*/ 477662 h 1892"/>
              <a:gd name="T4" fmla="*/ 680425 w 2003"/>
              <a:gd name="T5" fmla="*/ 340519 h 1892"/>
              <a:gd name="T6" fmla="*/ 680425 w 2003"/>
              <a:gd name="T7" fmla="*/ 340519 h 1892"/>
              <a:gd name="T8" fmla="*/ 340392 w 2003"/>
              <a:gd name="T9" fmla="*/ 0 h 1892"/>
              <a:gd name="T10" fmla="*/ 340392 w 2003"/>
              <a:gd name="T11" fmla="*/ 0 h 1892"/>
              <a:gd name="T12" fmla="*/ 0 w 2003"/>
              <a:gd name="T13" fmla="*/ 340519 h 1892"/>
              <a:gd name="T14" fmla="*/ 0 w 2003"/>
              <a:gd name="T15" fmla="*/ 340519 h 1892"/>
              <a:gd name="T16" fmla="*/ 340392 w 2003"/>
              <a:gd name="T17" fmla="*/ 680677 h 1892"/>
              <a:gd name="T18" fmla="*/ 340392 w 2003"/>
              <a:gd name="T19" fmla="*/ 680677 h 1892"/>
              <a:gd name="T20" fmla="*/ 562763 w 2003"/>
              <a:gd name="T21" fmla="*/ 597527 h 1892"/>
              <a:gd name="T22" fmla="*/ 720365 w 2003"/>
              <a:gd name="T23" fmla="*/ 651161 h 1892"/>
              <a:gd name="T24" fmla="*/ 651639 w 2003"/>
              <a:gd name="T25" fmla="*/ 477662 h 189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2003" h="1892">
                <a:moveTo>
                  <a:pt x="1811" y="1327"/>
                </a:moveTo>
                <a:lnTo>
                  <a:pt x="1811" y="1327"/>
                </a:lnTo>
                <a:cubicBezTo>
                  <a:pt x="1862" y="1210"/>
                  <a:pt x="1891" y="1081"/>
                  <a:pt x="1891" y="946"/>
                </a:cubicBezTo>
                <a:cubicBezTo>
                  <a:pt x="1891" y="423"/>
                  <a:pt x="1468" y="0"/>
                  <a:pt x="946" y="0"/>
                </a:cubicBezTo>
                <a:cubicBezTo>
                  <a:pt x="424" y="0"/>
                  <a:pt x="0" y="423"/>
                  <a:pt x="0" y="946"/>
                </a:cubicBezTo>
                <a:cubicBezTo>
                  <a:pt x="0" y="1467"/>
                  <a:pt x="424" y="1891"/>
                  <a:pt x="946" y="1891"/>
                </a:cubicBezTo>
                <a:cubicBezTo>
                  <a:pt x="1182" y="1891"/>
                  <a:pt x="1398" y="1804"/>
                  <a:pt x="1564" y="1660"/>
                </a:cubicBezTo>
                <a:lnTo>
                  <a:pt x="2002" y="1809"/>
                </a:lnTo>
                <a:lnTo>
                  <a:pt x="1811" y="1327"/>
                </a:ln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10" name="Freeform 65">
            <a:extLst>
              <a:ext uri="{FF2B5EF4-FFF2-40B4-BE49-F238E27FC236}">
                <a16:creationId xmlns:a16="http://schemas.microsoft.com/office/drawing/2014/main" id="{944E6D64-B975-C11E-06CD-3FA488FF7A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804" y="3019089"/>
            <a:ext cx="40341" cy="8653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B198F8-D99C-BD58-D4FF-BE440571DF6F}"/>
              </a:ext>
            </a:extLst>
          </p:cNvPr>
          <p:cNvSpPr txBox="1"/>
          <p:nvPr/>
        </p:nvSpPr>
        <p:spPr>
          <a:xfrm>
            <a:off x="2514284" y="2979455"/>
            <a:ext cx="3048839" cy="32650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ts val="1750"/>
              </a:lnSpc>
            </a:pPr>
            <a:r>
              <a:rPr lang="es-NI" sz="1700" b="1" spc="-15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METHODS</a:t>
            </a:r>
            <a:endParaRPr lang="en-US" sz="1700" b="1" spc="-15" dirty="0">
              <a:solidFill>
                <a:schemeClr val="tx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315F6C-26A6-BB4A-749B-C88E2F19FA85}"/>
              </a:ext>
            </a:extLst>
          </p:cNvPr>
          <p:cNvSpPr txBox="1"/>
          <p:nvPr/>
        </p:nvSpPr>
        <p:spPr>
          <a:xfrm>
            <a:off x="2514284" y="3337850"/>
            <a:ext cx="7763191" cy="541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b="1" spc="-35" dirty="0">
                <a:latin typeface="Poppins" panose="00000500000000000000" pitchFamily="2" charset="0"/>
                <a:cs typeface="Poppins" panose="00000500000000000000" pitchFamily="2" charset="0"/>
              </a:rPr>
              <a:t>Study 1: </a:t>
            </a: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Text mining analysis to predict partisan favorability and animosity</a:t>
            </a:r>
          </a:p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b="1" spc="-35" dirty="0">
                <a:latin typeface="Poppins" panose="00000500000000000000" pitchFamily="2" charset="0"/>
                <a:cs typeface="Poppins" panose="00000500000000000000" pitchFamily="2" charset="0"/>
              </a:rPr>
              <a:t>Study 2: </a:t>
            </a: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Who responds to open-ended questions on the parties? </a:t>
            </a:r>
          </a:p>
        </p:txBody>
      </p:sp>
      <p:sp>
        <p:nvSpPr>
          <p:cNvPr id="13" name="Freeform 64">
            <a:extLst>
              <a:ext uri="{FF2B5EF4-FFF2-40B4-BE49-F238E27FC236}">
                <a16:creationId xmlns:a16="http://schemas.microsoft.com/office/drawing/2014/main" id="{C0621BF1-FF16-CB1F-13D1-8CF3853C0E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154" y="4708079"/>
            <a:ext cx="915745" cy="865318"/>
          </a:xfrm>
          <a:custGeom>
            <a:avLst/>
            <a:gdLst>
              <a:gd name="T0" fmla="*/ 651639 w 2003"/>
              <a:gd name="T1" fmla="*/ 477662 h 1892"/>
              <a:gd name="T2" fmla="*/ 651639 w 2003"/>
              <a:gd name="T3" fmla="*/ 477662 h 1892"/>
              <a:gd name="T4" fmla="*/ 680425 w 2003"/>
              <a:gd name="T5" fmla="*/ 340519 h 1892"/>
              <a:gd name="T6" fmla="*/ 680425 w 2003"/>
              <a:gd name="T7" fmla="*/ 340519 h 1892"/>
              <a:gd name="T8" fmla="*/ 340392 w 2003"/>
              <a:gd name="T9" fmla="*/ 0 h 1892"/>
              <a:gd name="T10" fmla="*/ 340392 w 2003"/>
              <a:gd name="T11" fmla="*/ 0 h 1892"/>
              <a:gd name="T12" fmla="*/ 0 w 2003"/>
              <a:gd name="T13" fmla="*/ 340519 h 1892"/>
              <a:gd name="T14" fmla="*/ 0 w 2003"/>
              <a:gd name="T15" fmla="*/ 340519 h 1892"/>
              <a:gd name="T16" fmla="*/ 340392 w 2003"/>
              <a:gd name="T17" fmla="*/ 680677 h 1892"/>
              <a:gd name="T18" fmla="*/ 340392 w 2003"/>
              <a:gd name="T19" fmla="*/ 680677 h 1892"/>
              <a:gd name="T20" fmla="*/ 562763 w 2003"/>
              <a:gd name="T21" fmla="*/ 597527 h 1892"/>
              <a:gd name="T22" fmla="*/ 720365 w 2003"/>
              <a:gd name="T23" fmla="*/ 651161 h 1892"/>
              <a:gd name="T24" fmla="*/ 651639 w 2003"/>
              <a:gd name="T25" fmla="*/ 477662 h 189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2003" h="1892">
                <a:moveTo>
                  <a:pt x="1811" y="1327"/>
                </a:moveTo>
                <a:lnTo>
                  <a:pt x="1811" y="1327"/>
                </a:lnTo>
                <a:cubicBezTo>
                  <a:pt x="1862" y="1210"/>
                  <a:pt x="1891" y="1081"/>
                  <a:pt x="1891" y="946"/>
                </a:cubicBezTo>
                <a:cubicBezTo>
                  <a:pt x="1891" y="423"/>
                  <a:pt x="1468" y="0"/>
                  <a:pt x="946" y="0"/>
                </a:cubicBezTo>
                <a:cubicBezTo>
                  <a:pt x="424" y="0"/>
                  <a:pt x="0" y="423"/>
                  <a:pt x="0" y="946"/>
                </a:cubicBezTo>
                <a:cubicBezTo>
                  <a:pt x="0" y="1467"/>
                  <a:pt x="424" y="1891"/>
                  <a:pt x="946" y="1891"/>
                </a:cubicBezTo>
                <a:cubicBezTo>
                  <a:pt x="1182" y="1891"/>
                  <a:pt x="1398" y="1804"/>
                  <a:pt x="1564" y="1660"/>
                </a:cubicBezTo>
                <a:lnTo>
                  <a:pt x="2002" y="1809"/>
                </a:lnTo>
                <a:lnTo>
                  <a:pt x="1811" y="1327"/>
                </a:ln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14" name="Freeform 65">
            <a:extLst>
              <a:ext uri="{FF2B5EF4-FFF2-40B4-BE49-F238E27FC236}">
                <a16:creationId xmlns:a16="http://schemas.microsoft.com/office/drawing/2014/main" id="{251EDB37-DC75-CE9D-AA8B-DE074049F0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804" y="4750437"/>
            <a:ext cx="40341" cy="8653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87FCF1-2F7E-E550-B6C0-C2BDA9F8A5A7}"/>
              </a:ext>
            </a:extLst>
          </p:cNvPr>
          <p:cNvSpPr txBox="1"/>
          <p:nvPr/>
        </p:nvSpPr>
        <p:spPr>
          <a:xfrm>
            <a:off x="2514284" y="4710803"/>
            <a:ext cx="3048839" cy="32650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ts val="1750"/>
              </a:lnSpc>
            </a:pPr>
            <a:r>
              <a:rPr lang="es-NI" sz="1700" b="1" spc="-15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RESULTS</a:t>
            </a:r>
            <a:endParaRPr lang="en-US" sz="1700" b="1" spc="-15" dirty="0">
              <a:solidFill>
                <a:schemeClr val="tx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613B0C-5363-1121-E956-C7F27BA239D0}"/>
              </a:ext>
            </a:extLst>
          </p:cNvPr>
          <p:cNvSpPr txBox="1"/>
          <p:nvPr/>
        </p:nvSpPr>
        <p:spPr>
          <a:xfrm>
            <a:off x="2514284" y="5069198"/>
            <a:ext cx="6191566" cy="772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Exploratory Data Analysis</a:t>
            </a:r>
          </a:p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b="1" spc="-35" dirty="0">
                <a:latin typeface="Poppins" panose="00000500000000000000" pitchFamily="2" charset="0"/>
                <a:cs typeface="Poppins" panose="00000500000000000000" pitchFamily="2" charset="0"/>
              </a:rPr>
              <a:t>Study 1: </a:t>
            </a: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Text mining analysis to predict partisan favorability and animosity</a:t>
            </a:r>
          </a:p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b="1" spc="-35" dirty="0">
                <a:latin typeface="Poppins" panose="00000500000000000000" pitchFamily="2" charset="0"/>
                <a:cs typeface="Poppins" panose="00000500000000000000" pitchFamily="2" charset="0"/>
              </a:rPr>
              <a:t>Study 2: </a:t>
            </a: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Who responds to open-ended questions on the parties? </a:t>
            </a:r>
          </a:p>
        </p:txBody>
      </p:sp>
      <p:pic>
        <p:nvPicPr>
          <p:cNvPr id="2052" name="Picture 4" descr="Human Brain Thinking Icons - Free SVG &amp; PNG Human Brain Thinking Images -  Noun Project">
            <a:extLst>
              <a:ext uri="{FF2B5EF4-FFF2-40B4-BE49-F238E27FC236}">
                <a16:creationId xmlns:a16="http://schemas.microsoft.com/office/drawing/2014/main" id="{5D1014F1-5B79-F0AD-4669-D6C7FB8D3A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470" y="1361234"/>
            <a:ext cx="533961" cy="533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Method And Gear Monotone Icon In Powerpoint Pptx Png And Editable Eps  Format PPT Sample">
            <a:extLst>
              <a:ext uri="{FF2B5EF4-FFF2-40B4-BE49-F238E27FC236}">
                <a16:creationId xmlns:a16="http://schemas.microsoft.com/office/drawing/2014/main" id="{303D2F51-7524-0ECE-E615-CF50190285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 l="24921" t="21111" r="28595" b="9028"/>
          <a:stretch/>
        </p:blipFill>
        <p:spPr bwMode="auto">
          <a:xfrm>
            <a:off x="1068023" y="3113992"/>
            <a:ext cx="698854" cy="590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Icons for PowerPoint Presentations – Chart – Smiletemplates - download at  SmileTemplates.com">
            <a:extLst>
              <a:ext uri="{FF2B5EF4-FFF2-40B4-BE49-F238E27FC236}">
                <a16:creationId xmlns:a16="http://schemas.microsoft.com/office/drawing/2014/main" id="{97F0AA70-EC54-8BE0-F783-450D93FE1F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/>
          <a:stretch/>
        </p:blipFill>
        <p:spPr bwMode="auto">
          <a:xfrm>
            <a:off x="971421" y="4816357"/>
            <a:ext cx="895665" cy="670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1182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46C4E-FE16-9CBC-60A0-18223E2AE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D07B593C-2D30-D1C1-A0A1-003304883A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71525" y="365129"/>
            <a:ext cx="10515600" cy="720721"/>
          </a:xfrm>
        </p:spPr>
        <p:txBody>
          <a:bodyPr>
            <a:noAutofit/>
          </a:bodyPr>
          <a:lstStyle/>
          <a:p>
            <a:r>
              <a:rPr lang="en-US" sz="2800" dirty="0"/>
              <a:t>Background and Research Question(s)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90144B-7539-3275-03AC-FDF57AE73763}"/>
              </a:ext>
            </a:extLst>
          </p:cNvPr>
          <p:cNvSpPr txBox="1"/>
          <p:nvPr/>
        </p:nvSpPr>
        <p:spPr>
          <a:xfrm>
            <a:off x="962026" y="1447800"/>
            <a:ext cx="1026795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Partisan animosity and polarization and grown over the past 20 years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Debate over the specific reasons for affective polarization:</a:t>
            </a:r>
          </a:p>
          <a:p>
            <a:pPr marL="800100" lvl="1" indent="-342900">
              <a:buSzPct val="80000"/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rgbClr val="000000"/>
                </a:solidFill>
              </a:rPr>
              <a:t>Intergroup conflict (identity and affect)</a:t>
            </a:r>
          </a:p>
          <a:p>
            <a:pPr marL="800100" lvl="1" indent="-342900">
              <a:buSzPct val="80000"/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rgbClr val="000000"/>
                </a:solidFill>
              </a:rPr>
              <a:t>Ideological sorting (widening policy gaps)</a:t>
            </a:r>
          </a:p>
          <a:p>
            <a:pPr marL="342900" indent="-342900">
              <a:buSzPct val="8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We use survey data from the American National Elections Study (ANES) to examine what Americans provide as their reasons for in-group favorability and out-group animosity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73A070-16C1-C6A4-55A8-F3D280B055D6}"/>
              </a:ext>
            </a:extLst>
          </p:cNvPr>
          <p:cNvSpPr txBox="1"/>
          <p:nvPr/>
        </p:nvSpPr>
        <p:spPr>
          <a:xfrm>
            <a:off x="962026" y="986135"/>
            <a:ext cx="102679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0000"/>
                </a:solidFill>
              </a:rPr>
              <a:t>Background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2F37E6-6B57-EB94-B37D-2210D3CB9A01}"/>
              </a:ext>
            </a:extLst>
          </p:cNvPr>
          <p:cNvSpPr txBox="1"/>
          <p:nvPr/>
        </p:nvSpPr>
        <p:spPr>
          <a:xfrm>
            <a:off x="962026" y="4133879"/>
            <a:ext cx="102679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0000"/>
                </a:solidFill>
              </a:rPr>
              <a:t>RQ1: What reasons do American’s provide in open-ended responses for liking their in-group party, and disliking the out-group party?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663765-DE20-2411-2990-C1C78BFDC16E}"/>
              </a:ext>
            </a:extLst>
          </p:cNvPr>
          <p:cNvSpPr txBox="1"/>
          <p:nvPr/>
        </p:nvSpPr>
        <p:spPr>
          <a:xfrm>
            <a:off x="962026" y="5095993"/>
            <a:ext cx="102679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0000"/>
                </a:solidFill>
              </a:rPr>
              <a:t>RQ2: Which respondent attributes predict whether someone provides open-ended responses about the parties?</a:t>
            </a:r>
          </a:p>
        </p:txBody>
      </p:sp>
    </p:spTree>
    <p:extLst>
      <p:ext uri="{BB962C8B-B14F-4D97-AF65-F5344CB8AC3E}">
        <p14:creationId xmlns:p14="http://schemas.microsoft.com/office/powerpoint/2010/main" val="3291148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F4D06-B7F4-B52B-92CF-5191BC127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C779B974-6BF0-FB87-C5C6-1DCF0EB24E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71525" y="365129"/>
            <a:ext cx="10515600" cy="720721"/>
          </a:xfrm>
        </p:spPr>
        <p:txBody>
          <a:bodyPr>
            <a:noAutofit/>
          </a:bodyPr>
          <a:lstStyle/>
          <a:p>
            <a:r>
              <a:rPr lang="en-US" sz="2800" dirty="0"/>
              <a:t>Agenda</a:t>
            </a:r>
          </a:p>
        </p:txBody>
      </p:sp>
      <p:sp>
        <p:nvSpPr>
          <p:cNvPr id="3" name="Freeform 64">
            <a:extLst>
              <a:ext uri="{FF2B5EF4-FFF2-40B4-BE49-F238E27FC236}">
                <a16:creationId xmlns:a16="http://schemas.microsoft.com/office/drawing/2014/main" id="{0AC5F7E9-BA57-2F66-E5FB-46278F7D5F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154" y="1214606"/>
            <a:ext cx="915745" cy="865318"/>
          </a:xfrm>
          <a:custGeom>
            <a:avLst/>
            <a:gdLst>
              <a:gd name="T0" fmla="*/ 651639 w 2003"/>
              <a:gd name="T1" fmla="*/ 477662 h 1892"/>
              <a:gd name="T2" fmla="*/ 651639 w 2003"/>
              <a:gd name="T3" fmla="*/ 477662 h 1892"/>
              <a:gd name="T4" fmla="*/ 680425 w 2003"/>
              <a:gd name="T5" fmla="*/ 340519 h 1892"/>
              <a:gd name="T6" fmla="*/ 680425 w 2003"/>
              <a:gd name="T7" fmla="*/ 340519 h 1892"/>
              <a:gd name="T8" fmla="*/ 340392 w 2003"/>
              <a:gd name="T9" fmla="*/ 0 h 1892"/>
              <a:gd name="T10" fmla="*/ 340392 w 2003"/>
              <a:gd name="T11" fmla="*/ 0 h 1892"/>
              <a:gd name="T12" fmla="*/ 0 w 2003"/>
              <a:gd name="T13" fmla="*/ 340519 h 1892"/>
              <a:gd name="T14" fmla="*/ 0 w 2003"/>
              <a:gd name="T15" fmla="*/ 340519 h 1892"/>
              <a:gd name="T16" fmla="*/ 340392 w 2003"/>
              <a:gd name="T17" fmla="*/ 680677 h 1892"/>
              <a:gd name="T18" fmla="*/ 340392 w 2003"/>
              <a:gd name="T19" fmla="*/ 680677 h 1892"/>
              <a:gd name="T20" fmla="*/ 562763 w 2003"/>
              <a:gd name="T21" fmla="*/ 597527 h 1892"/>
              <a:gd name="T22" fmla="*/ 720365 w 2003"/>
              <a:gd name="T23" fmla="*/ 651161 h 1892"/>
              <a:gd name="T24" fmla="*/ 651639 w 2003"/>
              <a:gd name="T25" fmla="*/ 477662 h 189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2003" h="1892">
                <a:moveTo>
                  <a:pt x="1811" y="1327"/>
                </a:moveTo>
                <a:lnTo>
                  <a:pt x="1811" y="1327"/>
                </a:lnTo>
                <a:cubicBezTo>
                  <a:pt x="1862" y="1210"/>
                  <a:pt x="1891" y="1081"/>
                  <a:pt x="1891" y="946"/>
                </a:cubicBezTo>
                <a:cubicBezTo>
                  <a:pt x="1891" y="423"/>
                  <a:pt x="1468" y="0"/>
                  <a:pt x="946" y="0"/>
                </a:cubicBezTo>
                <a:cubicBezTo>
                  <a:pt x="424" y="0"/>
                  <a:pt x="0" y="423"/>
                  <a:pt x="0" y="946"/>
                </a:cubicBezTo>
                <a:cubicBezTo>
                  <a:pt x="0" y="1467"/>
                  <a:pt x="424" y="1891"/>
                  <a:pt x="946" y="1891"/>
                </a:cubicBezTo>
                <a:cubicBezTo>
                  <a:pt x="1182" y="1891"/>
                  <a:pt x="1398" y="1804"/>
                  <a:pt x="1564" y="1660"/>
                </a:cubicBezTo>
                <a:lnTo>
                  <a:pt x="2002" y="1809"/>
                </a:lnTo>
                <a:lnTo>
                  <a:pt x="1811" y="1327"/>
                </a:ln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4" name="Freeform 65">
            <a:extLst>
              <a:ext uri="{FF2B5EF4-FFF2-40B4-BE49-F238E27FC236}">
                <a16:creationId xmlns:a16="http://schemas.microsoft.com/office/drawing/2014/main" id="{0E22BD93-44F1-3072-70A8-B1EA9957CB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804" y="1256964"/>
            <a:ext cx="40341" cy="8653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8BC311-614C-4C28-37AF-641E3FEFD55C}"/>
              </a:ext>
            </a:extLst>
          </p:cNvPr>
          <p:cNvSpPr txBox="1"/>
          <p:nvPr/>
        </p:nvSpPr>
        <p:spPr>
          <a:xfrm>
            <a:off x="2514284" y="1121300"/>
            <a:ext cx="4846300" cy="32650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ts val="1750"/>
              </a:lnSpc>
            </a:pPr>
            <a:r>
              <a:rPr lang="es-NI" sz="1700" b="1" spc="-15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RESEARCH QUESTIONS AND DATA</a:t>
            </a:r>
            <a:endParaRPr lang="en-US" sz="1700" b="1" spc="-15" dirty="0">
              <a:solidFill>
                <a:schemeClr val="tx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C55DAA-E394-F794-5569-6B941BDFDCA2}"/>
              </a:ext>
            </a:extLst>
          </p:cNvPr>
          <p:cNvSpPr txBox="1"/>
          <p:nvPr/>
        </p:nvSpPr>
        <p:spPr>
          <a:xfrm>
            <a:off x="2514284" y="1575725"/>
            <a:ext cx="6334441" cy="541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How can we predict partisan animosity and favorability?</a:t>
            </a:r>
          </a:p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b="1" spc="-35" dirty="0">
                <a:solidFill>
                  <a:srgbClr val="03548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ANES (American National Election Studies) dataset</a:t>
            </a:r>
          </a:p>
        </p:txBody>
      </p:sp>
      <p:sp>
        <p:nvSpPr>
          <p:cNvPr id="9" name="Freeform 64">
            <a:extLst>
              <a:ext uri="{FF2B5EF4-FFF2-40B4-BE49-F238E27FC236}">
                <a16:creationId xmlns:a16="http://schemas.microsoft.com/office/drawing/2014/main" id="{51B26CDE-445F-D57A-BA76-372F4BE3FC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154" y="2976731"/>
            <a:ext cx="915745" cy="865318"/>
          </a:xfrm>
          <a:custGeom>
            <a:avLst/>
            <a:gdLst>
              <a:gd name="T0" fmla="*/ 651639 w 2003"/>
              <a:gd name="T1" fmla="*/ 477662 h 1892"/>
              <a:gd name="T2" fmla="*/ 651639 w 2003"/>
              <a:gd name="T3" fmla="*/ 477662 h 1892"/>
              <a:gd name="T4" fmla="*/ 680425 w 2003"/>
              <a:gd name="T5" fmla="*/ 340519 h 1892"/>
              <a:gd name="T6" fmla="*/ 680425 w 2003"/>
              <a:gd name="T7" fmla="*/ 340519 h 1892"/>
              <a:gd name="T8" fmla="*/ 340392 w 2003"/>
              <a:gd name="T9" fmla="*/ 0 h 1892"/>
              <a:gd name="T10" fmla="*/ 340392 w 2003"/>
              <a:gd name="T11" fmla="*/ 0 h 1892"/>
              <a:gd name="T12" fmla="*/ 0 w 2003"/>
              <a:gd name="T13" fmla="*/ 340519 h 1892"/>
              <a:gd name="T14" fmla="*/ 0 w 2003"/>
              <a:gd name="T15" fmla="*/ 340519 h 1892"/>
              <a:gd name="T16" fmla="*/ 340392 w 2003"/>
              <a:gd name="T17" fmla="*/ 680677 h 1892"/>
              <a:gd name="T18" fmla="*/ 340392 w 2003"/>
              <a:gd name="T19" fmla="*/ 680677 h 1892"/>
              <a:gd name="T20" fmla="*/ 562763 w 2003"/>
              <a:gd name="T21" fmla="*/ 597527 h 1892"/>
              <a:gd name="T22" fmla="*/ 720365 w 2003"/>
              <a:gd name="T23" fmla="*/ 651161 h 1892"/>
              <a:gd name="T24" fmla="*/ 651639 w 2003"/>
              <a:gd name="T25" fmla="*/ 477662 h 189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2003" h="1892">
                <a:moveTo>
                  <a:pt x="1811" y="1327"/>
                </a:moveTo>
                <a:lnTo>
                  <a:pt x="1811" y="1327"/>
                </a:lnTo>
                <a:cubicBezTo>
                  <a:pt x="1862" y="1210"/>
                  <a:pt x="1891" y="1081"/>
                  <a:pt x="1891" y="946"/>
                </a:cubicBezTo>
                <a:cubicBezTo>
                  <a:pt x="1891" y="423"/>
                  <a:pt x="1468" y="0"/>
                  <a:pt x="946" y="0"/>
                </a:cubicBezTo>
                <a:cubicBezTo>
                  <a:pt x="424" y="0"/>
                  <a:pt x="0" y="423"/>
                  <a:pt x="0" y="946"/>
                </a:cubicBezTo>
                <a:cubicBezTo>
                  <a:pt x="0" y="1467"/>
                  <a:pt x="424" y="1891"/>
                  <a:pt x="946" y="1891"/>
                </a:cubicBezTo>
                <a:cubicBezTo>
                  <a:pt x="1182" y="1891"/>
                  <a:pt x="1398" y="1804"/>
                  <a:pt x="1564" y="1660"/>
                </a:cubicBezTo>
                <a:lnTo>
                  <a:pt x="2002" y="1809"/>
                </a:lnTo>
                <a:lnTo>
                  <a:pt x="1811" y="1327"/>
                </a:ln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10" name="Freeform 65">
            <a:extLst>
              <a:ext uri="{FF2B5EF4-FFF2-40B4-BE49-F238E27FC236}">
                <a16:creationId xmlns:a16="http://schemas.microsoft.com/office/drawing/2014/main" id="{2E90D028-CB01-4227-6D96-8508EEF7C5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804" y="3019089"/>
            <a:ext cx="40341" cy="8653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ECAE59-38D0-92FC-DFDC-9BF4E8B8E244}"/>
              </a:ext>
            </a:extLst>
          </p:cNvPr>
          <p:cNvSpPr txBox="1"/>
          <p:nvPr/>
        </p:nvSpPr>
        <p:spPr>
          <a:xfrm>
            <a:off x="2514284" y="2979455"/>
            <a:ext cx="3048839" cy="32650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ts val="1750"/>
              </a:lnSpc>
            </a:pPr>
            <a:r>
              <a:rPr lang="es-NI" sz="1700" b="1" spc="-15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METHODS</a:t>
            </a:r>
            <a:endParaRPr lang="en-US" sz="1700" b="1" spc="-15" dirty="0">
              <a:solidFill>
                <a:schemeClr val="tx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A3DA17-945E-AB94-F737-B350EF408F5E}"/>
              </a:ext>
            </a:extLst>
          </p:cNvPr>
          <p:cNvSpPr txBox="1"/>
          <p:nvPr/>
        </p:nvSpPr>
        <p:spPr>
          <a:xfrm>
            <a:off x="2514284" y="3337850"/>
            <a:ext cx="7763191" cy="541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b="1" spc="-35" dirty="0">
                <a:latin typeface="Poppins" panose="00000500000000000000" pitchFamily="2" charset="0"/>
                <a:cs typeface="Poppins" panose="00000500000000000000" pitchFamily="2" charset="0"/>
              </a:rPr>
              <a:t>Study 1: </a:t>
            </a: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Text mining analysis to predict partisan favorability and animosity</a:t>
            </a:r>
          </a:p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b="1" spc="-35" dirty="0">
                <a:latin typeface="Poppins" panose="00000500000000000000" pitchFamily="2" charset="0"/>
                <a:cs typeface="Poppins" panose="00000500000000000000" pitchFamily="2" charset="0"/>
              </a:rPr>
              <a:t>Study 2: </a:t>
            </a: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Who responds to open-ended questions on the parties? </a:t>
            </a:r>
          </a:p>
        </p:txBody>
      </p:sp>
      <p:sp>
        <p:nvSpPr>
          <p:cNvPr id="13" name="Freeform 64">
            <a:extLst>
              <a:ext uri="{FF2B5EF4-FFF2-40B4-BE49-F238E27FC236}">
                <a16:creationId xmlns:a16="http://schemas.microsoft.com/office/drawing/2014/main" id="{1DDE6EA4-04CF-A496-D27B-AD80AC274E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154" y="4708079"/>
            <a:ext cx="915745" cy="865318"/>
          </a:xfrm>
          <a:custGeom>
            <a:avLst/>
            <a:gdLst>
              <a:gd name="T0" fmla="*/ 651639 w 2003"/>
              <a:gd name="T1" fmla="*/ 477662 h 1892"/>
              <a:gd name="T2" fmla="*/ 651639 w 2003"/>
              <a:gd name="T3" fmla="*/ 477662 h 1892"/>
              <a:gd name="T4" fmla="*/ 680425 w 2003"/>
              <a:gd name="T5" fmla="*/ 340519 h 1892"/>
              <a:gd name="T6" fmla="*/ 680425 w 2003"/>
              <a:gd name="T7" fmla="*/ 340519 h 1892"/>
              <a:gd name="T8" fmla="*/ 340392 w 2003"/>
              <a:gd name="T9" fmla="*/ 0 h 1892"/>
              <a:gd name="T10" fmla="*/ 340392 w 2003"/>
              <a:gd name="T11" fmla="*/ 0 h 1892"/>
              <a:gd name="T12" fmla="*/ 0 w 2003"/>
              <a:gd name="T13" fmla="*/ 340519 h 1892"/>
              <a:gd name="T14" fmla="*/ 0 w 2003"/>
              <a:gd name="T15" fmla="*/ 340519 h 1892"/>
              <a:gd name="T16" fmla="*/ 340392 w 2003"/>
              <a:gd name="T17" fmla="*/ 680677 h 1892"/>
              <a:gd name="T18" fmla="*/ 340392 w 2003"/>
              <a:gd name="T19" fmla="*/ 680677 h 1892"/>
              <a:gd name="T20" fmla="*/ 562763 w 2003"/>
              <a:gd name="T21" fmla="*/ 597527 h 1892"/>
              <a:gd name="T22" fmla="*/ 720365 w 2003"/>
              <a:gd name="T23" fmla="*/ 651161 h 1892"/>
              <a:gd name="T24" fmla="*/ 651639 w 2003"/>
              <a:gd name="T25" fmla="*/ 477662 h 189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2003" h="1892">
                <a:moveTo>
                  <a:pt x="1811" y="1327"/>
                </a:moveTo>
                <a:lnTo>
                  <a:pt x="1811" y="1327"/>
                </a:lnTo>
                <a:cubicBezTo>
                  <a:pt x="1862" y="1210"/>
                  <a:pt x="1891" y="1081"/>
                  <a:pt x="1891" y="946"/>
                </a:cubicBezTo>
                <a:cubicBezTo>
                  <a:pt x="1891" y="423"/>
                  <a:pt x="1468" y="0"/>
                  <a:pt x="946" y="0"/>
                </a:cubicBezTo>
                <a:cubicBezTo>
                  <a:pt x="424" y="0"/>
                  <a:pt x="0" y="423"/>
                  <a:pt x="0" y="946"/>
                </a:cubicBezTo>
                <a:cubicBezTo>
                  <a:pt x="0" y="1467"/>
                  <a:pt x="424" y="1891"/>
                  <a:pt x="946" y="1891"/>
                </a:cubicBezTo>
                <a:cubicBezTo>
                  <a:pt x="1182" y="1891"/>
                  <a:pt x="1398" y="1804"/>
                  <a:pt x="1564" y="1660"/>
                </a:cubicBezTo>
                <a:lnTo>
                  <a:pt x="2002" y="1809"/>
                </a:lnTo>
                <a:lnTo>
                  <a:pt x="1811" y="1327"/>
                </a:ln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14" name="Freeform 65">
            <a:extLst>
              <a:ext uri="{FF2B5EF4-FFF2-40B4-BE49-F238E27FC236}">
                <a16:creationId xmlns:a16="http://schemas.microsoft.com/office/drawing/2014/main" id="{0168BA59-4DEC-0B56-7D92-060605F504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804" y="4750437"/>
            <a:ext cx="40341" cy="8653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56D973-C0E2-B826-FFAF-8001E72CE5AF}"/>
              </a:ext>
            </a:extLst>
          </p:cNvPr>
          <p:cNvSpPr txBox="1"/>
          <p:nvPr/>
        </p:nvSpPr>
        <p:spPr>
          <a:xfrm>
            <a:off x="2514284" y="4710803"/>
            <a:ext cx="3048839" cy="32650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ts val="1750"/>
              </a:lnSpc>
            </a:pPr>
            <a:r>
              <a:rPr lang="es-NI" sz="1700" b="1" spc="-15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RESULTS</a:t>
            </a:r>
            <a:endParaRPr lang="en-US" sz="1700" b="1" spc="-15" dirty="0">
              <a:solidFill>
                <a:schemeClr val="tx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D40B5A-8A4D-33EC-B0B2-B63DB5A840DC}"/>
              </a:ext>
            </a:extLst>
          </p:cNvPr>
          <p:cNvSpPr txBox="1"/>
          <p:nvPr/>
        </p:nvSpPr>
        <p:spPr>
          <a:xfrm>
            <a:off x="2514284" y="5069198"/>
            <a:ext cx="6191566" cy="772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Exploratory Data Analysis</a:t>
            </a:r>
            <a:endParaRPr lang="en-US" sz="1250" b="1" spc="-35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b="1" spc="-35" dirty="0">
                <a:latin typeface="Poppins" panose="00000500000000000000" pitchFamily="2" charset="0"/>
                <a:cs typeface="Poppins" panose="00000500000000000000" pitchFamily="2" charset="0"/>
              </a:rPr>
              <a:t>Study 1: </a:t>
            </a: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Text mining analysis to predict partisan favorability and animosity</a:t>
            </a:r>
          </a:p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b="1" spc="-35" dirty="0">
                <a:latin typeface="Poppins" panose="00000500000000000000" pitchFamily="2" charset="0"/>
                <a:cs typeface="Poppins" panose="00000500000000000000" pitchFamily="2" charset="0"/>
              </a:rPr>
              <a:t>Study 2: </a:t>
            </a: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Who responds to open-ended questions on the parties? </a:t>
            </a:r>
          </a:p>
        </p:txBody>
      </p:sp>
      <p:pic>
        <p:nvPicPr>
          <p:cNvPr id="2052" name="Picture 4" descr="Human Brain Thinking Icons - Free SVG &amp; PNG Human Brain Thinking Images -  Noun Project">
            <a:extLst>
              <a:ext uri="{FF2B5EF4-FFF2-40B4-BE49-F238E27FC236}">
                <a16:creationId xmlns:a16="http://schemas.microsoft.com/office/drawing/2014/main" id="{AACC0569-E352-666C-1236-3855E32EA6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470" y="1361234"/>
            <a:ext cx="533961" cy="533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Method And Gear Monotone Icon In Powerpoint Pptx Png And Editable Eps  Format PPT Sample">
            <a:extLst>
              <a:ext uri="{FF2B5EF4-FFF2-40B4-BE49-F238E27FC236}">
                <a16:creationId xmlns:a16="http://schemas.microsoft.com/office/drawing/2014/main" id="{1611CC76-3D62-A7AD-0482-C61B088DA2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 l="24921" t="21111" r="28595" b="9028"/>
          <a:stretch/>
        </p:blipFill>
        <p:spPr bwMode="auto">
          <a:xfrm>
            <a:off x="1068023" y="3113992"/>
            <a:ext cx="698854" cy="590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Icons for PowerPoint Presentations – Chart – Smiletemplates - download at  SmileTemplates.com">
            <a:extLst>
              <a:ext uri="{FF2B5EF4-FFF2-40B4-BE49-F238E27FC236}">
                <a16:creationId xmlns:a16="http://schemas.microsoft.com/office/drawing/2014/main" id="{446853DE-FECC-C751-9DBA-D27F86D192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/>
          <a:stretch/>
        </p:blipFill>
        <p:spPr bwMode="auto">
          <a:xfrm>
            <a:off x="971421" y="4816357"/>
            <a:ext cx="895665" cy="670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7316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D2FD0-9F3D-9C80-2525-F971AD9AE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E5112FF8-D3EE-E101-8C76-F4516EC944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71525" y="365129"/>
            <a:ext cx="10515600" cy="720721"/>
          </a:xfrm>
        </p:spPr>
        <p:txBody>
          <a:bodyPr>
            <a:noAutofit/>
          </a:bodyPr>
          <a:lstStyle/>
          <a:p>
            <a:r>
              <a:rPr lang="en-US" sz="2800" dirty="0"/>
              <a:t>ANES dataset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5B494F-35E4-5CC4-D4E6-CD006DAB9CC8}"/>
              </a:ext>
            </a:extLst>
          </p:cNvPr>
          <p:cNvSpPr txBox="1"/>
          <p:nvPr/>
        </p:nvSpPr>
        <p:spPr>
          <a:xfrm>
            <a:off x="962025" y="1447800"/>
            <a:ext cx="105155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ANES Time Series, 2008-2024 (5 election cycles)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Final sample: 26,307 responses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D1A116-646D-77CE-2598-2749E208B155}"/>
              </a:ext>
            </a:extLst>
          </p:cNvPr>
          <p:cNvSpPr txBox="1"/>
          <p:nvPr/>
        </p:nvSpPr>
        <p:spPr>
          <a:xfrm>
            <a:off x="962026" y="986135"/>
            <a:ext cx="102679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000000"/>
                </a:solidFill>
              </a:rPr>
              <a:t>Source &amp; Coverage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B4A405-F72B-8678-D554-0C067774F43C}"/>
              </a:ext>
            </a:extLst>
          </p:cNvPr>
          <p:cNvSpPr txBox="1"/>
          <p:nvPr/>
        </p:nvSpPr>
        <p:spPr>
          <a:xfrm>
            <a:off x="962025" y="2772966"/>
            <a:ext cx="1051559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/>
                </a:solidFill>
              </a:rPr>
              <a:t>Outcome (Study 1</a:t>
            </a:r>
            <a:r>
              <a:rPr lang="en-US" sz="2000" b="1" dirty="0">
                <a:solidFill>
                  <a:srgbClr val="000000"/>
                </a:solidFill>
                <a:sym typeface="Wingdings" panose="05000000000000000000" pitchFamily="2" charset="2"/>
              </a:rPr>
              <a:t>): </a:t>
            </a:r>
            <a:r>
              <a:rPr lang="en-US" sz="2000" dirty="0">
                <a:solidFill>
                  <a:srgbClr val="000000"/>
                </a:solidFill>
                <a:sym typeface="Wingdings" panose="05000000000000000000" pitchFamily="2" charset="2"/>
              </a:rPr>
              <a:t>Feeling thermometers for Democrats and Republicans (0-100 scale), recoded into 5-class indicator)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/>
                </a:solidFill>
                <a:sym typeface="Wingdings" panose="05000000000000000000" pitchFamily="2" charset="2"/>
              </a:rPr>
              <a:t>Text predictors: </a:t>
            </a:r>
            <a:r>
              <a:rPr lang="en-US" sz="2000" dirty="0">
                <a:solidFill>
                  <a:srgbClr val="000000"/>
                </a:solidFill>
                <a:sym typeface="Wingdings" panose="05000000000000000000" pitchFamily="2" charset="2"/>
              </a:rPr>
              <a:t>Free text-responses to express favorability or animosity towards parties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/>
                </a:solidFill>
                <a:sym typeface="Wingdings" panose="05000000000000000000" pitchFamily="2" charset="2"/>
              </a:rPr>
              <a:t>Outcome (Study 2): </a:t>
            </a:r>
            <a:r>
              <a:rPr lang="en-US" sz="2000" dirty="0">
                <a:solidFill>
                  <a:srgbClr val="000000"/>
                </a:solidFill>
                <a:sym typeface="Wingdings" panose="05000000000000000000" pitchFamily="2" charset="2"/>
              </a:rPr>
              <a:t>Whether respondent provided open-ended text response, coded as binary</a:t>
            </a:r>
          </a:p>
          <a:p>
            <a:pPr marL="800100" lvl="1" indent="-342900">
              <a:buSzPct val="80000"/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  <a:sym typeface="Wingdings" panose="05000000000000000000" pitchFamily="2" charset="2"/>
              </a:rPr>
              <a:t>~40-60% of respondents did not provide open-ended text responses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/>
                </a:solidFill>
                <a:sym typeface="Wingdings" panose="05000000000000000000" pitchFamily="2" charset="2"/>
              </a:rPr>
              <a:t>Controls: </a:t>
            </a:r>
            <a:r>
              <a:rPr lang="en-US" sz="2000" dirty="0">
                <a:solidFill>
                  <a:srgbClr val="000000"/>
                </a:solidFill>
                <a:sym typeface="Wingdings" panose="05000000000000000000" pitchFamily="2" charset="2"/>
              </a:rPr>
              <a:t>Survey year, forced in as fixed effects for all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sym typeface="Wingdings" panose="05000000000000000000" pitchFamily="2" charset="2"/>
              </a:rPr>
              <a:t>Demographics and other participant characteristics available as predictors in Study 2 (e.g., ideology, age, gender, race/ethnicity, education)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sym typeface="Wingdings" panose="05000000000000000000" pitchFamily="2" charset="2"/>
              </a:rPr>
              <a:t>CSES liking scale as an alternative outcome measure to thermometers (robustness check)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D25070-B68C-5230-8FFC-AB3963FAC49D}"/>
              </a:ext>
            </a:extLst>
          </p:cNvPr>
          <p:cNvSpPr txBox="1"/>
          <p:nvPr/>
        </p:nvSpPr>
        <p:spPr>
          <a:xfrm>
            <a:off x="962026" y="2311301"/>
            <a:ext cx="102679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000000"/>
                </a:solidFill>
              </a:rPr>
              <a:t>Key variables </a:t>
            </a:r>
          </a:p>
        </p:txBody>
      </p:sp>
    </p:spTree>
    <p:extLst>
      <p:ext uri="{BB962C8B-B14F-4D97-AF65-F5344CB8AC3E}">
        <p14:creationId xmlns:p14="http://schemas.microsoft.com/office/powerpoint/2010/main" val="885954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A480D-570F-62B9-0560-F043B5B37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10A8622F-36A3-6464-D5F9-29A4909D50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71525" y="365129"/>
            <a:ext cx="10515600" cy="720721"/>
          </a:xfrm>
        </p:spPr>
        <p:txBody>
          <a:bodyPr>
            <a:noAutofit/>
          </a:bodyPr>
          <a:lstStyle/>
          <a:p>
            <a:r>
              <a:rPr lang="en-US" sz="2800" dirty="0"/>
              <a:t>Agenda</a:t>
            </a:r>
          </a:p>
        </p:txBody>
      </p:sp>
      <p:sp>
        <p:nvSpPr>
          <p:cNvPr id="3" name="Freeform 64">
            <a:extLst>
              <a:ext uri="{FF2B5EF4-FFF2-40B4-BE49-F238E27FC236}">
                <a16:creationId xmlns:a16="http://schemas.microsoft.com/office/drawing/2014/main" id="{F3669459-AFFD-2A9B-41D3-D9FDC55F87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154" y="1214606"/>
            <a:ext cx="915745" cy="865318"/>
          </a:xfrm>
          <a:custGeom>
            <a:avLst/>
            <a:gdLst>
              <a:gd name="T0" fmla="*/ 651639 w 2003"/>
              <a:gd name="T1" fmla="*/ 477662 h 1892"/>
              <a:gd name="T2" fmla="*/ 651639 w 2003"/>
              <a:gd name="T3" fmla="*/ 477662 h 1892"/>
              <a:gd name="T4" fmla="*/ 680425 w 2003"/>
              <a:gd name="T5" fmla="*/ 340519 h 1892"/>
              <a:gd name="T6" fmla="*/ 680425 w 2003"/>
              <a:gd name="T7" fmla="*/ 340519 h 1892"/>
              <a:gd name="T8" fmla="*/ 340392 w 2003"/>
              <a:gd name="T9" fmla="*/ 0 h 1892"/>
              <a:gd name="T10" fmla="*/ 340392 w 2003"/>
              <a:gd name="T11" fmla="*/ 0 h 1892"/>
              <a:gd name="T12" fmla="*/ 0 w 2003"/>
              <a:gd name="T13" fmla="*/ 340519 h 1892"/>
              <a:gd name="T14" fmla="*/ 0 w 2003"/>
              <a:gd name="T15" fmla="*/ 340519 h 1892"/>
              <a:gd name="T16" fmla="*/ 340392 w 2003"/>
              <a:gd name="T17" fmla="*/ 680677 h 1892"/>
              <a:gd name="T18" fmla="*/ 340392 w 2003"/>
              <a:gd name="T19" fmla="*/ 680677 h 1892"/>
              <a:gd name="T20" fmla="*/ 562763 w 2003"/>
              <a:gd name="T21" fmla="*/ 597527 h 1892"/>
              <a:gd name="T22" fmla="*/ 720365 w 2003"/>
              <a:gd name="T23" fmla="*/ 651161 h 1892"/>
              <a:gd name="T24" fmla="*/ 651639 w 2003"/>
              <a:gd name="T25" fmla="*/ 477662 h 189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2003" h="1892">
                <a:moveTo>
                  <a:pt x="1811" y="1327"/>
                </a:moveTo>
                <a:lnTo>
                  <a:pt x="1811" y="1327"/>
                </a:lnTo>
                <a:cubicBezTo>
                  <a:pt x="1862" y="1210"/>
                  <a:pt x="1891" y="1081"/>
                  <a:pt x="1891" y="946"/>
                </a:cubicBezTo>
                <a:cubicBezTo>
                  <a:pt x="1891" y="423"/>
                  <a:pt x="1468" y="0"/>
                  <a:pt x="946" y="0"/>
                </a:cubicBezTo>
                <a:cubicBezTo>
                  <a:pt x="424" y="0"/>
                  <a:pt x="0" y="423"/>
                  <a:pt x="0" y="946"/>
                </a:cubicBezTo>
                <a:cubicBezTo>
                  <a:pt x="0" y="1467"/>
                  <a:pt x="424" y="1891"/>
                  <a:pt x="946" y="1891"/>
                </a:cubicBezTo>
                <a:cubicBezTo>
                  <a:pt x="1182" y="1891"/>
                  <a:pt x="1398" y="1804"/>
                  <a:pt x="1564" y="1660"/>
                </a:cubicBezTo>
                <a:lnTo>
                  <a:pt x="2002" y="1809"/>
                </a:lnTo>
                <a:lnTo>
                  <a:pt x="1811" y="1327"/>
                </a:ln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4" name="Freeform 65">
            <a:extLst>
              <a:ext uri="{FF2B5EF4-FFF2-40B4-BE49-F238E27FC236}">
                <a16:creationId xmlns:a16="http://schemas.microsoft.com/office/drawing/2014/main" id="{08BE51A5-F927-4445-6EBD-A484F7C81D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804" y="1256964"/>
            <a:ext cx="40341" cy="8653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D7D2CC-85E6-05D4-9820-A088C9D61BFE}"/>
              </a:ext>
            </a:extLst>
          </p:cNvPr>
          <p:cNvSpPr txBox="1"/>
          <p:nvPr/>
        </p:nvSpPr>
        <p:spPr>
          <a:xfrm>
            <a:off x="2514284" y="1121300"/>
            <a:ext cx="4846300" cy="32650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ts val="1750"/>
              </a:lnSpc>
            </a:pPr>
            <a:r>
              <a:rPr lang="es-NI" sz="1700" b="1" spc="-15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RESEARCH QUESTIONS AND DATA</a:t>
            </a:r>
            <a:endParaRPr lang="en-US" sz="1700" b="1" spc="-15" dirty="0">
              <a:solidFill>
                <a:schemeClr val="tx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DE2C3D-E347-5EBC-78CA-1D16064C1185}"/>
              </a:ext>
            </a:extLst>
          </p:cNvPr>
          <p:cNvSpPr txBox="1"/>
          <p:nvPr/>
        </p:nvSpPr>
        <p:spPr>
          <a:xfrm>
            <a:off x="2514284" y="1575725"/>
            <a:ext cx="6334441" cy="541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How can we predict partisan animosity and favorability?</a:t>
            </a:r>
          </a:p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ANES (American National Election Studies) dataset</a:t>
            </a:r>
          </a:p>
        </p:txBody>
      </p:sp>
      <p:sp>
        <p:nvSpPr>
          <p:cNvPr id="9" name="Freeform 64">
            <a:extLst>
              <a:ext uri="{FF2B5EF4-FFF2-40B4-BE49-F238E27FC236}">
                <a16:creationId xmlns:a16="http://schemas.microsoft.com/office/drawing/2014/main" id="{687882F6-A445-6C00-C663-6FF7F60A07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154" y="2976731"/>
            <a:ext cx="915745" cy="865318"/>
          </a:xfrm>
          <a:custGeom>
            <a:avLst/>
            <a:gdLst>
              <a:gd name="T0" fmla="*/ 651639 w 2003"/>
              <a:gd name="T1" fmla="*/ 477662 h 1892"/>
              <a:gd name="T2" fmla="*/ 651639 w 2003"/>
              <a:gd name="T3" fmla="*/ 477662 h 1892"/>
              <a:gd name="T4" fmla="*/ 680425 w 2003"/>
              <a:gd name="T5" fmla="*/ 340519 h 1892"/>
              <a:gd name="T6" fmla="*/ 680425 w 2003"/>
              <a:gd name="T7" fmla="*/ 340519 h 1892"/>
              <a:gd name="T8" fmla="*/ 340392 w 2003"/>
              <a:gd name="T9" fmla="*/ 0 h 1892"/>
              <a:gd name="T10" fmla="*/ 340392 w 2003"/>
              <a:gd name="T11" fmla="*/ 0 h 1892"/>
              <a:gd name="T12" fmla="*/ 0 w 2003"/>
              <a:gd name="T13" fmla="*/ 340519 h 1892"/>
              <a:gd name="T14" fmla="*/ 0 w 2003"/>
              <a:gd name="T15" fmla="*/ 340519 h 1892"/>
              <a:gd name="T16" fmla="*/ 340392 w 2003"/>
              <a:gd name="T17" fmla="*/ 680677 h 1892"/>
              <a:gd name="T18" fmla="*/ 340392 w 2003"/>
              <a:gd name="T19" fmla="*/ 680677 h 1892"/>
              <a:gd name="T20" fmla="*/ 562763 w 2003"/>
              <a:gd name="T21" fmla="*/ 597527 h 1892"/>
              <a:gd name="T22" fmla="*/ 720365 w 2003"/>
              <a:gd name="T23" fmla="*/ 651161 h 1892"/>
              <a:gd name="T24" fmla="*/ 651639 w 2003"/>
              <a:gd name="T25" fmla="*/ 477662 h 189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2003" h="1892">
                <a:moveTo>
                  <a:pt x="1811" y="1327"/>
                </a:moveTo>
                <a:lnTo>
                  <a:pt x="1811" y="1327"/>
                </a:lnTo>
                <a:cubicBezTo>
                  <a:pt x="1862" y="1210"/>
                  <a:pt x="1891" y="1081"/>
                  <a:pt x="1891" y="946"/>
                </a:cubicBezTo>
                <a:cubicBezTo>
                  <a:pt x="1891" y="423"/>
                  <a:pt x="1468" y="0"/>
                  <a:pt x="946" y="0"/>
                </a:cubicBezTo>
                <a:cubicBezTo>
                  <a:pt x="424" y="0"/>
                  <a:pt x="0" y="423"/>
                  <a:pt x="0" y="946"/>
                </a:cubicBezTo>
                <a:cubicBezTo>
                  <a:pt x="0" y="1467"/>
                  <a:pt x="424" y="1891"/>
                  <a:pt x="946" y="1891"/>
                </a:cubicBezTo>
                <a:cubicBezTo>
                  <a:pt x="1182" y="1891"/>
                  <a:pt x="1398" y="1804"/>
                  <a:pt x="1564" y="1660"/>
                </a:cubicBezTo>
                <a:lnTo>
                  <a:pt x="2002" y="1809"/>
                </a:lnTo>
                <a:lnTo>
                  <a:pt x="1811" y="1327"/>
                </a:ln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10" name="Freeform 65">
            <a:extLst>
              <a:ext uri="{FF2B5EF4-FFF2-40B4-BE49-F238E27FC236}">
                <a16:creationId xmlns:a16="http://schemas.microsoft.com/office/drawing/2014/main" id="{DC179773-61FB-0B1B-E960-A1F4FA286B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804" y="3019089"/>
            <a:ext cx="40341" cy="8653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0BAF50-CCCA-E5EF-4231-0F9B6A6451BC}"/>
              </a:ext>
            </a:extLst>
          </p:cNvPr>
          <p:cNvSpPr txBox="1"/>
          <p:nvPr/>
        </p:nvSpPr>
        <p:spPr>
          <a:xfrm>
            <a:off x="2514284" y="2979455"/>
            <a:ext cx="3048839" cy="32650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ts val="1750"/>
              </a:lnSpc>
            </a:pPr>
            <a:r>
              <a:rPr lang="es-NI" sz="1700" b="1" spc="-15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METHODS</a:t>
            </a:r>
            <a:endParaRPr lang="en-US" sz="1700" b="1" spc="-15" dirty="0">
              <a:solidFill>
                <a:schemeClr val="tx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EF350D-DC6F-C257-D72A-E0E209AA06C0}"/>
              </a:ext>
            </a:extLst>
          </p:cNvPr>
          <p:cNvSpPr txBox="1"/>
          <p:nvPr/>
        </p:nvSpPr>
        <p:spPr>
          <a:xfrm>
            <a:off x="2514284" y="3337850"/>
            <a:ext cx="7763191" cy="541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b="1" spc="-35" dirty="0">
                <a:solidFill>
                  <a:srgbClr val="03548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Study 1: Text mining analysis to predict partisan favorability and animosity</a:t>
            </a:r>
          </a:p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b="1" spc="-35" dirty="0">
                <a:latin typeface="Poppins" panose="00000500000000000000" pitchFamily="2" charset="0"/>
                <a:cs typeface="Poppins" panose="00000500000000000000" pitchFamily="2" charset="0"/>
              </a:rPr>
              <a:t>Study 2: </a:t>
            </a: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Who responds to open-ended questions on the parties? </a:t>
            </a:r>
          </a:p>
        </p:txBody>
      </p:sp>
      <p:sp>
        <p:nvSpPr>
          <p:cNvPr id="13" name="Freeform 64">
            <a:extLst>
              <a:ext uri="{FF2B5EF4-FFF2-40B4-BE49-F238E27FC236}">
                <a16:creationId xmlns:a16="http://schemas.microsoft.com/office/drawing/2014/main" id="{BF43DD5E-AA2D-0384-4AC2-E8100FEFF8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154" y="4708079"/>
            <a:ext cx="915745" cy="865318"/>
          </a:xfrm>
          <a:custGeom>
            <a:avLst/>
            <a:gdLst>
              <a:gd name="T0" fmla="*/ 651639 w 2003"/>
              <a:gd name="T1" fmla="*/ 477662 h 1892"/>
              <a:gd name="T2" fmla="*/ 651639 w 2003"/>
              <a:gd name="T3" fmla="*/ 477662 h 1892"/>
              <a:gd name="T4" fmla="*/ 680425 w 2003"/>
              <a:gd name="T5" fmla="*/ 340519 h 1892"/>
              <a:gd name="T6" fmla="*/ 680425 w 2003"/>
              <a:gd name="T7" fmla="*/ 340519 h 1892"/>
              <a:gd name="T8" fmla="*/ 340392 w 2003"/>
              <a:gd name="T9" fmla="*/ 0 h 1892"/>
              <a:gd name="T10" fmla="*/ 340392 w 2003"/>
              <a:gd name="T11" fmla="*/ 0 h 1892"/>
              <a:gd name="T12" fmla="*/ 0 w 2003"/>
              <a:gd name="T13" fmla="*/ 340519 h 1892"/>
              <a:gd name="T14" fmla="*/ 0 w 2003"/>
              <a:gd name="T15" fmla="*/ 340519 h 1892"/>
              <a:gd name="T16" fmla="*/ 340392 w 2003"/>
              <a:gd name="T17" fmla="*/ 680677 h 1892"/>
              <a:gd name="T18" fmla="*/ 340392 w 2003"/>
              <a:gd name="T19" fmla="*/ 680677 h 1892"/>
              <a:gd name="T20" fmla="*/ 562763 w 2003"/>
              <a:gd name="T21" fmla="*/ 597527 h 1892"/>
              <a:gd name="T22" fmla="*/ 720365 w 2003"/>
              <a:gd name="T23" fmla="*/ 651161 h 1892"/>
              <a:gd name="T24" fmla="*/ 651639 w 2003"/>
              <a:gd name="T25" fmla="*/ 477662 h 189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2003" h="1892">
                <a:moveTo>
                  <a:pt x="1811" y="1327"/>
                </a:moveTo>
                <a:lnTo>
                  <a:pt x="1811" y="1327"/>
                </a:lnTo>
                <a:cubicBezTo>
                  <a:pt x="1862" y="1210"/>
                  <a:pt x="1891" y="1081"/>
                  <a:pt x="1891" y="946"/>
                </a:cubicBezTo>
                <a:cubicBezTo>
                  <a:pt x="1891" y="423"/>
                  <a:pt x="1468" y="0"/>
                  <a:pt x="946" y="0"/>
                </a:cubicBezTo>
                <a:cubicBezTo>
                  <a:pt x="424" y="0"/>
                  <a:pt x="0" y="423"/>
                  <a:pt x="0" y="946"/>
                </a:cubicBezTo>
                <a:cubicBezTo>
                  <a:pt x="0" y="1467"/>
                  <a:pt x="424" y="1891"/>
                  <a:pt x="946" y="1891"/>
                </a:cubicBezTo>
                <a:cubicBezTo>
                  <a:pt x="1182" y="1891"/>
                  <a:pt x="1398" y="1804"/>
                  <a:pt x="1564" y="1660"/>
                </a:cubicBezTo>
                <a:lnTo>
                  <a:pt x="2002" y="1809"/>
                </a:lnTo>
                <a:lnTo>
                  <a:pt x="1811" y="1327"/>
                </a:ln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14" name="Freeform 65">
            <a:extLst>
              <a:ext uri="{FF2B5EF4-FFF2-40B4-BE49-F238E27FC236}">
                <a16:creationId xmlns:a16="http://schemas.microsoft.com/office/drawing/2014/main" id="{501714AE-0BF5-9D83-64F4-AE9182DE2D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804" y="4750437"/>
            <a:ext cx="40341" cy="8653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BD90B38-C182-5204-9113-A5B5C67FB77B}"/>
              </a:ext>
            </a:extLst>
          </p:cNvPr>
          <p:cNvSpPr txBox="1"/>
          <p:nvPr/>
        </p:nvSpPr>
        <p:spPr>
          <a:xfrm>
            <a:off x="2514284" y="4710803"/>
            <a:ext cx="3048839" cy="32650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ts val="1750"/>
              </a:lnSpc>
            </a:pPr>
            <a:r>
              <a:rPr lang="es-NI" sz="1700" b="1" spc="-15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RESULTS</a:t>
            </a:r>
            <a:endParaRPr lang="en-US" sz="1700" b="1" spc="-15" dirty="0">
              <a:solidFill>
                <a:schemeClr val="tx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63358C-98CC-A2C8-49AA-103D8C368A15}"/>
              </a:ext>
            </a:extLst>
          </p:cNvPr>
          <p:cNvSpPr txBox="1"/>
          <p:nvPr/>
        </p:nvSpPr>
        <p:spPr>
          <a:xfrm>
            <a:off x="2514284" y="5069198"/>
            <a:ext cx="6191566" cy="772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Exploratory Data Analysis</a:t>
            </a:r>
            <a:endParaRPr lang="en-US" sz="1250" b="1" spc="-35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b="1" spc="-35" dirty="0">
                <a:latin typeface="Poppins" panose="00000500000000000000" pitchFamily="2" charset="0"/>
                <a:cs typeface="Poppins" panose="00000500000000000000" pitchFamily="2" charset="0"/>
              </a:rPr>
              <a:t>Study 1: </a:t>
            </a: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Text mining analysis to predict partisan favorability and animosity</a:t>
            </a:r>
          </a:p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b="1" spc="-35" dirty="0">
                <a:latin typeface="Poppins" panose="00000500000000000000" pitchFamily="2" charset="0"/>
                <a:cs typeface="Poppins" panose="00000500000000000000" pitchFamily="2" charset="0"/>
              </a:rPr>
              <a:t>Study 2: </a:t>
            </a: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Who responds to open-ended questions on the parties? </a:t>
            </a:r>
          </a:p>
        </p:txBody>
      </p:sp>
      <p:pic>
        <p:nvPicPr>
          <p:cNvPr id="2052" name="Picture 4" descr="Human Brain Thinking Icons - Free SVG &amp; PNG Human Brain Thinking Images -  Noun Project">
            <a:extLst>
              <a:ext uri="{FF2B5EF4-FFF2-40B4-BE49-F238E27FC236}">
                <a16:creationId xmlns:a16="http://schemas.microsoft.com/office/drawing/2014/main" id="{EEC6AA98-2D0C-DFC0-AA0A-D4DCC27942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470" y="1361234"/>
            <a:ext cx="533961" cy="533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Method And Gear Monotone Icon In Powerpoint Pptx Png And Editable Eps  Format PPT Sample">
            <a:extLst>
              <a:ext uri="{FF2B5EF4-FFF2-40B4-BE49-F238E27FC236}">
                <a16:creationId xmlns:a16="http://schemas.microsoft.com/office/drawing/2014/main" id="{0B1FF351-1724-1309-A307-FD720A4F4BC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 l="24921" t="21111" r="28595" b="9028"/>
          <a:stretch/>
        </p:blipFill>
        <p:spPr bwMode="auto">
          <a:xfrm>
            <a:off x="1068023" y="3113992"/>
            <a:ext cx="698854" cy="590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Icons for PowerPoint Presentations – Chart – Smiletemplates - download at  SmileTemplates.com">
            <a:extLst>
              <a:ext uri="{FF2B5EF4-FFF2-40B4-BE49-F238E27FC236}">
                <a16:creationId xmlns:a16="http://schemas.microsoft.com/office/drawing/2014/main" id="{66F3A31E-7480-ED79-6A59-C063FBAB06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/>
          <a:stretch/>
        </p:blipFill>
        <p:spPr bwMode="auto">
          <a:xfrm>
            <a:off x="971421" y="4816357"/>
            <a:ext cx="895665" cy="670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3594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7CBC5-486D-5069-1797-591F48C84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C6AA01DA-6629-07F1-F6B0-6187ECAD8F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71525" y="365129"/>
            <a:ext cx="10515600" cy="720721"/>
          </a:xfrm>
        </p:spPr>
        <p:txBody>
          <a:bodyPr>
            <a:noAutofit/>
          </a:bodyPr>
          <a:lstStyle/>
          <a:p>
            <a:r>
              <a:rPr lang="en-US" sz="2800" dirty="0"/>
              <a:t>Study 1: Text Mining Approach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4C8DEC-87E6-EC0F-0E8F-9FE0C273A094}"/>
              </a:ext>
            </a:extLst>
          </p:cNvPr>
          <p:cNvSpPr txBox="1"/>
          <p:nvPr/>
        </p:nvSpPr>
        <p:spPr>
          <a:xfrm>
            <a:off x="962025" y="1488103"/>
            <a:ext cx="1083945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/>
                </a:solidFill>
              </a:rPr>
              <a:t>Feeling thermometers </a:t>
            </a:r>
            <a:r>
              <a:rPr lang="en-US" sz="2000" dirty="0">
                <a:solidFill>
                  <a:srgbClr val="000000"/>
                </a:solidFill>
              </a:rPr>
              <a:t>were recoded into a 5-class scale: “highly unfavorable” (0–19), “unfavorable” (20–39), “neutral” (40–59), “favorable” (60–79), “highly favorable” (80–100) </a:t>
            </a:r>
          </a:p>
          <a:p>
            <a:pPr marL="800100" lvl="1" indent="-342900">
              <a:buSzPct val="80000"/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</a:rPr>
              <a:t>Clustering at the tails (0-19 and 80-100) motivates a more granular scale</a:t>
            </a:r>
          </a:p>
          <a:p>
            <a:pPr marL="800100" lvl="1" indent="-342900">
              <a:buSzPct val="80000"/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</a:rPr>
              <a:t>Separate models for Democrat and Republican thermometers</a:t>
            </a:r>
          </a:p>
          <a:p>
            <a:pPr marL="342900" indent="-342900">
              <a:buSzPct val="8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Three text mining methods: stemming, n-grams, skip-grams with consistent results across them</a:t>
            </a:r>
          </a:p>
          <a:p>
            <a:pPr marL="342900" indent="-342900">
              <a:buSzPct val="800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/>
                </a:solidFill>
              </a:rPr>
              <a:t>Skip-grams</a:t>
            </a:r>
            <a:r>
              <a:rPr lang="en-US" sz="2000" dirty="0">
                <a:solidFill>
                  <a:srgbClr val="000000"/>
                </a:solidFill>
              </a:rPr>
              <a:t> selected as primary method due to better sentiment handling (negation, within-sentence connections), and robustness to conversational language</a:t>
            </a:r>
          </a:p>
          <a:p>
            <a:pPr marL="342900" indent="-342900">
              <a:buSzPct val="800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/>
                </a:solidFill>
              </a:rPr>
              <a:t>Multinomial LASSO </a:t>
            </a:r>
            <a:r>
              <a:rPr lang="en-US" sz="2000" dirty="0">
                <a:solidFill>
                  <a:srgbClr val="000000"/>
                </a:solidFill>
              </a:rPr>
              <a:t>with year fixed effects used for variable selection (~100-150 terms per model) followed by </a:t>
            </a:r>
            <a:r>
              <a:rPr lang="en-US" sz="2000" b="1" dirty="0">
                <a:solidFill>
                  <a:srgbClr val="000000"/>
                </a:solidFill>
              </a:rPr>
              <a:t>Relaxed LASSO (GLM) </a:t>
            </a:r>
            <a:r>
              <a:rPr lang="en-US" sz="2000" dirty="0">
                <a:solidFill>
                  <a:srgbClr val="000000"/>
                </a:solidFill>
              </a:rPr>
              <a:t>on LASSO-selected terms</a:t>
            </a:r>
            <a:endParaRPr lang="en-US" sz="2000" b="1" dirty="0">
              <a:solidFill>
                <a:srgbClr val="00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79B649-2557-5A23-FF86-A07E85599586}"/>
              </a:ext>
            </a:extLst>
          </p:cNvPr>
          <p:cNvSpPr txBox="1"/>
          <p:nvPr/>
        </p:nvSpPr>
        <p:spPr>
          <a:xfrm>
            <a:off x="962025" y="4833640"/>
            <a:ext cx="105155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SzPct val="800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/>
                </a:solidFill>
              </a:rPr>
              <a:t>Partisan stratification: </a:t>
            </a:r>
            <a:r>
              <a:rPr lang="en-US" sz="2000" dirty="0">
                <a:solidFill>
                  <a:srgbClr val="000000"/>
                </a:solidFill>
              </a:rPr>
              <a:t>Analyses conducted on full sample, though partisan stratification (only Republicans rating Democrats, only Democrats rating Republicans) provided consistent results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/>
                </a:solidFill>
                <a:sym typeface="Wingdings" panose="05000000000000000000" pitchFamily="2" charset="2"/>
              </a:rPr>
              <a:t>CSES party liking scale: </a:t>
            </a:r>
            <a:r>
              <a:rPr lang="en-US" sz="2000" dirty="0">
                <a:solidFill>
                  <a:srgbClr val="000000"/>
                </a:solidFill>
                <a:sym typeface="Wingdings" panose="05000000000000000000" pitchFamily="2" charset="2"/>
              </a:rPr>
              <a:t>Top predictors provided substantively consistent results with thermometer models 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E6E43A-2CF2-57EC-0059-04869B6329BA}"/>
              </a:ext>
            </a:extLst>
          </p:cNvPr>
          <p:cNvSpPr txBox="1"/>
          <p:nvPr/>
        </p:nvSpPr>
        <p:spPr>
          <a:xfrm>
            <a:off x="962026" y="4371975"/>
            <a:ext cx="102679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000000"/>
                </a:solidFill>
              </a:rPr>
              <a:t>Robustness checks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CE3DF6-B675-48BE-EFE6-DAD8E018A779}"/>
              </a:ext>
            </a:extLst>
          </p:cNvPr>
          <p:cNvSpPr txBox="1"/>
          <p:nvPr/>
        </p:nvSpPr>
        <p:spPr>
          <a:xfrm>
            <a:off x="962026" y="1004888"/>
            <a:ext cx="102679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000000"/>
                </a:solidFill>
              </a:rPr>
              <a:t>Study Design</a:t>
            </a:r>
          </a:p>
        </p:txBody>
      </p:sp>
    </p:spTree>
    <p:extLst>
      <p:ext uri="{BB962C8B-B14F-4D97-AF65-F5344CB8AC3E}">
        <p14:creationId xmlns:p14="http://schemas.microsoft.com/office/powerpoint/2010/main" val="586780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16B3A-8AA8-FFD1-2CFC-90EB8A560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70205225-52BC-173C-A57A-FEC73C9D0E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71525" y="365129"/>
            <a:ext cx="10515600" cy="720721"/>
          </a:xfrm>
        </p:spPr>
        <p:txBody>
          <a:bodyPr>
            <a:noAutofit/>
          </a:bodyPr>
          <a:lstStyle/>
          <a:p>
            <a:r>
              <a:rPr lang="en-US" sz="2800" dirty="0"/>
              <a:t>Agenda</a:t>
            </a:r>
          </a:p>
        </p:txBody>
      </p:sp>
      <p:sp>
        <p:nvSpPr>
          <p:cNvPr id="3" name="Freeform 64">
            <a:extLst>
              <a:ext uri="{FF2B5EF4-FFF2-40B4-BE49-F238E27FC236}">
                <a16:creationId xmlns:a16="http://schemas.microsoft.com/office/drawing/2014/main" id="{6E8A1F86-9297-6CEA-EC6D-08AE15DBB2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154" y="1214606"/>
            <a:ext cx="915745" cy="865318"/>
          </a:xfrm>
          <a:custGeom>
            <a:avLst/>
            <a:gdLst>
              <a:gd name="T0" fmla="*/ 651639 w 2003"/>
              <a:gd name="T1" fmla="*/ 477662 h 1892"/>
              <a:gd name="T2" fmla="*/ 651639 w 2003"/>
              <a:gd name="T3" fmla="*/ 477662 h 1892"/>
              <a:gd name="T4" fmla="*/ 680425 w 2003"/>
              <a:gd name="T5" fmla="*/ 340519 h 1892"/>
              <a:gd name="T6" fmla="*/ 680425 w 2003"/>
              <a:gd name="T7" fmla="*/ 340519 h 1892"/>
              <a:gd name="T8" fmla="*/ 340392 w 2003"/>
              <a:gd name="T9" fmla="*/ 0 h 1892"/>
              <a:gd name="T10" fmla="*/ 340392 w 2003"/>
              <a:gd name="T11" fmla="*/ 0 h 1892"/>
              <a:gd name="T12" fmla="*/ 0 w 2003"/>
              <a:gd name="T13" fmla="*/ 340519 h 1892"/>
              <a:gd name="T14" fmla="*/ 0 w 2003"/>
              <a:gd name="T15" fmla="*/ 340519 h 1892"/>
              <a:gd name="T16" fmla="*/ 340392 w 2003"/>
              <a:gd name="T17" fmla="*/ 680677 h 1892"/>
              <a:gd name="T18" fmla="*/ 340392 w 2003"/>
              <a:gd name="T19" fmla="*/ 680677 h 1892"/>
              <a:gd name="T20" fmla="*/ 562763 w 2003"/>
              <a:gd name="T21" fmla="*/ 597527 h 1892"/>
              <a:gd name="T22" fmla="*/ 720365 w 2003"/>
              <a:gd name="T23" fmla="*/ 651161 h 1892"/>
              <a:gd name="T24" fmla="*/ 651639 w 2003"/>
              <a:gd name="T25" fmla="*/ 477662 h 189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2003" h="1892">
                <a:moveTo>
                  <a:pt x="1811" y="1327"/>
                </a:moveTo>
                <a:lnTo>
                  <a:pt x="1811" y="1327"/>
                </a:lnTo>
                <a:cubicBezTo>
                  <a:pt x="1862" y="1210"/>
                  <a:pt x="1891" y="1081"/>
                  <a:pt x="1891" y="946"/>
                </a:cubicBezTo>
                <a:cubicBezTo>
                  <a:pt x="1891" y="423"/>
                  <a:pt x="1468" y="0"/>
                  <a:pt x="946" y="0"/>
                </a:cubicBezTo>
                <a:cubicBezTo>
                  <a:pt x="424" y="0"/>
                  <a:pt x="0" y="423"/>
                  <a:pt x="0" y="946"/>
                </a:cubicBezTo>
                <a:cubicBezTo>
                  <a:pt x="0" y="1467"/>
                  <a:pt x="424" y="1891"/>
                  <a:pt x="946" y="1891"/>
                </a:cubicBezTo>
                <a:cubicBezTo>
                  <a:pt x="1182" y="1891"/>
                  <a:pt x="1398" y="1804"/>
                  <a:pt x="1564" y="1660"/>
                </a:cubicBezTo>
                <a:lnTo>
                  <a:pt x="2002" y="1809"/>
                </a:lnTo>
                <a:lnTo>
                  <a:pt x="1811" y="1327"/>
                </a:ln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4" name="Freeform 65">
            <a:extLst>
              <a:ext uri="{FF2B5EF4-FFF2-40B4-BE49-F238E27FC236}">
                <a16:creationId xmlns:a16="http://schemas.microsoft.com/office/drawing/2014/main" id="{5E16F592-EB04-A08B-84B3-AE219B189E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804" y="1256964"/>
            <a:ext cx="40341" cy="8653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CE4049-E9A1-47E4-4019-1C2416CA4FC1}"/>
              </a:ext>
            </a:extLst>
          </p:cNvPr>
          <p:cNvSpPr txBox="1"/>
          <p:nvPr/>
        </p:nvSpPr>
        <p:spPr>
          <a:xfrm>
            <a:off x="2514284" y="1121300"/>
            <a:ext cx="4846300" cy="32650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ts val="1750"/>
              </a:lnSpc>
            </a:pPr>
            <a:r>
              <a:rPr lang="es-NI" sz="1700" b="1" spc="-15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RESEARCH QUESTIONS AND DATA</a:t>
            </a:r>
            <a:endParaRPr lang="en-US" sz="1700" b="1" spc="-15" dirty="0">
              <a:solidFill>
                <a:schemeClr val="tx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C2B296-454B-AB32-F94E-372A5DE98672}"/>
              </a:ext>
            </a:extLst>
          </p:cNvPr>
          <p:cNvSpPr txBox="1"/>
          <p:nvPr/>
        </p:nvSpPr>
        <p:spPr>
          <a:xfrm>
            <a:off x="2514284" y="1575725"/>
            <a:ext cx="6334441" cy="541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How can we predict partisan animosity and favorability?</a:t>
            </a:r>
          </a:p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ANES (American National Election Studies) dataset</a:t>
            </a:r>
          </a:p>
        </p:txBody>
      </p:sp>
      <p:sp>
        <p:nvSpPr>
          <p:cNvPr id="9" name="Freeform 64">
            <a:extLst>
              <a:ext uri="{FF2B5EF4-FFF2-40B4-BE49-F238E27FC236}">
                <a16:creationId xmlns:a16="http://schemas.microsoft.com/office/drawing/2014/main" id="{841762B1-3267-A89E-A46D-01FFE9AAA1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154" y="2976731"/>
            <a:ext cx="915745" cy="865318"/>
          </a:xfrm>
          <a:custGeom>
            <a:avLst/>
            <a:gdLst>
              <a:gd name="T0" fmla="*/ 651639 w 2003"/>
              <a:gd name="T1" fmla="*/ 477662 h 1892"/>
              <a:gd name="T2" fmla="*/ 651639 w 2003"/>
              <a:gd name="T3" fmla="*/ 477662 h 1892"/>
              <a:gd name="T4" fmla="*/ 680425 w 2003"/>
              <a:gd name="T5" fmla="*/ 340519 h 1892"/>
              <a:gd name="T6" fmla="*/ 680425 w 2003"/>
              <a:gd name="T7" fmla="*/ 340519 h 1892"/>
              <a:gd name="T8" fmla="*/ 340392 w 2003"/>
              <a:gd name="T9" fmla="*/ 0 h 1892"/>
              <a:gd name="T10" fmla="*/ 340392 w 2003"/>
              <a:gd name="T11" fmla="*/ 0 h 1892"/>
              <a:gd name="T12" fmla="*/ 0 w 2003"/>
              <a:gd name="T13" fmla="*/ 340519 h 1892"/>
              <a:gd name="T14" fmla="*/ 0 w 2003"/>
              <a:gd name="T15" fmla="*/ 340519 h 1892"/>
              <a:gd name="T16" fmla="*/ 340392 w 2003"/>
              <a:gd name="T17" fmla="*/ 680677 h 1892"/>
              <a:gd name="T18" fmla="*/ 340392 w 2003"/>
              <a:gd name="T19" fmla="*/ 680677 h 1892"/>
              <a:gd name="T20" fmla="*/ 562763 w 2003"/>
              <a:gd name="T21" fmla="*/ 597527 h 1892"/>
              <a:gd name="T22" fmla="*/ 720365 w 2003"/>
              <a:gd name="T23" fmla="*/ 651161 h 1892"/>
              <a:gd name="T24" fmla="*/ 651639 w 2003"/>
              <a:gd name="T25" fmla="*/ 477662 h 189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2003" h="1892">
                <a:moveTo>
                  <a:pt x="1811" y="1327"/>
                </a:moveTo>
                <a:lnTo>
                  <a:pt x="1811" y="1327"/>
                </a:lnTo>
                <a:cubicBezTo>
                  <a:pt x="1862" y="1210"/>
                  <a:pt x="1891" y="1081"/>
                  <a:pt x="1891" y="946"/>
                </a:cubicBezTo>
                <a:cubicBezTo>
                  <a:pt x="1891" y="423"/>
                  <a:pt x="1468" y="0"/>
                  <a:pt x="946" y="0"/>
                </a:cubicBezTo>
                <a:cubicBezTo>
                  <a:pt x="424" y="0"/>
                  <a:pt x="0" y="423"/>
                  <a:pt x="0" y="946"/>
                </a:cubicBezTo>
                <a:cubicBezTo>
                  <a:pt x="0" y="1467"/>
                  <a:pt x="424" y="1891"/>
                  <a:pt x="946" y="1891"/>
                </a:cubicBezTo>
                <a:cubicBezTo>
                  <a:pt x="1182" y="1891"/>
                  <a:pt x="1398" y="1804"/>
                  <a:pt x="1564" y="1660"/>
                </a:cubicBezTo>
                <a:lnTo>
                  <a:pt x="2002" y="1809"/>
                </a:lnTo>
                <a:lnTo>
                  <a:pt x="1811" y="1327"/>
                </a:ln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10" name="Freeform 65">
            <a:extLst>
              <a:ext uri="{FF2B5EF4-FFF2-40B4-BE49-F238E27FC236}">
                <a16:creationId xmlns:a16="http://schemas.microsoft.com/office/drawing/2014/main" id="{0F083DCA-5B9D-CBDA-C990-D2987F4151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804" y="3019089"/>
            <a:ext cx="40341" cy="8653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E18569-CBFF-36A4-56B2-CEFB0FB15B37}"/>
              </a:ext>
            </a:extLst>
          </p:cNvPr>
          <p:cNvSpPr txBox="1"/>
          <p:nvPr/>
        </p:nvSpPr>
        <p:spPr>
          <a:xfrm>
            <a:off x="2514284" y="2979455"/>
            <a:ext cx="3048839" cy="32650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ts val="1750"/>
              </a:lnSpc>
            </a:pPr>
            <a:r>
              <a:rPr lang="es-NI" sz="1700" b="1" spc="-15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METHODS</a:t>
            </a:r>
            <a:endParaRPr lang="en-US" sz="1700" b="1" spc="-15" dirty="0">
              <a:solidFill>
                <a:schemeClr val="tx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09552C-791D-C524-7940-BA20ED924DE0}"/>
              </a:ext>
            </a:extLst>
          </p:cNvPr>
          <p:cNvSpPr txBox="1"/>
          <p:nvPr/>
        </p:nvSpPr>
        <p:spPr>
          <a:xfrm>
            <a:off x="2514284" y="3337850"/>
            <a:ext cx="7763191" cy="541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b="1" spc="-35" dirty="0">
                <a:latin typeface="Poppins" panose="00000500000000000000" pitchFamily="2" charset="0"/>
                <a:cs typeface="Poppins" panose="00000500000000000000" pitchFamily="2" charset="0"/>
              </a:rPr>
              <a:t>Study 1: </a:t>
            </a: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Text mining analysis to predict partisan favorability and animosity</a:t>
            </a:r>
          </a:p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b="1" spc="-35" dirty="0">
                <a:solidFill>
                  <a:srgbClr val="03548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Study 2: Who responds to open-ended questions on the parties? </a:t>
            </a:r>
          </a:p>
        </p:txBody>
      </p:sp>
      <p:sp>
        <p:nvSpPr>
          <p:cNvPr id="13" name="Freeform 64">
            <a:extLst>
              <a:ext uri="{FF2B5EF4-FFF2-40B4-BE49-F238E27FC236}">
                <a16:creationId xmlns:a16="http://schemas.microsoft.com/office/drawing/2014/main" id="{09417C86-5D7A-EC63-FC40-B3ACD8127F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154" y="4708079"/>
            <a:ext cx="915745" cy="865318"/>
          </a:xfrm>
          <a:custGeom>
            <a:avLst/>
            <a:gdLst>
              <a:gd name="T0" fmla="*/ 651639 w 2003"/>
              <a:gd name="T1" fmla="*/ 477662 h 1892"/>
              <a:gd name="T2" fmla="*/ 651639 w 2003"/>
              <a:gd name="T3" fmla="*/ 477662 h 1892"/>
              <a:gd name="T4" fmla="*/ 680425 w 2003"/>
              <a:gd name="T5" fmla="*/ 340519 h 1892"/>
              <a:gd name="T6" fmla="*/ 680425 w 2003"/>
              <a:gd name="T7" fmla="*/ 340519 h 1892"/>
              <a:gd name="T8" fmla="*/ 340392 w 2003"/>
              <a:gd name="T9" fmla="*/ 0 h 1892"/>
              <a:gd name="T10" fmla="*/ 340392 w 2003"/>
              <a:gd name="T11" fmla="*/ 0 h 1892"/>
              <a:gd name="T12" fmla="*/ 0 w 2003"/>
              <a:gd name="T13" fmla="*/ 340519 h 1892"/>
              <a:gd name="T14" fmla="*/ 0 w 2003"/>
              <a:gd name="T15" fmla="*/ 340519 h 1892"/>
              <a:gd name="T16" fmla="*/ 340392 w 2003"/>
              <a:gd name="T17" fmla="*/ 680677 h 1892"/>
              <a:gd name="T18" fmla="*/ 340392 w 2003"/>
              <a:gd name="T19" fmla="*/ 680677 h 1892"/>
              <a:gd name="T20" fmla="*/ 562763 w 2003"/>
              <a:gd name="T21" fmla="*/ 597527 h 1892"/>
              <a:gd name="T22" fmla="*/ 720365 w 2003"/>
              <a:gd name="T23" fmla="*/ 651161 h 1892"/>
              <a:gd name="T24" fmla="*/ 651639 w 2003"/>
              <a:gd name="T25" fmla="*/ 477662 h 189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2003" h="1892">
                <a:moveTo>
                  <a:pt x="1811" y="1327"/>
                </a:moveTo>
                <a:lnTo>
                  <a:pt x="1811" y="1327"/>
                </a:lnTo>
                <a:cubicBezTo>
                  <a:pt x="1862" y="1210"/>
                  <a:pt x="1891" y="1081"/>
                  <a:pt x="1891" y="946"/>
                </a:cubicBezTo>
                <a:cubicBezTo>
                  <a:pt x="1891" y="423"/>
                  <a:pt x="1468" y="0"/>
                  <a:pt x="946" y="0"/>
                </a:cubicBezTo>
                <a:cubicBezTo>
                  <a:pt x="424" y="0"/>
                  <a:pt x="0" y="423"/>
                  <a:pt x="0" y="946"/>
                </a:cubicBezTo>
                <a:cubicBezTo>
                  <a:pt x="0" y="1467"/>
                  <a:pt x="424" y="1891"/>
                  <a:pt x="946" y="1891"/>
                </a:cubicBezTo>
                <a:cubicBezTo>
                  <a:pt x="1182" y="1891"/>
                  <a:pt x="1398" y="1804"/>
                  <a:pt x="1564" y="1660"/>
                </a:cubicBezTo>
                <a:lnTo>
                  <a:pt x="2002" y="1809"/>
                </a:lnTo>
                <a:lnTo>
                  <a:pt x="1811" y="1327"/>
                </a:ln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14" name="Freeform 65">
            <a:extLst>
              <a:ext uri="{FF2B5EF4-FFF2-40B4-BE49-F238E27FC236}">
                <a16:creationId xmlns:a16="http://schemas.microsoft.com/office/drawing/2014/main" id="{1B3DBCCB-25A7-8FE6-E7FD-E92CBC671C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804" y="4750437"/>
            <a:ext cx="40341" cy="8653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2D1B83-5D73-94F7-8409-079693F107FF}"/>
              </a:ext>
            </a:extLst>
          </p:cNvPr>
          <p:cNvSpPr txBox="1"/>
          <p:nvPr/>
        </p:nvSpPr>
        <p:spPr>
          <a:xfrm>
            <a:off x="2514284" y="4710803"/>
            <a:ext cx="3048839" cy="32650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ts val="1750"/>
              </a:lnSpc>
            </a:pPr>
            <a:r>
              <a:rPr lang="es-NI" sz="1700" b="1" spc="-15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RESULTS</a:t>
            </a:r>
            <a:endParaRPr lang="en-US" sz="1700" b="1" spc="-15" dirty="0">
              <a:solidFill>
                <a:schemeClr val="tx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C86BBE-CAA8-EF86-0CCA-964CBBC171F6}"/>
              </a:ext>
            </a:extLst>
          </p:cNvPr>
          <p:cNvSpPr txBox="1"/>
          <p:nvPr/>
        </p:nvSpPr>
        <p:spPr>
          <a:xfrm>
            <a:off x="2514284" y="5069198"/>
            <a:ext cx="6191566" cy="772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Exploratory Data Analysis</a:t>
            </a:r>
            <a:endParaRPr lang="en-US" sz="1250" b="1" spc="-35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b="1" spc="-35" dirty="0">
                <a:latin typeface="Poppins" panose="00000500000000000000" pitchFamily="2" charset="0"/>
                <a:cs typeface="Poppins" panose="00000500000000000000" pitchFamily="2" charset="0"/>
              </a:rPr>
              <a:t>Study 1: </a:t>
            </a: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Text mining analysis to predict partisan favorability and animosity</a:t>
            </a:r>
          </a:p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b="1" spc="-35" dirty="0">
                <a:latin typeface="Poppins" panose="00000500000000000000" pitchFamily="2" charset="0"/>
                <a:cs typeface="Poppins" panose="00000500000000000000" pitchFamily="2" charset="0"/>
              </a:rPr>
              <a:t>Study 2: </a:t>
            </a: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Who responds to open-ended questions on the parties? </a:t>
            </a:r>
          </a:p>
        </p:txBody>
      </p:sp>
      <p:pic>
        <p:nvPicPr>
          <p:cNvPr id="2052" name="Picture 4" descr="Human Brain Thinking Icons - Free SVG &amp; PNG Human Brain Thinking Images -  Noun Project">
            <a:extLst>
              <a:ext uri="{FF2B5EF4-FFF2-40B4-BE49-F238E27FC236}">
                <a16:creationId xmlns:a16="http://schemas.microsoft.com/office/drawing/2014/main" id="{5DB58D1C-FC5C-8502-7484-73EF9FE991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470" y="1361234"/>
            <a:ext cx="533961" cy="533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Method And Gear Monotone Icon In Powerpoint Pptx Png And Editable Eps  Format PPT Sample">
            <a:extLst>
              <a:ext uri="{FF2B5EF4-FFF2-40B4-BE49-F238E27FC236}">
                <a16:creationId xmlns:a16="http://schemas.microsoft.com/office/drawing/2014/main" id="{726BFE2D-D097-63EB-E4F4-FE2460EFF4A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 l="24921" t="21111" r="28595" b="9028"/>
          <a:stretch/>
        </p:blipFill>
        <p:spPr bwMode="auto">
          <a:xfrm>
            <a:off x="1068023" y="3113992"/>
            <a:ext cx="698854" cy="590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Icons for PowerPoint Presentations – Chart – Smiletemplates - download at  SmileTemplates.com">
            <a:extLst>
              <a:ext uri="{FF2B5EF4-FFF2-40B4-BE49-F238E27FC236}">
                <a16:creationId xmlns:a16="http://schemas.microsoft.com/office/drawing/2014/main" id="{C241241C-E6B7-8489-1D8C-1FA54412F7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/>
          <a:stretch/>
        </p:blipFill>
        <p:spPr bwMode="auto">
          <a:xfrm>
            <a:off x="971421" y="4816357"/>
            <a:ext cx="895665" cy="670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54115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45882-6A1C-D05F-DE01-8453C9AD5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F76909BD-11BF-E16A-5917-9D92D3A6B2F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71525" y="365129"/>
            <a:ext cx="10515600" cy="720721"/>
          </a:xfrm>
        </p:spPr>
        <p:txBody>
          <a:bodyPr>
            <a:noAutofit/>
          </a:bodyPr>
          <a:lstStyle/>
          <a:p>
            <a:r>
              <a:rPr lang="en-US" sz="2800" dirty="0"/>
              <a:t>Study 2: Open-ended Response Predictors Approach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6F335F-64E2-888B-4BDA-92E025792613}"/>
              </a:ext>
            </a:extLst>
          </p:cNvPr>
          <p:cNvSpPr txBox="1"/>
          <p:nvPr/>
        </p:nvSpPr>
        <p:spPr>
          <a:xfrm>
            <a:off x="962025" y="1469053"/>
            <a:ext cx="1083945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/>
                </a:solidFill>
              </a:rPr>
              <a:t>Whether a respondent provided open-ended text</a:t>
            </a:r>
            <a:r>
              <a:rPr lang="en-US" sz="2000" dirty="0">
                <a:solidFill>
                  <a:srgbClr val="000000"/>
                </a:solidFill>
              </a:rPr>
              <a:t>, coded a binary (1 = provided text, 0 = did not respond or provided no usable text)</a:t>
            </a:r>
          </a:p>
          <a:p>
            <a:pPr marL="800100" lvl="1" indent="-342900">
              <a:buSzPct val="80000"/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</a:rPr>
              <a:t>Four separate outcomes: Democrat likes, Democrat dislikes, Republican likes, Republican dislikes </a:t>
            </a:r>
          </a:p>
          <a:p>
            <a:pPr marL="342900" indent="-342900">
              <a:buSzPct val="800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/>
                </a:solidFill>
              </a:rPr>
              <a:t>Candidate Predictors: </a:t>
            </a:r>
            <a:r>
              <a:rPr lang="en-US" sz="2000" dirty="0">
                <a:solidFill>
                  <a:srgbClr val="000000"/>
                </a:solidFill>
              </a:rPr>
              <a:t>Demographics and participant characteristics (party ID, ideology, age, gender, race/ethnicity, education, region, thermometer ratings)</a:t>
            </a:r>
          </a:p>
          <a:p>
            <a:pPr marL="800100" lvl="1" indent="-342900">
              <a:buSzPct val="80000"/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</a:rPr>
              <a:t>Dropped collinear predictors (e.g., age cohort) and items not asked every survey year</a:t>
            </a:r>
          </a:p>
          <a:p>
            <a:pPr marL="342900" indent="-342900">
              <a:buSzPct val="800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/>
                </a:solidFill>
              </a:rPr>
              <a:t>Binomial LASSO </a:t>
            </a:r>
            <a:r>
              <a:rPr lang="en-US" sz="2000" dirty="0">
                <a:solidFill>
                  <a:srgbClr val="000000"/>
                </a:solidFill>
              </a:rPr>
              <a:t>with year fixed effects used for variable selection, followed by </a:t>
            </a:r>
            <a:r>
              <a:rPr lang="en-US" sz="2000" b="1" dirty="0">
                <a:solidFill>
                  <a:srgbClr val="000000"/>
                </a:solidFill>
              </a:rPr>
              <a:t>Relaxed LASSO (GLM) </a:t>
            </a:r>
            <a:r>
              <a:rPr lang="en-US" sz="2000" dirty="0">
                <a:solidFill>
                  <a:srgbClr val="000000"/>
                </a:solidFill>
              </a:rPr>
              <a:t>with year-clustered errors on LASSO-selected terms</a:t>
            </a:r>
          </a:p>
          <a:p>
            <a:pPr marL="342900" indent="-342900">
              <a:buSzPct val="800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/>
                </a:solidFill>
              </a:rPr>
              <a:t>Key motivation: </a:t>
            </a:r>
            <a:r>
              <a:rPr lang="en-US" sz="2000" dirty="0">
                <a:solidFill>
                  <a:srgbClr val="000000"/>
                </a:solidFill>
              </a:rPr>
              <a:t>Understand whether ~40-60% non-response rate is non-random; who responds will inform selection bias for Study 1</a:t>
            </a:r>
            <a:endParaRPr lang="en-US" sz="2000" b="1" dirty="0">
              <a:solidFill>
                <a:srgbClr val="00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04FD9B-0C86-3236-E904-8454BAC8CCDE}"/>
              </a:ext>
            </a:extLst>
          </p:cNvPr>
          <p:cNvSpPr txBox="1"/>
          <p:nvPr/>
        </p:nvSpPr>
        <p:spPr>
          <a:xfrm>
            <a:off x="962025" y="5368231"/>
            <a:ext cx="105155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SzPct val="800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/>
                </a:solidFill>
              </a:rPr>
              <a:t>Pooled outcome: </a:t>
            </a:r>
            <a:r>
              <a:rPr lang="en-US" sz="2000" dirty="0">
                <a:solidFill>
                  <a:srgbClr val="000000"/>
                </a:solidFill>
              </a:rPr>
              <a:t>Single binary outcome (provided text of any of the four items) results in consistent predictors to main study, supporting that results are not item-specific noise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75585D-4632-CC1C-A5A3-772AD32F37D2}"/>
              </a:ext>
            </a:extLst>
          </p:cNvPr>
          <p:cNvSpPr txBox="1"/>
          <p:nvPr/>
        </p:nvSpPr>
        <p:spPr>
          <a:xfrm>
            <a:off x="962026" y="4906566"/>
            <a:ext cx="102679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000000"/>
                </a:solidFill>
              </a:rPr>
              <a:t>Robustness check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6DC311-93C2-EC3D-DC81-C011B59D9D9F}"/>
              </a:ext>
            </a:extLst>
          </p:cNvPr>
          <p:cNvSpPr txBox="1"/>
          <p:nvPr/>
        </p:nvSpPr>
        <p:spPr>
          <a:xfrm>
            <a:off x="962026" y="985838"/>
            <a:ext cx="102679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000000"/>
                </a:solidFill>
              </a:rPr>
              <a:t>Study Design</a:t>
            </a:r>
          </a:p>
        </p:txBody>
      </p:sp>
    </p:spTree>
    <p:extLst>
      <p:ext uri="{BB962C8B-B14F-4D97-AF65-F5344CB8AC3E}">
        <p14:creationId xmlns:p14="http://schemas.microsoft.com/office/powerpoint/2010/main" val="84893438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08992-5826-76F3-1C52-C4E550A17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2248B0C0-2AA4-A283-9CCF-8D5A1A1793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71525" y="365129"/>
            <a:ext cx="10515600" cy="720721"/>
          </a:xfrm>
        </p:spPr>
        <p:txBody>
          <a:bodyPr>
            <a:noAutofit/>
          </a:bodyPr>
          <a:lstStyle/>
          <a:p>
            <a:r>
              <a:rPr lang="en-US" sz="2800" dirty="0"/>
              <a:t>Agenda</a:t>
            </a:r>
          </a:p>
        </p:txBody>
      </p:sp>
      <p:sp>
        <p:nvSpPr>
          <p:cNvPr id="3" name="Freeform 64">
            <a:extLst>
              <a:ext uri="{FF2B5EF4-FFF2-40B4-BE49-F238E27FC236}">
                <a16:creationId xmlns:a16="http://schemas.microsoft.com/office/drawing/2014/main" id="{A8B7994F-5B15-5C28-E11C-BA928355FD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154" y="1214606"/>
            <a:ext cx="915745" cy="865318"/>
          </a:xfrm>
          <a:custGeom>
            <a:avLst/>
            <a:gdLst>
              <a:gd name="T0" fmla="*/ 651639 w 2003"/>
              <a:gd name="T1" fmla="*/ 477662 h 1892"/>
              <a:gd name="T2" fmla="*/ 651639 w 2003"/>
              <a:gd name="T3" fmla="*/ 477662 h 1892"/>
              <a:gd name="T4" fmla="*/ 680425 w 2003"/>
              <a:gd name="T5" fmla="*/ 340519 h 1892"/>
              <a:gd name="T6" fmla="*/ 680425 w 2003"/>
              <a:gd name="T7" fmla="*/ 340519 h 1892"/>
              <a:gd name="T8" fmla="*/ 340392 w 2003"/>
              <a:gd name="T9" fmla="*/ 0 h 1892"/>
              <a:gd name="T10" fmla="*/ 340392 w 2003"/>
              <a:gd name="T11" fmla="*/ 0 h 1892"/>
              <a:gd name="T12" fmla="*/ 0 w 2003"/>
              <a:gd name="T13" fmla="*/ 340519 h 1892"/>
              <a:gd name="T14" fmla="*/ 0 w 2003"/>
              <a:gd name="T15" fmla="*/ 340519 h 1892"/>
              <a:gd name="T16" fmla="*/ 340392 w 2003"/>
              <a:gd name="T17" fmla="*/ 680677 h 1892"/>
              <a:gd name="T18" fmla="*/ 340392 w 2003"/>
              <a:gd name="T19" fmla="*/ 680677 h 1892"/>
              <a:gd name="T20" fmla="*/ 562763 w 2003"/>
              <a:gd name="T21" fmla="*/ 597527 h 1892"/>
              <a:gd name="T22" fmla="*/ 720365 w 2003"/>
              <a:gd name="T23" fmla="*/ 651161 h 1892"/>
              <a:gd name="T24" fmla="*/ 651639 w 2003"/>
              <a:gd name="T25" fmla="*/ 477662 h 189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2003" h="1892">
                <a:moveTo>
                  <a:pt x="1811" y="1327"/>
                </a:moveTo>
                <a:lnTo>
                  <a:pt x="1811" y="1327"/>
                </a:lnTo>
                <a:cubicBezTo>
                  <a:pt x="1862" y="1210"/>
                  <a:pt x="1891" y="1081"/>
                  <a:pt x="1891" y="946"/>
                </a:cubicBezTo>
                <a:cubicBezTo>
                  <a:pt x="1891" y="423"/>
                  <a:pt x="1468" y="0"/>
                  <a:pt x="946" y="0"/>
                </a:cubicBezTo>
                <a:cubicBezTo>
                  <a:pt x="424" y="0"/>
                  <a:pt x="0" y="423"/>
                  <a:pt x="0" y="946"/>
                </a:cubicBezTo>
                <a:cubicBezTo>
                  <a:pt x="0" y="1467"/>
                  <a:pt x="424" y="1891"/>
                  <a:pt x="946" y="1891"/>
                </a:cubicBezTo>
                <a:cubicBezTo>
                  <a:pt x="1182" y="1891"/>
                  <a:pt x="1398" y="1804"/>
                  <a:pt x="1564" y="1660"/>
                </a:cubicBezTo>
                <a:lnTo>
                  <a:pt x="2002" y="1809"/>
                </a:lnTo>
                <a:lnTo>
                  <a:pt x="1811" y="1327"/>
                </a:ln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4" name="Freeform 65">
            <a:extLst>
              <a:ext uri="{FF2B5EF4-FFF2-40B4-BE49-F238E27FC236}">
                <a16:creationId xmlns:a16="http://schemas.microsoft.com/office/drawing/2014/main" id="{74E04D0C-A0CA-8379-C959-CE0A919090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804" y="1256964"/>
            <a:ext cx="40341" cy="8653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646327-9795-E728-FFB8-CB336478B6BA}"/>
              </a:ext>
            </a:extLst>
          </p:cNvPr>
          <p:cNvSpPr txBox="1"/>
          <p:nvPr/>
        </p:nvSpPr>
        <p:spPr>
          <a:xfrm>
            <a:off x="2514284" y="1121300"/>
            <a:ext cx="4846300" cy="32650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ts val="1750"/>
              </a:lnSpc>
            </a:pPr>
            <a:r>
              <a:rPr lang="es-NI" sz="1700" b="1" spc="-15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RESEARCH QUESTIONS AND DATA</a:t>
            </a:r>
            <a:endParaRPr lang="en-US" sz="1700" b="1" spc="-15" dirty="0">
              <a:solidFill>
                <a:schemeClr val="tx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A95865-FD0C-B734-3969-3E3EF8F0BD40}"/>
              </a:ext>
            </a:extLst>
          </p:cNvPr>
          <p:cNvSpPr txBox="1"/>
          <p:nvPr/>
        </p:nvSpPr>
        <p:spPr>
          <a:xfrm>
            <a:off x="2514284" y="1575725"/>
            <a:ext cx="6334441" cy="541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How can we predict partisan animosity and favorability?</a:t>
            </a:r>
          </a:p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ANES (American National Election Studies) dataset</a:t>
            </a:r>
          </a:p>
        </p:txBody>
      </p:sp>
      <p:sp>
        <p:nvSpPr>
          <p:cNvPr id="9" name="Freeform 64">
            <a:extLst>
              <a:ext uri="{FF2B5EF4-FFF2-40B4-BE49-F238E27FC236}">
                <a16:creationId xmlns:a16="http://schemas.microsoft.com/office/drawing/2014/main" id="{D6C5F03E-E693-4775-EEA6-95841241CC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154" y="2976731"/>
            <a:ext cx="915745" cy="865318"/>
          </a:xfrm>
          <a:custGeom>
            <a:avLst/>
            <a:gdLst>
              <a:gd name="T0" fmla="*/ 651639 w 2003"/>
              <a:gd name="T1" fmla="*/ 477662 h 1892"/>
              <a:gd name="T2" fmla="*/ 651639 w 2003"/>
              <a:gd name="T3" fmla="*/ 477662 h 1892"/>
              <a:gd name="T4" fmla="*/ 680425 w 2003"/>
              <a:gd name="T5" fmla="*/ 340519 h 1892"/>
              <a:gd name="T6" fmla="*/ 680425 w 2003"/>
              <a:gd name="T7" fmla="*/ 340519 h 1892"/>
              <a:gd name="T8" fmla="*/ 340392 w 2003"/>
              <a:gd name="T9" fmla="*/ 0 h 1892"/>
              <a:gd name="T10" fmla="*/ 340392 w 2003"/>
              <a:gd name="T11" fmla="*/ 0 h 1892"/>
              <a:gd name="T12" fmla="*/ 0 w 2003"/>
              <a:gd name="T13" fmla="*/ 340519 h 1892"/>
              <a:gd name="T14" fmla="*/ 0 w 2003"/>
              <a:gd name="T15" fmla="*/ 340519 h 1892"/>
              <a:gd name="T16" fmla="*/ 340392 w 2003"/>
              <a:gd name="T17" fmla="*/ 680677 h 1892"/>
              <a:gd name="T18" fmla="*/ 340392 w 2003"/>
              <a:gd name="T19" fmla="*/ 680677 h 1892"/>
              <a:gd name="T20" fmla="*/ 562763 w 2003"/>
              <a:gd name="T21" fmla="*/ 597527 h 1892"/>
              <a:gd name="T22" fmla="*/ 720365 w 2003"/>
              <a:gd name="T23" fmla="*/ 651161 h 1892"/>
              <a:gd name="T24" fmla="*/ 651639 w 2003"/>
              <a:gd name="T25" fmla="*/ 477662 h 189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2003" h="1892">
                <a:moveTo>
                  <a:pt x="1811" y="1327"/>
                </a:moveTo>
                <a:lnTo>
                  <a:pt x="1811" y="1327"/>
                </a:lnTo>
                <a:cubicBezTo>
                  <a:pt x="1862" y="1210"/>
                  <a:pt x="1891" y="1081"/>
                  <a:pt x="1891" y="946"/>
                </a:cubicBezTo>
                <a:cubicBezTo>
                  <a:pt x="1891" y="423"/>
                  <a:pt x="1468" y="0"/>
                  <a:pt x="946" y="0"/>
                </a:cubicBezTo>
                <a:cubicBezTo>
                  <a:pt x="424" y="0"/>
                  <a:pt x="0" y="423"/>
                  <a:pt x="0" y="946"/>
                </a:cubicBezTo>
                <a:cubicBezTo>
                  <a:pt x="0" y="1467"/>
                  <a:pt x="424" y="1891"/>
                  <a:pt x="946" y="1891"/>
                </a:cubicBezTo>
                <a:cubicBezTo>
                  <a:pt x="1182" y="1891"/>
                  <a:pt x="1398" y="1804"/>
                  <a:pt x="1564" y="1660"/>
                </a:cubicBezTo>
                <a:lnTo>
                  <a:pt x="2002" y="1809"/>
                </a:lnTo>
                <a:lnTo>
                  <a:pt x="1811" y="1327"/>
                </a:ln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10" name="Freeform 65">
            <a:extLst>
              <a:ext uri="{FF2B5EF4-FFF2-40B4-BE49-F238E27FC236}">
                <a16:creationId xmlns:a16="http://schemas.microsoft.com/office/drawing/2014/main" id="{BCA94A32-A73A-EF4C-DE98-975CD92A76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804" y="3019089"/>
            <a:ext cx="40341" cy="8653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DA73A4-82DB-FBE8-62E5-06CFB8C103A6}"/>
              </a:ext>
            </a:extLst>
          </p:cNvPr>
          <p:cNvSpPr txBox="1"/>
          <p:nvPr/>
        </p:nvSpPr>
        <p:spPr>
          <a:xfrm>
            <a:off x="2514284" y="2979455"/>
            <a:ext cx="3048839" cy="32650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ts val="1750"/>
              </a:lnSpc>
            </a:pPr>
            <a:r>
              <a:rPr lang="es-NI" sz="1700" b="1" spc="-15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METHODS</a:t>
            </a:r>
            <a:endParaRPr lang="en-US" sz="1700" b="1" spc="-15" dirty="0">
              <a:solidFill>
                <a:schemeClr val="tx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7D3FCD-4D5E-675F-5058-E0DA75D5CE66}"/>
              </a:ext>
            </a:extLst>
          </p:cNvPr>
          <p:cNvSpPr txBox="1"/>
          <p:nvPr/>
        </p:nvSpPr>
        <p:spPr>
          <a:xfrm>
            <a:off x="2514284" y="3337850"/>
            <a:ext cx="7763191" cy="541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b="1" spc="-35" dirty="0">
                <a:latin typeface="Poppins" panose="00000500000000000000" pitchFamily="2" charset="0"/>
                <a:cs typeface="Poppins" panose="00000500000000000000" pitchFamily="2" charset="0"/>
              </a:rPr>
              <a:t>Study 1: </a:t>
            </a: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Text mining analysis to predict partisan favorability and animosity</a:t>
            </a:r>
          </a:p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b="1" spc="-35" dirty="0">
                <a:latin typeface="Poppins" panose="00000500000000000000" pitchFamily="2" charset="0"/>
                <a:cs typeface="Poppins" panose="00000500000000000000" pitchFamily="2" charset="0"/>
              </a:rPr>
              <a:t>Study 2: </a:t>
            </a: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Who responds to open-ended questions on the parties? </a:t>
            </a:r>
          </a:p>
        </p:txBody>
      </p:sp>
      <p:sp>
        <p:nvSpPr>
          <p:cNvPr id="13" name="Freeform 64">
            <a:extLst>
              <a:ext uri="{FF2B5EF4-FFF2-40B4-BE49-F238E27FC236}">
                <a16:creationId xmlns:a16="http://schemas.microsoft.com/office/drawing/2014/main" id="{39AC63D6-75DE-AF31-CD25-73E1F3C8C6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154" y="4708079"/>
            <a:ext cx="915745" cy="865318"/>
          </a:xfrm>
          <a:custGeom>
            <a:avLst/>
            <a:gdLst>
              <a:gd name="T0" fmla="*/ 651639 w 2003"/>
              <a:gd name="T1" fmla="*/ 477662 h 1892"/>
              <a:gd name="T2" fmla="*/ 651639 w 2003"/>
              <a:gd name="T3" fmla="*/ 477662 h 1892"/>
              <a:gd name="T4" fmla="*/ 680425 w 2003"/>
              <a:gd name="T5" fmla="*/ 340519 h 1892"/>
              <a:gd name="T6" fmla="*/ 680425 w 2003"/>
              <a:gd name="T7" fmla="*/ 340519 h 1892"/>
              <a:gd name="T8" fmla="*/ 340392 w 2003"/>
              <a:gd name="T9" fmla="*/ 0 h 1892"/>
              <a:gd name="T10" fmla="*/ 340392 w 2003"/>
              <a:gd name="T11" fmla="*/ 0 h 1892"/>
              <a:gd name="T12" fmla="*/ 0 w 2003"/>
              <a:gd name="T13" fmla="*/ 340519 h 1892"/>
              <a:gd name="T14" fmla="*/ 0 w 2003"/>
              <a:gd name="T15" fmla="*/ 340519 h 1892"/>
              <a:gd name="T16" fmla="*/ 340392 w 2003"/>
              <a:gd name="T17" fmla="*/ 680677 h 1892"/>
              <a:gd name="T18" fmla="*/ 340392 w 2003"/>
              <a:gd name="T19" fmla="*/ 680677 h 1892"/>
              <a:gd name="T20" fmla="*/ 562763 w 2003"/>
              <a:gd name="T21" fmla="*/ 597527 h 1892"/>
              <a:gd name="T22" fmla="*/ 720365 w 2003"/>
              <a:gd name="T23" fmla="*/ 651161 h 1892"/>
              <a:gd name="T24" fmla="*/ 651639 w 2003"/>
              <a:gd name="T25" fmla="*/ 477662 h 189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2003" h="1892">
                <a:moveTo>
                  <a:pt x="1811" y="1327"/>
                </a:moveTo>
                <a:lnTo>
                  <a:pt x="1811" y="1327"/>
                </a:lnTo>
                <a:cubicBezTo>
                  <a:pt x="1862" y="1210"/>
                  <a:pt x="1891" y="1081"/>
                  <a:pt x="1891" y="946"/>
                </a:cubicBezTo>
                <a:cubicBezTo>
                  <a:pt x="1891" y="423"/>
                  <a:pt x="1468" y="0"/>
                  <a:pt x="946" y="0"/>
                </a:cubicBezTo>
                <a:cubicBezTo>
                  <a:pt x="424" y="0"/>
                  <a:pt x="0" y="423"/>
                  <a:pt x="0" y="946"/>
                </a:cubicBezTo>
                <a:cubicBezTo>
                  <a:pt x="0" y="1467"/>
                  <a:pt x="424" y="1891"/>
                  <a:pt x="946" y="1891"/>
                </a:cubicBezTo>
                <a:cubicBezTo>
                  <a:pt x="1182" y="1891"/>
                  <a:pt x="1398" y="1804"/>
                  <a:pt x="1564" y="1660"/>
                </a:cubicBezTo>
                <a:lnTo>
                  <a:pt x="2002" y="1809"/>
                </a:lnTo>
                <a:lnTo>
                  <a:pt x="1811" y="1327"/>
                </a:ln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14" name="Freeform 65">
            <a:extLst>
              <a:ext uri="{FF2B5EF4-FFF2-40B4-BE49-F238E27FC236}">
                <a16:creationId xmlns:a16="http://schemas.microsoft.com/office/drawing/2014/main" id="{B07CF5D3-5CC3-7683-98B6-379D2D9529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804" y="4750437"/>
            <a:ext cx="40341" cy="8653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04F591-A8DA-8659-9AD1-ED1763942684}"/>
              </a:ext>
            </a:extLst>
          </p:cNvPr>
          <p:cNvSpPr txBox="1"/>
          <p:nvPr/>
        </p:nvSpPr>
        <p:spPr>
          <a:xfrm>
            <a:off x="2514284" y="4710803"/>
            <a:ext cx="3048839" cy="32650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ts val="1750"/>
              </a:lnSpc>
            </a:pPr>
            <a:r>
              <a:rPr lang="es-NI" sz="1700" b="1" spc="-15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RESULTS</a:t>
            </a:r>
            <a:endParaRPr lang="en-US" sz="1700" b="1" spc="-15" dirty="0">
              <a:solidFill>
                <a:schemeClr val="tx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CF3720-CE94-D1C4-F85B-B579D82A3FA3}"/>
              </a:ext>
            </a:extLst>
          </p:cNvPr>
          <p:cNvSpPr txBox="1"/>
          <p:nvPr/>
        </p:nvSpPr>
        <p:spPr>
          <a:xfrm>
            <a:off x="2514284" y="5069198"/>
            <a:ext cx="6763066" cy="772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b="1" spc="-35" dirty="0">
                <a:solidFill>
                  <a:srgbClr val="03548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Exploratory Data Analysis</a:t>
            </a:r>
          </a:p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b="1" spc="-35" dirty="0">
                <a:solidFill>
                  <a:srgbClr val="747A9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Study 1: </a:t>
            </a:r>
            <a:r>
              <a:rPr lang="en-US" sz="1250" spc="-35" dirty="0">
                <a:solidFill>
                  <a:srgbClr val="747A9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Text mining analysis to predict partisan favorability and animosity</a:t>
            </a:r>
          </a:p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b="1" spc="-35" dirty="0">
                <a:latin typeface="Poppins" panose="00000500000000000000" pitchFamily="2" charset="0"/>
                <a:cs typeface="Poppins" panose="00000500000000000000" pitchFamily="2" charset="0"/>
              </a:rPr>
              <a:t>Study 2: </a:t>
            </a: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Who responds to open-ended questions on the parties? </a:t>
            </a:r>
          </a:p>
        </p:txBody>
      </p:sp>
      <p:pic>
        <p:nvPicPr>
          <p:cNvPr id="2052" name="Picture 4" descr="Human Brain Thinking Icons - Free SVG &amp; PNG Human Brain Thinking Images -  Noun Project">
            <a:extLst>
              <a:ext uri="{FF2B5EF4-FFF2-40B4-BE49-F238E27FC236}">
                <a16:creationId xmlns:a16="http://schemas.microsoft.com/office/drawing/2014/main" id="{809E5203-3BA6-5FF4-670C-85ED458D5A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470" y="1361234"/>
            <a:ext cx="533961" cy="533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Method And Gear Monotone Icon In Powerpoint Pptx Png And Editable Eps  Format PPT Sample">
            <a:extLst>
              <a:ext uri="{FF2B5EF4-FFF2-40B4-BE49-F238E27FC236}">
                <a16:creationId xmlns:a16="http://schemas.microsoft.com/office/drawing/2014/main" id="{7CAAB48E-DAAE-6721-584C-FDA7D198E8A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 l="24921" t="21111" r="28595" b="9028"/>
          <a:stretch/>
        </p:blipFill>
        <p:spPr bwMode="auto">
          <a:xfrm>
            <a:off x="1068023" y="3113992"/>
            <a:ext cx="698854" cy="590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Icons for PowerPoint Presentations – Chart – Smiletemplates - download at  SmileTemplates.com">
            <a:extLst>
              <a:ext uri="{FF2B5EF4-FFF2-40B4-BE49-F238E27FC236}">
                <a16:creationId xmlns:a16="http://schemas.microsoft.com/office/drawing/2014/main" id="{E38529D6-B4F3-86CD-34C0-7CE3279A23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/>
          <a:stretch/>
        </p:blipFill>
        <p:spPr bwMode="auto">
          <a:xfrm>
            <a:off x="971421" y="4816357"/>
            <a:ext cx="895665" cy="670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57828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0D446-A5EB-74BE-47C9-3436C48AC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079D2184-6943-97FC-D6FE-0AA4435E8D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71525" y="365129"/>
            <a:ext cx="10515600" cy="720721"/>
          </a:xfrm>
        </p:spPr>
        <p:txBody>
          <a:bodyPr>
            <a:noAutofit/>
          </a:bodyPr>
          <a:lstStyle/>
          <a:p>
            <a:r>
              <a:rPr lang="en-US" sz="2800" dirty="0"/>
              <a:t>Exploratory Data Analysis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7C1B27-3C42-DC31-E128-4477340C41A3}"/>
              </a:ext>
            </a:extLst>
          </p:cNvPr>
          <p:cNvSpPr/>
          <p:nvPr/>
        </p:nvSpPr>
        <p:spPr>
          <a:xfrm>
            <a:off x="1009650" y="1085850"/>
            <a:ext cx="10515600" cy="5019675"/>
          </a:xfrm>
          <a:prstGeom prst="rect">
            <a:avLst/>
          </a:prstGeom>
          <a:solidFill>
            <a:srgbClr val="0354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Update once data is received from David</a:t>
            </a:r>
          </a:p>
        </p:txBody>
      </p:sp>
    </p:spTree>
    <p:extLst>
      <p:ext uri="{BB962C8B-B14F-4D97-AF65-F5344CB8AC3E}">
        <p14:creationId xmlns:p14="http://schemas.microsoft.com/office/powerpoint/2010/main" val="33329865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023C6-B204-874B-6AA7-631940B31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A09FD6F6-1530-1CEB-8F23-612BA24F07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71525" y="365129"/>
            <a:ext cx="10515600" cy="720721"/>
          </a:xfrm>
        </p:spPr>
        <p:txBody>
          <a:bodyPr>
            <a:noAutofit/>
          </a:bodyPr>
          <a:lstStyle/>
          <a:p>
            <a:r>
              <a:rPr lang="en-US" sz="2800" dirty="0"/>
              <a:t>Agenda</a:t>
            </a:r>
          </a:p>
        </p:txBody>
      </p:sp>
      <p:sp>
        <p:nvSpPr>
          <p:cNvPr id="3" name="Freeform 64">
            <a:extLst>
              <a:ext uri="{FF2B5EF4-FFF2-40B4-BE49-F238E27FC236}">
                <a16:creationId xmlns:a16="http://schemas.microsoft.com/office/drawing/2014/main" id="{617077E5-97EC-C17C-2037-7A8F72FC33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154" y="1214606"/>
            <a:ext cx="915745" cy="865318"/>
          </a:xfrm>
          <a:custGeom>
            <a:avLst/>
            <a:gdLst>
              <a:gd name="T0" fmla="*/ 651639 w 2003"/>
              <a:gd name="T1" fmla="*/ 477662 h 1892"/>
              <a:gd name="T2" fmla="*/ 651639 w 2003"/>
              <a:gd name="T3" fmla="*/ 477662 h 1892"/>
              <a:gd name="T4" fmla="*/ 680425 w 2003"/>
              <a:gd name="T5" fmla="*/ 340519 h 1892"/>
              <a:gd name="T6" fmla="*/ 680425 w 2003"/>
              <a:gd name="T7" fmla="*/ 340519 h 1892"/>
              <a:gd name="T8" fmla="*/ 340392 w 2003"/>
              <a:gd name="T9" fmla="*/ 0 h 1892"/>
              <a:gd name="T10" fmla="*/ 340392 w 2003"/>
              <a:gd name="T11" fmla="*/ 0 h 1892"/>
              <a:gd name="T12" fmla="*/ 0 w 2003"/>
              <a:gd name="T13" fmla="*/ 340519 h 1892"/>
              <a:gd name="T14" fmla="*/ 0 w 2003"/>
              <a:gd name="T15" fmla="*/ 340519 h 1892"/>
              <a:gd name="T16" fmla="*/ 340392 w 2003"/>
              <a:gd name="T17" fmla="*/ 680677 h 1892"/>
              <a:gd name="T18" fmla="*/ 340392 w 2003"/>
              <a:gd name="T19" fmla="*/ 680677 h 1892"/>
              <a:gd name="T20" fmla="*/ 562763 w 2003"/>
              <a:gd name="T21" fmla="*/ 597527 h 1892"/>
              <a:gd name="T22" fmla="*/ 720365 w 2003"/>
              <a:gd name="T23" fmla="*/ 651161 h 1892"/>
              <a:gd name="T24" fmla="*/ 651639 w 2003"/>
              <a:gd name="T25" fmla="*/ 477662 h 189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2003" h="1892">
                <a:moveTo>
                  <a:pt x="1811" y="1327"/>
                </a:moveTo>
                <a:lnTo>
                  <a:pt x="1811" y="1327"/>
                </a:lnTo>
                <a:cubicBezTo>
                  <a:pt x="1862" y="1210"/>
                  <a:pt x="1891" y="1081"/>
                  <a:pt x="1891" y="946"/>
                </a:cubicBezTo>
                <a:cubicBezTo>
                  <a:pt x="1891" y="423"/>
                  <a:pt x="1468" y="0"/>
                  <a:pt x="946" y="0"/>
                </a:cubicBezTo>
                <a:cubicBezTo>
                  <a:pt x="424" y="0"/>
                  <a:pt x="0" y="423"/>
                  <a:pt x="0" y="946"/>
                </a:cubicBezTo>
                <a:cubicBezTo>
                  <a:pt x="0" y="1467"/>
                  <a:pt x="424" y="1891"/>
                  <a:pt x="946" y="1891"/>
                </a:cubicBezTo>
                <a:cubicBezTo>
                  <a:pt x="1182" y="1891"/>
                  <a:pt x="1398" y="1804"/>
                  <a:pt x="1564" y="1660"/>
                </a:cubicBezTo>
                <a:lnTo>
                  <a:pt x="2002" y="1809"/>
                </a:lnTo>
                <a:lnTo>
                  <a:pt x="1811" y="1327"/>
                </a:ln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4" name="Freeform 65">
            <a:extLst>
              <a:ext uri="{FF2B5EF4-FFF2-40B4-BE49-F238E27FC236}">
                <a16:creationId xmlns:a16="http://schemas.microsoft.com/office/drawing/2014/main" id="{21B91312-7167-BEB6-E57A-F5768043D0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804" y="1256964"/>
            <a:ext cx="40341" cy="8653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AD266A-1448-85ED-1543-C7CF8342D979}"/>
              </a:ext>
            </a:extLst>
          </p:cNvPr>
          <p:cNvSpPr txBox="1"/>
          <p:nvPr/>
        </p:nvSpPr>
        <p:spPr>
          <a:xfrm>
            <a:off x="2514284" y="1121300"/>
            <a:ext cx="4846300" cy="32650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ts val="1750"/>
              </a:lnSpc>
            </a:pPr>
            <a:r>
              <a:rPr lang="es-NI" sz="1700" b="1" spc="-15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RESEARCH QUESTIONS AND DATA</a:t>
            </a:r>
            <a:endParaRPr lang="en-US" sz="1700" b="1" spc="-15" dirty="0">
              <a:solidFill>
                <a:schemeClr val="tx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B4C742-ECE2-6F3A-2245-D59BFB76A6CE}"/>
              </a:ext>
            </a:extLst>
          </p:cNvPr>
          <p:cNvSpPr txBox="1"/>
          <p:nvPr/>
        </p:nvSpPr>
        <p:spPr>
          <a:xfrm>
            <a:off x="2514284" y="1575725"/>
            <a:ext cx="6334441" cy="541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How can we predict partisan animosity and favorability?</a:t>
            </a:r>
          </a:p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ANES (American National Election Studies) dataset</a:t>
            </a:r>
          </a:p>
        </p:txBody>
      </p:sp>
      <p:sp>
        <p:nvSpPr>
          <p:cNvPr id="9" name="Freeform 64">
            <a:extLst>
              <a:ext uri="{FF2B5EF4-FFF2-40B4-BE49-F238E27FC236}">
                <a16:creationId xmlns:a16="http://schemas.microsoft.com/office/drawing/2014/main" id="{E3436769-980B-E5D8-E276-7536B8395D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154" y="2976731"/>
            <a:ext cx="915745" cy="865318"/>
          </a:xfrm>
          <a:custGeom>
            <a:avLst/>
            <a:gdLst>
              <a:gd name="T0" fmla="*/ 651639 w 2003"/>
              <a:gd name="T1" fmla="*/ 477662 h 1892"/>
              <a:gd name="T2" fmla="*/ 651639 w 2003"/>
              <a:gd name="T3" fmla="*/ 477662 h 1892"/>
              <a:gd name="T4" fmla="*/ 680425 w 2003"/>
              <a:gd name="T5" fmla="*/ 340519 h 1892"/>
              <a:gd name="T6" fmla="*/ 680425 w 2003"/>
              <a:gd name="T7" fmla="*/ 340519 h 1892"/>
              <a:gd name="T8" fmla="*/ 340392 w 2003"/>
              <a:gd name="T9" fmla="*/ 0 h 1892"/>
              <a:gd name="T10" fmla="*/ 340392 w 2003"/>
              <a:gd name="T11" fmla="*/ 0 h 1892"/>
              <a:gd name="T12" fmla="*/ 0 w 2003"/>
              <a:gd name="T13" fmla="*/ 340519 h 1892"/>
              <a:gd name="T14" fmla="*/ 0 w 2003"/>
              <a:gd name="T15" fmla="*/ 340519 h 1892"/>
              <a:gd name="T16" fmla="*/ 340392 w 2003"/>
              <a:gd name="T17" fmla="*/ 680677 h 1892"/>
              <a:gd name="T18" fmla="*/ 340392 w 2003"/>
              <a:gd name="T19" fmla="*/ 680677 h 1892"/>
              <a:gd name="T20" fmla="*/ 562763 w 2003"/>
              <a:gd name="T21" fmla="*/ 597527 h 1892"/>
              <a:gd name="T22" fmla="*/ 720365 w 2003"/>
              <a:gd name="T23" fmla="*/ 651161 h 1892"/>
              <a:gd name="T24" fmla="*/ 651639 w 2003"/>
              <a:gd name="T25" fmla="*/ 477662 h 189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2003" h="1892">
                <a:moveTo>
                  <a:pt x="1811" y="1327"/>
                </a:moveTo>
                <a:lnTo>
                  <a:pt x="1811" y="1327"/>
                </a:lnTo>
                <a:cubicBezTo>
                  <a:pt x="1862" y="1210"/>
                  <a:pt x="1891" y="1081"/>
                  <a:pt x="1891" y="946"/>
                </a:cubicBezTo>
                <a:cubicBezTo>
                  <a:pt x="1891" y="423"/>
                  <a:pt x="1468" y="0"/>
                  <a:pt x="946" y="0"/>
                </a:cubicBezTo>
                <a:cubicBezTo>
                  <a:pt x="424" y="0"/>
                  <a:pt x="0" y="423"/>
                  <a:pt x="0" y="946"/>
                </a:cubicBezTo>
                <a:cubicBezTo>
                  <a:pt x="0" y="1467"/>
                  <a:pt x="424" y="1891"/>
                  <a:pt x="946" y="1891"/>
                </a:cubicBezTo>
                <a:cubicBezTo>
                  <a:pt x="1182" y="1891"/>
                  <a:pt x="1398" y="1804"/>
                  <a:pt x="1564" y="1660"/>
                </a:cubicBezTo>
                <a:lnTo>
                  <a:pt x="2002" y="1809"/>
                </a:lnTo>
                <a:lnTo>
                  <a:pt x="1811" y="1327"/>
                </a:ln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10" name="Freeform 65">
            <a:extLst>
              <a:ext uri="{FF2B5EF4-FFF2-40B4-BE49-F238E27FC236}">
                <a16:creationId xmlns:a16="http://schemas.microsoft.com/office/drawing/2014/main" id="{8FC24A14-0A6F-0A86-686D-80A9FCCBC3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804" y="3019089"/>
            <a:ext cx="40341" cy="8653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7A202D-A2E8-5A0A-2FF0-D7771748D45C}"/>
              </a:ext>
            </a:extLst>
          </p:cNvPr>
          <p:cNvSpPr txBox="1"/>
          <p:nvPr/>
        </p:nvSpPr>
        <p:spPr>
          <a:xfrm>
            <a:off x="2514284" y="2979455"/>
            <a:ext cx="3048839" cy="32650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ts val="1750"/>
              </a:lnSpc>
            </a:pPr>
            <a:r>
              <a:rPr lang="es-NI" sz="1700" b="1" spc="-15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METHODS</a:t>
            </a:r>
            <a:endParaRPr lang="en-US" sz="1700" b="1" spc="-15" dirty="0">
              <a:solidFill>
                <a:schemeClr val="tx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A9B4C9-BD7D-D225-A295-EFB3911FA604}"/>
              </a:ext>
            </a:extLst>
          </p:cNvPr>
          <p:cNvSpPr txBox="1"/>
          <p:nvPr/>
        </p:nvSpPr>
        <p:spPr>
          <a:xfrm>
            <a:off x="2514284" y="3337850"/>
            <a:ext cx="7763191" cy="541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b="1" spc="-35" dirty="0">
                <a:latin typeface="Poppins" panose="00000500000000000000" pitchFamily="2" charset="0"/>
                <a:cs typeface="Poppins" panose="00000500000000000000" pitchFamily="2" charset="0"/>
              </a:rPr>
              <a:t>Study 1: </a:t>
            </a: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Text mining analysis to predict partisan favorability and animosity</a:t>
            </a:r>
          </a:p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b="1" spc="-35" dirty="0">
                <a:latin typeface="Poppins" panose="00000500000000000000" pitchFamily="2" charset="0"/>
                <a:cs typeface="Poppins" panose="00000500000000000000" pitchFamily="2" charset="0"/>
              </a:rPr>
              <a:t>Study 2: </a:t>
            </a: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Who responds to open-ended questions on the parties? </a:t>
            </a:r>
          </a:p>
        </p:txBody>
      </p:sp>
      <p:sp>
        <p:nvSpPr>
          <p:cNvPr id="13" name="Freeform 64">
            <a:extLst>
              <a:ext uri="{FF2B5EF4-FFF2-40B4-BE49-F238E27FC236}">
                <a16:creationId xmlns:a16="http://schemas.microsoft.com/office/drawing/2014/main" id="{70B8D88F-9D76-8DF9-4A49-3CCB372804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154" y="4708079"/>
            <a:ext cx="915745" cy="865318"/>
          </a:xfrm>
          <a:custGeom>
            <a:avLst/>
            <a:gdLst>
              <a:gd name="T0" fmla="*/ 651639 w 2003"/>
              <a:gd name="T1" fmla="*/ 477662 h 1892"/>
              <a:gd name="T2" fmla="*/ 651639 w 2003"/>
              <a:gd name="T3" fmla="*/ 477662 h 1892"/>
              <a:gd name="T4" fmla="*/ 680425 w 2003"/>
              <a:gd name="T5" fmla="*/ 340519 h 1892"/>
              <a:gd name="T6" fmla="*/ 680425 w 2003"/>
              <a:gd name="T7" fmla="*/ 340519 h 1892"/>
              <a:gd name="T8" fmla="*/ 340392 w 2003"/>
              <a:gd name="T9" fmla="*/ 0 h 1892"/>
              <a:gd name="T10" fmla="*/ 340392 w 2003"/>
              <a:gd name="T11" fmla="*/ 0 h 1892"/>
              <a:gd name="T12" fmla="*/ 0 w 2003"/>
              <a:gd name="T13" fmla="*/ 340519 h 1892"/>
              <a:gd name="T14" fmla="*/ 0 w 2003"/>
              <a:gd name="T15" fmla="*/ 340519 h 1892"/>
              <a:gd name="T16" fmla="*/ 340392 w 2003"/>
              <a:gd name="T17" fmla="*/ 680677 h 1892"/>
              <a:gd name="T18" fmla="*/ 340392 w 2003"/>
              <a:gd name="T19" fmla="*/ 680677 h 1892"/>
              <a:gd name="T20" fmla="*/ 562763 w 2003"/>
              <a:gd name="T21" fmla="*/ 597527 h 1892"/>
              <a:gd name="T22" fmla="*/ 720365 w 2003"/>
              <a:gd name="T23" fmla="*/ 651161 h 1892"/>
              <a:gd name="T24" fmla="*/ 651639 w 2003"/>
              <a:gd name="T25" fmla="*/ 477662 h 189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2003" h="1892">
                <a:moveTo>
                  <a:pt x="1811" y="1327"/>
                </a:moveTo>
                <a:lnTo>
                  <a:pt x="1811" y="1327"/>
                </a:lnTo>
                <a:cubicBezTo>
                  <a:pt x="1862" y="1210"/>
                  <a:pt x="1891" y="1081"/>
                  <a:pt x="1891" y="946"/>
                </a:cubicBezTo>
                <a:cubicBezTo>
                  <a:pt x="1891" y="423"/>
                  <a:pt x="1468" y="0"/>
                  <a:pt x="946" y="0"/>
                </a:cubicBezTo>
                <a:cubicBezTo>
                  <a:pt x="424" y="0"/>
                  <a:pt x="0" y="423"/>
                  <a:pt x="0" y="946"/>
                </a:cubicBezTo>
                <a:cubicBezTo>
                  <a:pt x="0" y="1467"/>
                  <a:pt x="424" y="1891"/>
                  <a:pt x="946" y="1891"/>
                </a:cubicBezTo>
                <a:cubicBezTo>
                  <a:pt x="1182" y="1891"/>
                  <a:pt x="1398" y="1804"/>
                  <a:pt x="1564" y="1660"/>
                </a:cubicBezTo>
                <a:lnTo>
                  <a:pt x="2002" y="1809"/>
                </a:lnTo>
                <a:lnTo>
                  <a:pt x="1811" y="1327"/>
                </a:ln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14" name="Freeform 65">
            <a:extLst>
              <a:ext uri="{FF2B5EF4-FFF2-40B4-BE49-F238E27FC236}">
                <a16:creationId xmlns:a16="http://schemas.microsoft.com/office/drawing/2014/main" id="{DF6C8FE7-2850-2B73-E97A-CAA1E2171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804" y="4750437"/>
            <a:ext cx="40341" cy="8653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8C7C46-68D7-EEBF-F709-F88A506F9F28}"/>
              </a:ext>
            </a:extLst>
          </p:cNvPr>
          <p:cNvSpPr txBox="1"/>
          <p:nvPr/>
        </p:nvSpPr>
        <p:spPr>
          <a:xfrm>
            <a:off x="2514284" y="4710803"/>
            <a:ext cx="3048839" cy="32650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ts val="1750"/>
              </a:lnSpc>
            </a:pPr>
            <a:r>
              <a:rPr lang="es-NI" sz="1700" b="1" spc="-15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RESULTS</a:t>
            </a:r>
            <a:endParaRPr lang="en-US" sz="1700" b="1" spc="-15" dirty="0">
              <a:solidFill>
                <a:schemeClr val="tx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317ABB-8E58-5068-CECF-DDBB9B279C02}"/>
              </a:ext>
            </a:extLst>
          </p:cNvPr>
          <p:cNvSpPr txBox="1"/>
          <p:nvPr/>
        </p:nvSpPr>
        <p:spPr>
          <a:xfrm>
            <a:off x="2514284" y="5069198"/>
            <a:ext cx="6763066" cy="772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Exploratory Data Analysis</a:t>
            </a:r>
            <a:endParaRPr lang="en-US" sz="1250" b="1" spc="-35" dirty="0">
              <a:solidFill>
                <a:srgbClr val="03548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b="1" spc="-35" dirty="0">
                <a:solidFill>
                  <a:srgbClr val="03548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Study 1: Text mining analysis to predict partisan favorability and animosity</a:t>
            </a:r>
          </a:p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b="1" spc="-35" dirty="0">
                <a:latin typeface="Poppins" panose="00000500000000000000" pitchFamily="2" charset="0"/>
                <a:cs typeface="Poppins" panose="00000500000000000000" pitchFamily="2" charset="0"/>
              </a:rPr>
              <a:t>Study 2: </a:t>
            </a: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Who responds to open-ended questions on the parties? </a:t>
            </a:r>
          </a:p>
        </p:txBody>
      </p:sp>
      <p:pic>
        <p:nvPicPr>
          <p:cNvPr id="2052" name="Picture 4" descr="Human Brain Thinking Icons - Free SVG &amp; PNG Human Brain Thinking Images -  Noun Project">
            <a:extLst>
              <a:ext uri="{FF2B5EF4-FFF2-40B4-BE49-F238E27FC236}">
                <a16:creationId xmlns:a16="http://schemas.microsoft.com/office/drawing/2014/main" id="{724550F0-9192-6293-2CAE-89D5153A8C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470" y="1361234"/>
            <a:ext cx="533961" cy="533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Method And Gear Monotone Icon In Powerpoint Pptx Png And Editable Eps  Format PPT Sample">
            <a:extLst>
              <a:ext uri="{FF2B5EF4-FFF2-40B4-BE49-F238E27FC236}">
                <a16:creationId xmlns:a16="http://schemas.microsoft.com/office/drawing/2014/main" id="{1DE9226F-67F3-D515-CB12-AA9F9CD350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 l="24921" t="21111" r="28595" b="9028"/>
          <a:stretch/>
        </p:blipFill>
        <p:spPr bwMode="auto">
          <a:xfrm>
            <a:off x="1068023" y="3113992"/>
            <a:ext cx="698854" cy="590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Icons for PowerPoint Presentations – Chart – Smiletemplates - download at  SmileTemplates.com">
            <a:extLst>
              <a:ext uri="{FF2B5EF4-FFF2-40B4-BE49-F238E27FC236}">
                <a16:creationId xmlns:a16="http://schemas.microsoft.com/office/drawing/2014/main" id="{48D07024-6679-AFD5-0DBE-498220238F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/>
          <a:stretch/>
        </p:blipFill>
        <p:spPr bwMode="auto">
          <a:xfrm>
            <a:off x="971421" y="4816357"/>
            <a:ext cx="895665" cy="670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9746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694A8-AC34-CC02-C4AF-68BEA49DE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121FB2B-F5A4-094C-577B-13492BDE80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8300" y="1457166"/>
            <a:ext cx="8913600" cy="4456800"/>
          </a:xfrm>
          <a:prstGeom prst="rect">
            <a:avLst/>
          </a:prstGeom>
        </p:spPr>
      </p:pic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55398629-ABC0-32B8-03EA-507E5BE770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71525" y="365129"/>
            <a:ext cx="10515600" cy="720721"/>
          </a:xfrm>
        </p:spPr>
        <p:txBody>
          <a:bodyPr>
            <a:noAutofit/>
          </a:bodyPr>
          <a:lstStyle/>
          <a:p>
            <a:r>
              <a:rPr lang="en-US" sz="2800" dirty="0"/>
              <a:t>Partisan sentiment is polarized, with a notable cluster at peak animosity (thermometer = 0)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C990DDD-6884-5C0E-D42B-E8BD9136AA1C}"/>
              </a:ext>
            </a:extLst>
          </p:cNvPr>
          <p:cNvSpPr/>
          <p:nvPr/>
        </p:nvSpPr>
        <p:spPr>
          <a:xfrm>
            <a:off x="2752725" y="4143375"/>
            <a:ext cx="638176" cy="842962"/>
          </a:xfrm>
          <a:prstGeom prst="ellipse">
            <a:avLst/>
          </a:prstGeom>
          <a:noFill/>
          <a:ln w="381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B446145-0C83-7A8A-A3A7-5A9A11753AFB}"/>
              </a:ext>
            </a:extLst>
          </p:cNvPr>
          <p:cNvSpPr/>
          <p:nvPr/>
        </p:nvSpPr>
        <p:spPr>
          <a:xfrm>
            <a:off x="7191375" y="4143375"/>
            <a:ext cx="638176" cy="842962"/>
          </a:xfrm>
          <a:prstGeom prst="ellipse">
            <a:avLst/>
          </a:prstGeom>
          <a:noFill/>
          <a:ln w="381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Democratic Party (United States) - Wikipedia">
            <a:extLst>
              <a:ext uri="{FF2B5EF4-FFF2-40B4-BE49-F238E27FC236}">
                <a16:creationId xmlns:a16="http://schemas.microsoft.com/office/drawing/2014/main" id="{D09BBE23-E595-A805-D8E4-3433186676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9045" y="3833811"/>
            <a:ext cx="863692" cy="842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7D06333E-1B04-CE66-EC28-768EC31570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4229" y="3924299"/>
            <a:ext cx="853848" cy="752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42715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835AF-2194-CE0A-8070-98C01BE54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EE072B7-DD2E-81F1-5BA1-2C1F90A5E8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027"/>
          <a:stretch>
            <a:fillRect/>
          </a:stretch>
        </p:blipFill>
        <p:spPr>
          <a:xfrm>
            <a:off x="666538" y="2295522"/>
            <a:ext cx="5214106" cy="316653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EFCE31E-ABF6-84B0-D886-166403887F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013"/>
          <a:stretch>
            <a:fillRect/>
          </a:stretch>
        </p:blipFill>
        <p:spPr>
          <a:xfrm>
            <a:off x="6170752" y="2295522"/>
            <a:ext cx="5215655" cy="3168000"/>
          </a:xfrm>
          <a:prstGeom prst="rect">
            <a:avLst/>
          </a:prstGeom>
        </p:spPr>
      </p:pic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5D576FD-1592-D135-F9AA-E903868BA1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71525" y="365129"/>
            <a:ext cx="10515600" cy="720721"/>
          </a:xfrm>
        </p:spPr>
        <p:txBody>
          <a:bodyPr>
            <a:noAutofit/>
          </a:bodyPr>
          <a:lstStyle/>
          <a:p>
            <a:r>
              <a:rPr lang="en-US" sz="2800" dirty="0"/>
              <a:t>LASSO selects ~100-150 informative terms per model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4C5519-A928-70CE-36DF-75F74CBFD95E}"/>
              </a:ext>
            </a:extLst>
          </p:cNvPr>
          <p:cNvSpPr txBox="1"/>
          <p:nvPr/>
        </p:nvSpPr>
        <p:spPr>
          <a:xfrm>
            <a:off x="895350" y="1409701"/>
            <a:ext cx="4505325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000000"/>
                </a:solidFill>
              </a:rPr>
              <a:t>LASSO Cross-validation Plot</a:t>
            </a:r>
          </a:p>
          <a:p>
            <a:r>
              <a:rPr lang="en-US" i="1" dirty="0">
                <a:solidFill>
                  <a:srgbClr val="000000"/>
                </a:solidFill>
              </a:rPr>
              <a:t>(Democrat thermometer, skip-grams model)</a:t>
            </a:r>
          </a:p>
          <a:p>
            <a:endParaRPr lang="en-US" sz="2200" b="1" dirty="0">
              <a:solidFill>
                <a:srgbClr val="00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7BD2BC-2F0E-47A9-07A0-A1D8CD0570ED}"/>
              </a:ext>
            </a:extLst>
          </p:cNvPr>
          <p:cNvSpPr txBox="1"/>
          <p:nvPr/>
        </p:nvSpPr>
        <p:spPr>
          <a:xfrm>
            <a:off x="6478871" y="1409701"/>
            <a:ext cx="4979704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000000"/>
                </a:solidFill>
              </a:rPr>
              <a:t>LASSO Cross-validation Plot</a:t>
            </a:r>
          </a:p>
          <a:p>
            <a:r>
              <a:rPr lang="en-US" i="1" dirty="0">
                <a:solidFill>
                  <a:srgbClr val="000000"/>
                </a:solidFill>
              </a:rPr>
              <a:t>(Republican thermometer, skip-grams model)</a:t>
            </a:r>
          </a:p>
          <a:p>
            <a:endParaRPr lang="en-US" sz="2200" b="1" dirty="0">
              <a:solidFill>
                <a:srgbClr val="000000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CC91E5A-6337-337B-D226-9845A8F80266}"/>
              </a:ext>
            </a:extLst>
          </p:cNvPr>
          <p:cNvSpPr/>
          <p:nvPr/>
        </p:nvSpPr>
        <p:spPr>
          <a:xfrm>
            <a:off x="3138504" y="2558534"/>
            <a:ext cx="314325" cy="2214562"/>
          </a:xfrm>
          <a:prstGeom prst="ellipse">
            <a:avLst/>
          </a:prstGeom>
          <a:noFill/>
          <a:ln w="381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0E3F0A3-D860-12FD-7545-E905494B25D7}"/>
              </a:ext>
            </a:extLst>
          </p:cNvPr>
          <p:cNvSpPr/>
          <p:nvPr/>
        </p:nvSpPr>
        <p:spPr>
          <a:xfrm>
            <a:off x="8650589" y="2558534"/>
            <a:ext cx="314325" cy="2214562"/>
          </a:xfrm>
          <a:prstGeom prst="ellipse">
            <a:avLst/>
          </a:prstGeom>
          <a:noFill/>
          <a:ln w="381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EAAF0C-1503-0692-A728-4AEE752C5698}"/>
              </a:ext>
            </a:extLst>
          </p:cNvPr>
          <p:cNvSpPr txBox="1"/>
          <p:nvPr/>
        </p:nvSpPr>
        <p:spPr>
          <a:xfrm>
            <a:off x="3221321" y="5401179"/>
            <a:ext cx="32575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00B050"/>
                </a:solidFill>
              </a:rPr>
              <a:t>Use </a:t>
            </a:r>
            <a:r>
              <a:rPr lang="el-GR" sz="2200" b="1" dirty="0">
                <a:solidFill>
                  <a:srgbClr val="00B050"/>
                </a:solidFill>
              </a:rPr>
              <a:t>λ.1</a:t>
            </a:r>
            <a:r>
              <a:rPr lang="en-US" sz="2200" b="1" dirty="0">
                <a:solidFill>
                  <a:srgbClr val="00B050"/>
                </a:solidFill>
              </a:rPr>
              <a:t>se-selected terms for relaxed LASSO</a:t>
            </a:r>
          </a:p>
        </p:txBody>
      </p:sp>
      <p:pic>
        <p:nvPicPr>
          <p:cNvPr id="20" name="Picture 2" descr="Democratic Party (United States) - Wikipedia">
            <a:extLst>
              <a:ext uri="{FF2B5EF4-FFF2-40B4-BE49-F238E27FC236}">
                <a16:creationId xmlns:a16="http://schemas.microsoft.com/office/drawing/2014/main" id="{64CE8723-1585-F867-C047-9DF7BED00B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6165" y="2687775"/>
            <a:ext cx="863692" cy="842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4">
            <a:extLst>
              <a:ext uri="{FF2B5EF4-FFF2-40B4-BE49-F238E27FC236}">
                <a16:creationId xmlns:a16="http://schemas.microsoft.com/office/drawing/2014/main" id="{358F6969-3589-EBA7-DF63-F88BB8653B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5647" y="2723494"/>
            <a:ext cx="853848" cy="752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39913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42753-2CCA-907B-C897-66DB6C11E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279A298-9C42-3AF6-A0E4-F3530488C9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61" t="21597" r="16919" b="15456"/>
          <a:stretch>
            <a:fillRect/>
          </a:stretch>
        </p:blipFill>
        <p:spPr>
          <a:xfrm>
            <a:off x="8277226" y="1367165"/>
            <a:ext cx="2821243" cy="258050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3C05410-43BC-FA6D-AC12-2440C37BC2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70" t="20053" r="16919" b="22342"/>
          <a:stretch>
            <a:fillRect/>
          </a:stretch>
        </p:blipFill>
        <p:spPr>
          <a:xfrm>
            <a:off x="2886075" y="3794805"/>
            <a:ext cx="2722024" cy="2412000"/>
          </a:xfrm>
          <a:prstGeom prst="rect">
            <a:avLst/>
          </a:prstGeom>
        </p:spPr>
      </p:pic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536C150E-749D-31B3-A500-EDFB9AA95C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71525" y="365129"/>
            <a:ext cx="10515600" cy="720721"/>
          </a:xfrm>
        </p:spPr>
        <p:txBody>
          <a:bodyPr>
            <a:noAutofit/>
          </a:bodyPr>
          <a:lstStyle/>
          <a:p>
            <a:r>
              <a:rPr lang="en-US" sz="2800" dirty="0"/>
              <a:t>Partisan animosity is more trait/affect-driven for the Republican party, and more policy-driven for Democrats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921093-FA9F-3990-5D00-79089D3A0C24}"/>
              </a:ext>
            </a:extLst>
          </p:cNvPr>
          <p:cNvSpPr txBox="1"/>
          <p:nvPr/>
        </p:nvSpPr>
        <p:spPr>
          <a:xfrm>
            <a:off x="900112" y="1438779"/>
            <a:ext cx="16906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chemeClr val="accent3">
                    <a:lumMod val="50000"/>
                  </a:schemeClr>
                </a:solidFill>
              </a:rPr>
              <a:t>Democrat animosity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BF2FDB-AE56-2E67-6FF1-63827BF32287}"/>
              </a:ext>
            </a:extLst>
          </p:cNvPr>
          <p:cNvSpPr txBox="1"/>
          <p:nvPr/>
        </p:nvSpPr>
        <p:spPr>
          <a:xfrm>
            <a:off x="900112" y="4008543"/>
            <a:ext cx="16906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chemeClr val="accent3">
                    <a:lumMod val="50000"/>
                  </a:schemeClr>
                </a:solidFill>
              </a:rPr>
              <a:t>Democrat favorability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C04177-4A32-1091-FB44-CF5EABCD56F3}"/>
              </a:ext>
            </a:extLst>
          </p:cNvPr>
          <p:cNvSpPr txBox="1"/>
          <p:nvPr/>
        </p:nvSpPr>
        <p:spPr>
          <a:xfrm>
            <a:off x="6467477" y="1438779"/>
            <a:ext cx="16906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C00000"/>
                </a:solidFill>
              </a:rPr>
              <a:t>Republican animosity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017380-0CE7-6BF5-1F98-83EF38AF64EF}"/>
              </a:ext>
            </a:extLst>
          </p:cNvPr>
          <p:cNvSpPr txBox="1"/>
          <p:nvPr/>
        </p:nvSpPr>
        <p:spPr>
          <a:xfrm>
            <a:off x="6467477" y="4008543"/>
            <a:ext cx="16906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C00000"/>
                </a:solidFill>
              </a:rPr>
              <a:t>Republican favorability</a:t>
            </a:r>
          </a:p>
        </p:txBody>
      </p:sp>
      <p:pic>
        <p:nvPicPr>
          <p:cNvPr id="24" name="Picture 2" descr="Democratic Party (United States) - Wikipedia">
            <a:extLst>
              <a:ext uri="{FF2B5EF4-FFF2-40B4-BE49-F238E27FC236}">
                <a16:creationId xmlns:a16="http://schemas.microsoft.com/office/drawing/2014/main" id="{A7691CB6-5D6C-7011-97CD-CDE01B15D1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408" y="2886173"/>
            <a:ext cx="863692" cy="842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4">
            <a:extLst>
              <a:ext uri="{FF2B5EF4-FFF2-40B4-BE49-F238E27FC236}">
                <a16:creationId xmlns:a16="http://schemas.microsoft.com/office/drawing/2014/main" id="{5ED25086-4114-007B-4525-846D837627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8694" y="2976663"/>
            <a:ext cx="853848" cy="752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F96720A-86F5-D042-C0DA-750915D1CE6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70" t="20053" r="20805" b="18510"/>
          <a:stretch>
            <a:fillRect/>
          </a:stretch>
        </p:blipFill>
        <p:spPr>
          <a:xfrm>
            <a:off x="2928841" y="1367165"/>
            <a:ext cx="2527679" cy="254061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E988EE5-4623-6906-03FC-62F5B2795FD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13" t="23049" r="25161" b="26239"/>
          <a:stretch>
            <a:fillRect/>
          </a:stretch>
        </p:blipFill>
        <p:spPr>
          <a:xfrm>
            <a:off x="8633477" y="3729136"/>
            <a:ext cx="2464992" cy="24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3059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8845E-ACC4-2CC7-BFC9-9AE3523FA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2F503A8A-F698-BDA7-EA6E-B4A996B93E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71524" y="365129"/>
            <a:ext cx="11115675" cy="720721"/>
          </a:xfrm>
        </p:spPr>
        <p:txBody>
          <a:bodyPr>
            <a:noAutofit/>
          </a:bodyPr>
          <a:lstStyle/>
          <a:p>
            <a:r>
              <a:rPr lang="en-US" sz="2400" dirty="0"/>
              <a:t>Democrat animosity is linked to ideological traits and immigration / crime policy, and favorability to progressive identity  </a:t>
            </a:r>
          </a:p>
        </p:txBody>
      </p:sp>
      <p:pic>
        <p:nvPicPr>
          <p:cNvPr id="6" name="Picture 2" descr="Democratic Party (United States) - Wikipedia">
            <a:extLst>
              <a:ext uri="{FF2B5EF4-FFF2-40B4-BE49-F238E27FC236}">
                <a16:creationId xmlns:a16="http://schemas.microsoft.com/office/drawing/2014/main" id="{5C2DB0F5-EFE6-07F4-AA14-48B50BD949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3540" y="814386"/>
            <a:ext cx="863692" cy="842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D413788-A5E0-53A0-A095-039161F6E6CB}"/>
              </a:ext>
            </a:extLst>
          </p:cNvPr>
          <p:cNvSpPr/>
          <p:nvPr/>
        </p:nvSpPr>
        <p:spPr>
          <a:xfrm>
            <a:off x="4635490" y="5813309"/>
            <a:ext cx="2546281" cy="462202"/>
          </a:xfrm>
          <a:prstGeom prst="roundRect">
            <a:avLst/>
          </a:prstGeom>
          <a:noFill/>
          <a:ln>
            <a:solidFill>
              <a:srgbClr val="0354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35480"/>
                </a:solidFill>
              </a:rPr>
              <a:t>Top 10 predictors only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4A729C-2AEC-9E82-CA17-B7F90FCE6B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>
            <a:fillRect/>
          </a:stretch>
        </p:blipFill>
        <p:spPr>
          <a:xfrm>
            <a:off x="771523" y="1895474"/>
            <a:ext cx="10561323" cy="3771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2419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8E993-E266-8F31-C62B-9754C5E7B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FC1F187-C2FC-C51A-670A-77A7A2D4C5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71524" y="365129"/>
            <a:ext cx="11191876" cy="720721"/>
          </a:xfrm>
        </p:spPr>
        <p:txBody>
          <a:bodyPr>
            <a:noAutofit/>
          </a:bodyPr>
          <a:lstStyle/>
          <a:p>
            <a:r>
              <a:rPr lang="en-US" sz="2400" dirty="0"/>
              <a:t>Republican animosity is driven by identity  and class concerns, with favorability driven by national identity and economic themes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7BB6F247-0C3A-8195-6A9C-78820CF83A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3919" y="862113"/>
            <a:ext cx="853848" cy="752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C356CDF-6946-403F-549B-460A7224CCB4}"/>
              </a:ext>
            </a:extLst>
          </p:cNvPr>
          <p:cNvSpPr/>
          <p:nvPr/>
        </p:nvSpPr>
        <p:spPr>
          <a:xfrm>
            <a:off x="4635490" y="5813309"/>
            <a:ext cx="2546281" cy="462202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Top 10 predictors only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787556-B039-A0F9-AB33-44C753FCF1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/>
          <a:stretch>
            <a:fillRect/>
          </a:stretch>
        </p:blipFill>
        <p:spPr>
          <a:xfrm>
            <a:off x="814080" y="1904998"/>
            <a:ext cx="10563840" cy="377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1464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72D2B-BE08-A3D3-2372-5C891ECF0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6AD5AEFA-6AB8-5A9F-A6BB-037DE85AE1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71525" y="365129"/>
            <a:ext cx="10515600" cy="720721"/>
          </a:xfrm>
        </p:spPr>
        <p:txBody>
          <a:bodyPr>
            <a:noAutofit/>
          </a:bodyPr>
          <a:lstStyle/>
          <a:p>
            <a:r>
              <a:rPr lang="en-US" sz="2800" dirty="0"/>
              <a:t>Study 1: Key Findings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7B9DBE-A6D7-C45A-7C8A-7D99E150B226}"/>
              </a:ext>
            </a:extLst>
          </p:cNvPr>
          <p:cNvSpPr txBox="1"/>
          <p:nvPr/>
        </p:nvSpPr>
        <p:spPr>
          <a:xfrm>
            <a:off x="962025" y="1488102"/>
            <a:ext cx="10829925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</a:rPr>
              <a:t>Democrat animosity</a:t>
            </a:r>
            <a:r>
              <a:rPr lang="en-US" sz="2400" dirty="0">
                <a:solidFill>
                  <a:srgbClr val="000000"/>
                </a:solidFill>
              </a:rPr>
              <a:t> is primarily ideological and policy-driven, with trait labeling (“socialist”) and immigration and crime concerns (“border”, “illegal” “crime”)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</a:rPr>
              <a:t>Republican animosity </a:t>
            </a:r>
            <a:r>
              <a:rPr lang="en-US" sz="2400" dirty="0">
                <a:solidFill>
                  <a:srgbClr val="000000"/>
                </a:solidFill>
              </a:rPr>
              <a:t>skews more affect and identity-based, linked to race (“racist”), economic class (“wealthy”, “corporations”, “big business”) and Trump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</a:rPr>
              <a:t>Climate is a wedge issue post-2020:</a:t>
            </a:r>
            <a:r>
              <a:rPr lang="en-US" sz="2400" dirty="0">
                <a:solidFill>
                  <a:srgbClr val="000000"/>
                </a:solidFill>
              </a:rPr>
              <a:t> it is the strongest single animosity predictor for Republicans and a leading favorability predictor for democrats – however, it drops out of the most frequently appearing terms if 2016 is also included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683498-57A6-F862-78C0-DD7DA03AB884}"/>
              </a:ext>
            </a:extLst>
          </p:cNvPr>
          <p:cNvSpPr txBox="1"/>
          <p:nvPr/>
        </p:nvSpPr>
        <p:spPr>
          <a:xfrm>
            <a:off x="962026" y="1004888"/>
            <a:ext cx="102679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000000"/>
                </a:solidFill>
              </a:rPr>
              <a:t>Partisan animosity is rising, driven by distinct mechanisms for each party</a:t>
            </a:r>
          </a:p>
        </p:txBody>
      </p:sp>
    </p:spTree>
    <p:extLst>
      <p:ext uri="{BB962C8B-B14F-4D97-AF65-F5344CB8AC3E}">
        <p14:creationId xmlns:p14="http://schemas.microsoft.com/office/powerpoint/2010/main" val="19834423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F7155-D368-A257-3C47-CF8B6206C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39C3667D-E6EE-1A28-8B0A-69CD152D6C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71525" y="365129"/>
            <a:ext cx="10515600" cy="720721"/>
          </a:xfrm>
        </p:spPr>
        <p:txBody>
          <a:bodyPr>
            <a:noAutofit/>
          </a:bodyPr>
          <a:lstStyle/>
          <a:p>
            <a:r>
              <a:rPr lang="en-US" sz="2800" dirty="0"/>
              <a:t>Agenda</a:t>
            </a:r>
          </a:p>
        </p:txBody>
      </p:sp>
      <p:sp>
        <p:nvSpPr>
          <p:cNvPr id="3" name="Freeform 64">
            <a:extLst>
              <a:ext uri="{FF2B5EF4-FFF2-40B4-BE49-F238E27FC236}">
                <a16:creationId xmlns:a16="http://schemas.microsoft.com/office/drawing/2014/main" id="{0724D1AF-4106-5FF5-1D64-B62A14A1A1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154" y="1214606"/>
            <a:ext cx="915745" cy="865318"/>
          </a:xfrm>
          <a:custGeom>
            <a:avLst/>
            <a:gdLst>
              <a:gd name="T0" fmla="*/ 651639 w 2003"/>
              <a:gd name="T1" fmla="*/ 477662 h 1892"/>
              <a:gd name="T2" fmla="*/ 651639 w 2003"/>
              <a:gd name="T3" fmla="*/ 477662 h 1892"/>
              <a:gd name="T4" fmla="*/ 680425 w 2003"/>
              <a:gd name="T5" fmla="*/ 340519 h 1892"/>
              <a:gd name="T6" fmla="*/ 680425 w 2003"/>
              <a:gd name="T7" fmla="*/ 340519 h 1892"/>
              <a:gd name="T8" fmla="*/ 340392 w 2003"/>
              <a:gd name="T9" fmla="*/ 0 h 1892"/>
              <a:gd name="T10" fmla="*/ 340392 w 2003"/>
              <a:gd name="T11" fmla="*/ 0 h 1892"/>
              <a:gd name="T12" fmla="*/ 0 w 2003"/>
              <a:gd name="T13" fmla="*/ 340519 h 1892"/>
              <a:gd name="T14" fmla="*/ 0 w 2003"/>
              <a:gd name="T15" fmla="*/ 340519 h 1892"/>
              <a:gd name="T16" fmla="*/ 340392 w 2003"/>
              <a:gd name="T17" fmla="*/ 680677 h 1892"/>
              <a:gd name="T18" fmla="*/ 340392 w 2003"/>
              <a:gd name="T19" fmla="*/ 680677 h 1892"/>
              <a:gd name="T20" fmla="*/ 562763 w 2003"/>
              <a:gd name="T21" fmla="*/ 597527 h 1892"/>
              <a:gd name="T22" fmla="*/ 720365 w 2003"/>
              <a:gd name="T23" fmla="*/ 651161 h 1892"/>
              <a:gd name="T24" fmla="*/ 651639 w 2003"/>
              <a:gd name="T25" fmla="*/ 477662 h 189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2003" h="1892">
                <a:moveTo>
                  <a:pt x="1811" y="1327"/>
                </a:moveTo>
                <a:lnTo>
                  <a:pt x="1811" y="1327"/>
                </a:lnTo>
                <a:cubicBezTo>
                  <a:pt x="1862" y="1210"/>
                  <a:pt x="1891" y="1081"/>
                  <a:pt x="1891" y="946"/>
                </a:cubicBezTo>
                <a:cubicBezTo>
                  <a:pt x="1891" y="423"/>
                  <a:pt x="1468" y="0"/>
                  <a:pt x="946" y="0"/>
                </a:cubicBezTo>
                <a:cubicBezTo>
                  <a:pt x="424" y="0"/>
                  <a:pt x="0" y="423"/>
                  <a:pt x="0" y="946"/>
                </a:cubicBezTo>
                <a:cubicBezTo>
                  <a:pt x="0" y="1467"/>
                  <a:pt x="424" y="1891"/>
                  <a:pt x="946" y="1891"/>
                </a:cubicBezTo>
                <a:cubicBezTo>
                  <a:pt x="1182" y="1891"/>
                  <a:pt x="1398" y="1804"/>
                  <a:pt x="1564" y="1660"/>
                </a:cubicBezTo>
                <a:lnTo>
                  <a:pt x="2002" y="1809"/>
                </a:lnTo>
                <a:lnTo>
                  <a:pt x="1811" y="1327"/>
                </a:ln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4" name="Freeform 65">
            <a:extLst>
              <a:ext uri="{FF2B5EF4-FFF2-40B4-BE49-F238E27FC236}">
                <a16:creationId xmlns:a16="http://schemas.microsoft.com/office/drawing/2014/main" id="{8C2A92A4-49A0-AA42-9FE6-07DCB473D0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804" y="1256964"/>
            <a:ext cx="40341" cy="8653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816739-C4E9-22F5-585F-535B5AD357DC}"/>
              </a:ext>
            </a:extLst>
          </p:cNvPr>
          <p:cNvSpPr txBox="1"/>
          <p:nvPr/>
        </p:nvSpPr>
        <p:spPr>
          <a:xfrm>
            <a:off x="2514284" y="1121300"/>
            <a:ext cx="4846300" cy="32650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ts val="1750"/>
              </a:lnSpc>
            </a:pPr>
            <a:r>
              <a:rPr lang="es-NI" sz="1700" b="1" spc="-15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RESEARCH QUESTIONS AND DATA</a:t>
            </a:r>
            <a:endParaRPr lang="en-US" sz="1700" b="1" spc="-15" dirty="0">
              <a:solidFill>
                <a:schemeClr val="tx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04A042-E6DC-1E1A-356C-4223168B1CC6}"/>
              </a:ext>
            </a:extLst>
          </p:cNvPr>
          <p:cNvSpPr txBox="1"/>
          <p:nvPr/>
        </p:nvSpPr>
        <p:spPr>
          <a:xfrm>
            <a:off x="2514284" y="1575725"/>
            <a:ext cx="6334441" cy="541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How can we predict partisan animosity and favorability?</a:t>
            </a:r>
          </a:p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ANES (American National Election Studies) dataset</a:t>
            </a:r>
          </a:p>
        </p:txBody>
      </p:sp>
      <p:sp>
        <p:nvSpPr>
          <p:cNvPr id="9" name="Freeform 64">
            <a:extLst>
              <a:ext uri="{FF2B5EF4-FFF2-40B4-BE49-F238E27FC236}">
                <a16:creationId xmlns:a16="http://schemas.microsoft.com/office/drawing/2014/main" id="{9805651F-9961-3138-E630-6937861FC0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154" y="2976731"/>
            <a:ext cx="915745" cy="865318"/>
          </a:xfrm>
          <a:custGeom>
            <a:avLst/>
            <a:gdLst>
              <a:gd name="T0" fmla="*/ 651639 w 2003"/>
              <a:gd name="T1" fmla="*/ 477662 h 1892"/>
              <a:gd name="T2" fmla="*/ 651639 w 2003"/>
              <a:gd name="T3" fmla="*/ 477662 h 1892"/>
              <a:gd name="T4" fmla="*/ 680425 w 2003"/>
              <a:gd name="T5" fmla="*/ 340519 h 1892"/>
              <a:gd name="T6" fmla="*/ 680425 w 2003"/>
              <a:gd name="T7" fmla="*/ 340519 h 1892"/>
              <a:gd name="T8" fmla="*/ 340392 w 2003"/>
              <a:gd name="T9" fmla="*/ 0 h 1892"/>
              <a:gd name="T10" fmla="*/ 340392 w 2003"/>
              <a:gd name="T11" fmla="*/ 0 h 1892"/>
              <a:gd name="T12" fmla="*/ 0 w 2003"/>
              <a:gd name="T13" fmla="*/ 340519 h 1892"/>
              <a:gd name="T14" fmla="*/ 0 w 2003"/>
              <a:gd name="T15" fmla="*/ 340519 h 1892"/>
              <a:gd name="T16" fmla="*/ 340392 w 2003"/>
              <a:gd name="T17" fmla="*/ 680677 h 1892"/>
              <a:gd name="T18" fmla="*/ 340392 w 2003"/>
              <a:gd name="T19" fmla="*/ 680677 h 1892"/>
              <a:gd name="T20" fmla="*/ 562763 w 2003"/>
              <a:gd name="T21" fmla="*/ 597527 h 1892"/>
              <a:gd name="T22" fmla="*/ 720365 w 2003"/>
              <a:gd name="T23" fmla="*/ 651161 h 1892"/>
              <a:gd name="T24" fmla="*/ 651639 w 2003"/>
              <a:gd name="T25" fmla="*/ 477662 h 189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2003" h="1892">
                <a:moveTo>
                  <a:pt x="1811" y="1327"/>
                </a:moveTo>
                <a:lnTo>
                  <a:pt x="1811" y="1327"/>
                </a:lnTo>
                <a:cubicBezTo>
                  <a:pt x="1862" y="1210"/>
                  <a:pt x="1891" y="1081"/>
                  <a:pt x="1891" y="946"/>
                </a:cubicBezTo>
                <a:cubicBezTo>
                  <a:pt x="1891" y="423"/>
                  <a:pt x="1468" y="0"/>
                  <a:pt x="946" y="0"/>
                </a:cubicBezTo>
                <a:cubicBezTo>
                  <a:pt x="424" y="0"/>
                  <a:pt x="0" y="423"/>
                  <a:pt x="0" y="946"/>
                </a:cubicBezTo>
                <a:cubicBezTo>
                  <a:pt x="0" y="1467"/>
                  <a:pt x="424" y="1891"/>
                  <a:pt x="946" y="1891"/>
                </a:cubicBezTo>
                <a:cubicBezTo>
                  <a:pt x="1182" y="1891"/>
                  <a:pt x="1398" y="1804"/>
                  <a:pt x="1564" y="1660"/>
                </a:cubicBezTo>
                <a:lnTo>
                  <a:pt x="2002" y="1809"/>
                </a:lnTo>
                <a:lnTo>
                  <a:pt x="1811" y="1327"/>
                </a:ln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10" name="Freeform 65">
            <a:extLst>
              <a:ext uri="{FF2B5EF4-FFF2-40B4-BE49-F238E27FC236}">
                <a16:creationId xmlns:a16="http://schemas.microsoft.com/office/drawing/2014/main" id="{DF29A715-7DF1-A329-E3C3-19D14C0AD4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804" y="3019089"/>
            <a:ext cx="40341" cy="8653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AE37E6-B0F6-0CA0-4859-133B9B3ED112}"/>
              </a:ext>
            </a:extLst>
          </p:cNvPr>
          <p:cNvSpPr txBox="1"/>
          <p:nvPr/>
        </p:nvSpPr>
        <p:spPr>
          <a:xfrm>
            <a:off x="2514284" y="2979455"/>
            <a:ext cx="3048839" cy="32650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ts val="1750"/>
              </a:lnSpc>
            </a:pPr>
            <a:r>
              <a:rPr lang="es-NI" sz="1700" b="1" spc="-15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METHODS</a:t>
            </a:r>
            <a:endParaRPr lang="en-US" sz="1700" b="1" spc="-15" dirty="0">
              <a:solidFill>
                <a:schemeClr val="tx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D1EEA6-43C6-43A3-78CE-9FA0B0C96CFF}"/>
              </a:ext>
            </a:extLst>
          </p:cNvPr>
          <p:cNvSpPr txBox="1"/>
          <p:nvPr/>
        </p:nvSpPr>
        <p:spPr>
          <a:xfrm>
            <a:off x="2514284" y="3337850"/>
            <a:ext cx="7763191" cy="541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b="1" spc="-35" dirty="0">
                <a:latin typeface="Poppins" panose="00000500000000000000" pitchFamily="2" charset="0"/>
                <a:cs typeface="Poppins" panose="00000500000000000000" pitchFamily="2" charset="0"/>
              </a:rPr>
              <a:t>Study 1: </a:t>
            </a: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Text mining analysis to predict partisan favorability and animosity</a:t>
            </a:r>
          </a:p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b="1" spc="-35" dirty="0">
                <a:latin typeface="Poppins" panose="00000500000000000000" pitchFamily="2" charset="0"/>
                <a:cs typeface="Poppins" panose="00000500000000000000" pitchFamily="2" charset="0"/>
              </a:rPr>
              <a:t>Study 2: Who responds to open-ended questions on the parties? </a:t>
            </a:r>
          </a:p>
        </p:txBody>
      </p:sp>
      <p:sp>
        <p:nvSpPr>
          <p:cNvPr id="13" name="Freeform 64">
            <a:extLst>
              <a:ext uri="{FF2B5EF4-FFF2-40B4-BE49-F238E27FC236}">
                <a16:creationId xmlns:a16="http://schemas.microsoft.com/office/drawing/2014/main" id="{274154E5-5290-5C05-0FA3-3466EED7AA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154" y="4708079"/>
            <a:ext cx="915745" cy="865318"/>
          </a:xfrm>
          <a:custGeom>
            <a:avLst/>
            <a:gdLst>
              <a:gd name="T0" fmla="*/ 651639 w 2003"/>
              <a:gd name="T1" fmla="*/ 477662 h 1892"/>
              <a:gd name="T2" fmla="*/ 651639 w 2003"/>
              <a:gd name="T3" fmla="*/ 477662 h 1892"/>
              <a:gd name="T4" fmla="*/ 680425 w 2003"/>
              <a:gd name="T5" fmla="*/ 340519 h 1892"/>
              <a:gd name="T6" fmla="*/ 680425 w 2003"/>
              <a:gd name="T7" fmla="*/ 340519 h 1892"/>
              <a:gd name="T8" fmla="*/ 340392 w 2003"/>
              <a:gd name="T9" fmla="*/ 0 h 1892"/>
              <a:gd name="T10" fmla="*/ 340392 w 2003"/>
              <a:gd name="T11" fmla="*/ 0 h 1892"/>
              <a:gd name="T12" fmla="*/ 0 w 2003"/>
              <a:gd name="T13" fmla="*/ 340519 h 1892"/>
              <a:gd name="T14" fmla="*/ 0 w 2003"/>
              <a:gd name="T15" fmla="*/ 340519 h 1892"/>
              <a:gd name="T16" fmla="*/ 340392 w 2003"/>
              <a:gd name="T17" fmla="*/ 680677 h 1892"/>
              <a:gd name="T18" fmla="*/ 340392 w 2003"/>
              <a:gd name="T19" fmla="*/ 680677 h 1892"/>
              <a:gd name="T20" fmla="*/ 562763 w 2003"/>
              <a:gd name="T21" fmla="*/ 597527 h 1892"/>
              <a:gd name="T22" fmla="*/ 720365 w 2003"/>
              <a:gd name="T23" fmla="*/ 651161 h 1892"/>
              <a:gd name="T24" fmla="*/ 651639 w 2003"/>
              <a:gd name="T25" fmla="*/ 477662 h 189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2003" h="1892">
                <a:moveTo>
                  <a:pt x="1811" y="1327"/>
                </a:moveTo>
                <a:lnTo>
                  <a:pt x="1811" y="1327"/>
                </a:lnTo>
                <a:cubicBezTo>
                  <a:pt x="1862" y="1210"/>
                  <a:pt x="1891" y="1081"/>
                  <a:pt x="1891" y="946"/>
                </a:cubicBezTo>
                <a:cubicBezTo>
                  <a:pt x="1891" y="423"/>
                  <a:pt x="1468" y="0"/>
                  <a:pt x="946" y="0"/>
                </a:cubicBezTo>
                <a:cubicBezTo>
                  <a:pt x="424" y="0"/>
                  <a:pt x="0" y="423"/>
                  <a:pt x="0" y="946"/>
                </a:cubicBezTo>
                <a:cubicBezTo>
                  <a:pt x="0" y="1467"/>
                  <a:pt x="424" y="1891"/>
                  <a:pt x="946" y="1891"/>
                </a:cubicBezTo>
                <a:cubicBezTo>
                  <a:pt x="1182" y="1891"/>
                  <a:pt x="1398" y="1804"/>
                  <a:pt x="1564" y="1660"/>
                </a:cubicBezTo>
                <a:lnTo>
                  <a:pt x="2002" y="1809"/>
                </a:lnTo>
                <a:lnTo>
                  <a:pt x="1811" y="1327"/>
                </a:ln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14" name="Freeform 65">
            <a:extLst>
              <a:ext uri="{FF2B5EF4-FFF2-40B4-BE49-F238E27FC236}">
                <a16:creationId xmlns:a16="http://schemas.microsoft.com/office/drawing/2014/main" id="{08BB6A2F-3E62-6FA2-6926-A08AED068D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804" y="4750437"/>
            <a:ext cx="40341" cy="8653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4AF22C-35A3-AAC2-340C-AE2ADDA83823}"/>
              </a:ext>
            </a:extLst>
          </p:cNvPr>
          <p:cNvSpPr txBox="1"/>
          <p:nvPr/>
        </p:nvSpPr>
        <p:spPr>
          <a:xfrm>
            <a:off x="2514284" y="4710803"/>
            <a:ext cx="3048839" cy="32650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ts val="1750"/>
              </a:lnSpc>
            </a:pPr>
            <a:r>
              <a:rPr lang="es-NI" sz="1700" b="1" spc="-15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RESULTS</a:t>
            </a:r>
            <a:endParaRPr lang="en-US" sz="1700" b="1" spc="-15" dirty="0">
              <a:solidFill>
                <a:schemeClr val="tx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E09392-4B1F-872F-7BBE-F1B97C53B5C0}"/>
              </a:ext>
            </a:extLst>
          </p:cNvPr>
          <p:cNvSpPr txBox="1"/>
          <p:nvPr/>
        </p:nvSpPr>
        <p:spPr>
          <a:xfrm>
            <a:off x="2514284" y="5069198"/>
            <a:ext cx="6763066" cy="772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Exploratory Data Analysis</a:t>
            </a:r>
            <a:endParaRPr lang="en-US" sz="1250" b="1" spc="-35" dirty="0">
              <a:solidFill>
                <a:srgbClr val="747A94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b="1" spc="-35" dirty="0">
                <a:solidFill>
                  <a:srgbClr val="747A9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Study 1: </a:t>
            </a:r>
            <a:r>
              <a:rPr lang="en-US" sz="1250" spc="-35" dirty="0">
                <a:solidFill>
                  <a:srgbClr val="747A9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Text mining analysis to predict partisan favorability and animosity</a:t>
            </a:r>
          </a:p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b="1" spc="-35" dirty="0">
                <a:solidFill>
                  <a:srgbClr val="03548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Study 2: Who responds to open-ended questions on the parties? </a:t>
            </a:r>
          </a:p>
        </p:txBody>
      </p:sp>
      <p:pic>
        <p:nvPicPr>
          <p:cNvPr id="2052" name="Picture 4" descr="Human Brain Thinking Icons - Free SVG &amp; PNG Human Brain Thinking Images -  Noun Project">
            <a:extLst>
              <a:ext uri="{FF2B5EF4-FFF2-40B4-BE49-F238E27FC236}">
                <a16:creationId xmlns:a16="http://schemas.microsoft.com/office/drawing/2014/main" id="{A9A2C9C3-FCCB-AF18-A2C9-C557F35CCA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470" y="1361234"/>
            <a:ext cx="533961" cy="533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Method And Gear Monotone Icon In Powerpoint Pptx Png And Editable Eps  Format PPT Sample">
            <a:extLst>
              <a:ext uri="{FF2B5EF4-FFF2-40B4-BE49-F238E27FC236}">
                <a16:creationId xmlns:a16="http://schemas.microsoft.com/office/drawing/2014/main" id="{AFD54B04-62C5-D06E-E3C7-FDB61B778D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 l="24921" t="21111" r="28595" b="9028"/>
          <a:stretch/>
        </p:blipFill>
        <p:spPr bwMode="auto">
          <a:xfrm>
            <a:off x="1068023" y="3113992"/>
            <a:ext cx="698854" cy="590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Icons for PowerPoint Presentations – Chart – Smiletemplates - download at  SmileTemplates.com">
            <a:extLst>
              <a:ext uri="{FF2B5EF4-FFF2-40B4-BE49-F238E27FC236}">
                <a16:creationId xmlns:a16="http://schemas.microsoft.com/office/drawing/2014/main" id="{066F8611-6057-9ED5-2134-1CEA4CBA72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/>
          <a:stretch/>
        </p:blipFill>
        <p:spPr bwMode="auto">
          <a:xfrm>
            <a:off x="971421" y="4816357"/>
            <a:ext cx="895665" cy="670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042675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7F430-E918-9FEF-E0EE-A28A4FD9C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020EED1-EF44-9BF9-44A5-5B5749CD99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833"/>
          <a:stretch>
            <a:fillRect/>
          </a:stretch>
        </p:blipFill>
        <p:spPr>
          <a:xfrm>
            <a:off x="1369943" y="1702230"/>
            <a:ext cx="7854067" cy="457335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989577B-DDAE-39D6-F61D-3C15D85565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3769"/>
          <a:stretch>
            <a:fillRect/>
          </a:stretch>
        </p:blipFill>
        <p:spPr>
          <a:xfrm>
            <a:off x="901464" y="1267043"/>
            <a:ext cx="9604801" cy="299239"/>
          </a:xfrm>
          <a:prstGeom prst="rect">
            <a:avLst/>
          </a:prstGeom>
        </p:spPr>
      </p:pic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CF93FEE-AC4A-2263-C1A1-D41791FC3B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71525" y="365129"/>
            <a:ext cx="10515600" cy="720721"/>
          </a:xfrm>
        </p:spPr>
        <p:txBody>
          <a:bodyPr>
            <a:noAutofit/>
          </a:bodyPr>
          <a:lstStyle/>
          <a:p>
            <a:r>
              <a:rPr lang="en-US" sz="2800" dirty="0"/>
              <a:t>~40-60% of respondents did not provide open-ended text responses</a:t>
            </a:r>
          </a:p>
        </p:txBody>
      </p:sp>
      <p:pic>
        <p:nvPicPr>
          <p:cNvPr id="3074" name="Picture 2" descr="Democratic Party (United States) - Wikipedia">
            <a:extLst>
              <a:ext uri="{FF2B5EF4-FFF2-40B4-BE49-F238E27FC236}">
                <a16:creationId xmlns:a16="http://schemas.microsoft.com/office/drawing/2014/main" id="{76B93060-4EA1-5FBE-E6BC-89544AEE62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0778" y="3156093"/>
            <a:ext cx="863692" cy="842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C760D521-298B-C5E2-4D70-F25A7F7B6F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824" y="3201338"/>
            <a:ext cx="853848" cy="752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69287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30F82-75B8-B733-98FB-58984DBE1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D95C4A3-95E3-EC3D-B77B-2B5D498455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7472" y="1337734"/>
            <a:ext cx="6739199" cy="5054400"/>
          </a:xfrm>
          <a:prstGeom prst="rect">
            <a:avLst/>
          </a:prstGeom>
        </p:spPr>
      </p:pic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B25171A3-9271-5C45-9BC8-EE245234348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71525" y="365129"/>
            <a:ext cx="10515600" cy="720721"/>
          </a:xfrm>
        </p:spPr>
        <p:txBody>
          <a:bodyPr>
            <a:noAutofit/>
          </a:bodyPr>
          <a:lstStyle/>
          <a:p>
            <a:r>
              <a:rPr lang="en-US" sz="2800" dirty="0"/>
              <a:t>LASSO selects ~15-50 predictors per model (depending on choice of </a:t>
            </a:r>
            <a:r>
              <a:rPr lang="el-GR" sz="2800" dirty="0"/>
              <a:t>λ</a:t>
            </a:r>
            <a:r>
              <a:rPr lang="en-US" sz="2800" dirty="0"/>
              <a:t>)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F35C39E-4092-EAD3-C4DD-C4FF2AEB3265}"/>
              </a:ext>
            </a:extLst>
          </p:cNvPr>
          <p:cNvSpPr/>
          <p:nvPr/>
        </p:nvSpPr>
        <p:spPr>
          <a:xfrm>
            <a:off x="4449503" y="1754581"/>
            <a:ext cx="231407" cy="1674419"/>
          </a:xfrm>
          <a:prstGeom prst="ellipse">
            <a:avLst/>
          </a:prstGeom>
          <a:noFill/>
          <a:ln w="381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7D17A9-6C87-3DE5-518C-F98030132642}"/>
              </a:ext>
            </a:extLst>
          </p:cNvPr>
          <p:cNvSpPr txBox="1"/>
          <p:nvPr/>
        </p:nvSpPr>
        <p:spPr>
          <a:xfrm>
            <a:off x="9543153" y="2591789"/>
            <a:ext cx="2345447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00B050"/>
                </a:solidFill>
              </a:rPr>
              <a:t>Use </a:t>
            </a:r>
            <a:r>
              <a:rPr lang="el-GR" sz="2200" b="1" dirty="0">
                <a:solidFill>
                  <a:srgbClr val="00B050"/>
                </a:solidFill>
              </a:rPr>
              <a:t>λ.1</a:t>
            </a:r>
            <a:r>
              <a:rPr lang="en-US" sz="2200" b="1" dirty="0">
                <a:solidFill>
                  <a:srgbClr val="00B050"/>
                </a:solidFill>
              </a:rPr>
              <a:t>se-selected terms for relaxed LASSO </a:t>
            </a:r>
          </a:p>
          <a:p>
            <a:r>
              <a:rPr lang="en-US" sz="2200" b="1" dirty="0">
                <a:solidFill>
                  <a:srgbClr val="00B050"/>
                </a:solidFill>
              </a:rPr>
              <a:t>(enhanced parsimony)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370D440-4428-409B-3B12-554CCFF28B06}"/>
              </a:ext>
            </a:extLst>
          </p:cNvPr>
          <p:cNvSpPr/>
          <p:nvPr/>
        </p:nvSpPr>
        <p:spPr>
          <a:xfrm>
            <a:off x="7797168" y="1754581"/>
            <a:ext cx="231407" cy="1674419"/>
          </a:xfrm>
          <a:prstGeom prst="ellipse">
            <a:avLst/>
          </a:prstGeom>
          <a:noFill/>
          <a:ln w="381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B97EAE3-4B2A-0BA2-6AF9-BDF1326141FC}"/>
              </a:ext>
            </a:extLst>
          </p:cNvPr>
          <p:cNvSpPr/>
          <p:nvPr/>
        </p:nvSpPr>
        <p:spPr>
          <a:xfrm>
            <a:off x="4343826" y="4312085"/>
            <a:ext cx="231407" cy="1674419"/>
          </a:xfrm>
          <a:prstGeom prst="ellipse">
            <a:avLst/>
          </a:prstGeom>
          <a:noFill/>
          <a:ln w="381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EC0C73F-BD0A-AC24-B07A-621A7C32C017}"/>
              </a:ext>
            </a:extLst>
          </p:cNvPr>
          <p:cNvSpPr/>
          <p:nvPr/>
        </p:nvSpPr>
        <p:spPr>
          <a:xfrm>
            <a:off x="7854318" y="4312085"/>
            <a:ext cx="231407" cy="1674419"/>
          </a:xfrm>
          <a:prstGeom prst="ellipse">
            <a:avLst/>
          </a:prstGeom>
          <a:noFill/>
          <a:ln w="381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Democratic Party (United States) - Wikipedia">
            <a:extLst>
              <a:ext uri="{FF2B5EF4-FFF2-40B4-BE49-F238E27FC236}">
                <a16:creationId xmlns:a16="http://schemas.microsoft.com/office/drawing/2014/main" id="{F934D7AA-7B4B-4296-53A2-232A6A178F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881" y="2170308"/>
            <a:ext cx="863692" cy="842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90DF5E6E-9685-15C3-F38F-548C8F2930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1598" y="4761427"/>
            <a:ext cx="861072" cy="758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54317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B4A3D-44C8-6CBB-4B99-B4AE5C872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FDB11FD0-657A-BF8C-1E43-5335EB9B74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71525" y="334307"/>
            <a:ext cx="10515600" cy="720721"/>
          </a:xfrm>
        </p:spPr>
        <p:txBody>
          <a:bodyPr>
            <a:noAutofit/>
          </a:bodyPr>
          <a:lstStyle/>
          <a:p>
            <a:r>
              <a:rPr lang="en-US" sz="2800" dirty="0"/>
              <a:t>Democrat open-ended responses are driven by partisanship, ideology, and education 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92B7814-749F-C09E-799A-4569D11BC67A}"/>
              </a:ext>
            </a:extLst>
          </p:cNvPr>
          <p:cNvSpPr/>
          <p:nvPr/>
        </p:nvSpPr>
        <p:spPr>
          <a:xfrm>
            <a:off x="4756184" y="6231068"/>
            <a:ext cx="2546281" cy="462202"/>
          </a:xfrm>
          <a:prstGeom prst="roundRect">
            <a:avLst/>
          </a:prstGeom>
          <a:noFill/>
          <a:ln>
            <a:solidFill>
              <a:srgbClr val="0354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35480"/>
                </a:solidFill>
              </a:rPr>
              <a:t>Top 10 predictors only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C1C2BE2-738B-965F-811C-9832AEA0C6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883" y="1339439"/>
            <a:ext cx="9338400" cy="4669200"/>
          </a:xfrm>
          <a:prstGeom prst="rect">
            <a:avLst/>
          </a:prstGeom>
        </p:spPr>
      </p:pic>
      <p:pic>
        <p:nvPicPr>
          <p:cNvPr id="11" name="Picture 2" descr="Democratic Party (United States) - Wikipedia">
            <a:extLst>
              <a:ext uri="{FF2B5EF4-FFF2-40B4-BE49-F238E27FC236}">
                <a16:creationId xmlns:a16="http://schemas.microsoft.com/office/drawing/2014/main" id="{A87C5F4D-91A6-1C55-0BAC-75609F7D1E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3540" y="814386"/>
            <a:ext cx="863692" cy="842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06098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22CA3-1935-2800-125C-B052ABE02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AE7F4C77-4C05-C694-4605-C0AFCC38E5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71525" y="344581"/>
            <a:ext cx="10515600" cy="720721"/>
          </a:xfrm>
        </p:spPr>
        <p:txBody>
          <a:bodyPr>
            <a:noAutofit/>
          </a:bodyPr>
          <a:lstStyle/>
          <a:p>
            <a:r>
              <a:rPr lang="en-US" sz="2800" dirty="0"/>
              <a:t>Republican open-ended responses are driven by political engagement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A3FD2BE-35DC-B7CF-3FA8-78DB5950538E}"/>
              </a:ext>
            </a:extLst>
          </p:cNvPr>
          <p:cNvSpPr/>
          <p:nvPr/>
        </p:nvSpPr>
        <p:spPr>
          <a:xfrm>
            <a:off x="4756184" y="6231068"/>
            <a:ext cx="2546281" cy="462202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Top 10 predictors only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DEB549E-E32E-FDB2-9B5F-0226875752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431" y="1317660"/>
            <a:ext cx="9360000" cy="4680000"/>
          </a:xfrm>
          <a:prstGeom prst="rect">
            <a:avLst/>
          </a:prstGeom>
        </p:spPr>
      </p:pic>
      <p:pic>
        <p:nvPicPr>
          <p:cNvPr id="11" name="Picture 4">
            <a:extLst>
              <a:ext uri="{FF2B5EF4-FFF2-40B4-BE49-F238E27FC236}">
                <a16:creationId xmlns:a16="http://schemas.microsoft.com/office/drawing/2014/main" id="{17FEC918-9E84-F921-08F0-59EA63FE69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3919" y="862113"/>
            <a:ext cx="853848" cy="752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64962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FB5B7-3747-DC05-BC7A-4B46CE10A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8885783E-87A0-6238-5719-DD990A65FC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71525" y="365129"/>
            <a:ext cx="10515600" cy="720721"/>
          </a:xfrm>
        </p:spPr>
        <p:txBody>
          <a:bodyPr>
            <a:noAutofit/>
          </a:bodyPr>
          <a:lstStyle/>
          <a:p>
            <a:r>
              <a:rPr lang="en-US" sz="2800" dirty="0"/>
              <a:t>Study 2: Key Findings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FC144C-FDBA-2DAA-989A-AF832820618E}"/>
              </a:ext>
            </a:extLst>
          </p:cNvPr>
          <p:cNvSpPr txBox="1"/>
          <p:nvPr/>
        </p:nvSpPr>
        <p:spPr>
          <a:xfrm>
            <a:off x="962025" y="1488103"/>
            <a:ext cx="10839450" cy="3277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</a:rPr>
              <a:t>Education </a:t>
            </a:r>
            <a:r>
              <a:rPr lang="en-US" sz="2400" dirty="0">
                <a:solidFill>
                  <a:srgbClr val="000000"/>
                </a:solidFill>
              </a:rPr>
              <a:t>is the most consistent predictor of response, with college-educated respondents ~60% more likely to respond across all items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</a:rPr>
              <a:t>Political engagement, </a:t>
            </a:r>
            <a:r>
              <a:rPr lang="en-US" sz="2400" dirty="0">
                <a:solidFill>
                  <a:srgbClr val="000000"/>
                </a:solidFill>
              </a:rPr>
              <a:t>measured by perceptions of a difference between the parties, has the single largest effect across models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</a:rPr>
              <a:t>Partisan strength </a:t>
            </a:r>
            <a:r>
              <a:rPr lang="en-US" sz="2400" dirty="0">
                <a:solidFill>
                  <a:srgbClr val="000000"/>
                </a:solidFill>
              </a:rPr>
              <a:t>matters more than direction, with both Democrats and Republicans more likely to respond than independents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</a:rPr>
              <a:t>Demographics, </a:t>
            </a:r>
            <a:r>
              <a:rPr lang="en-US" sz="2400" dirty="0">
                <a:solidFill>
                  <a:srgbClr val="000000"/>
                </a:solidFill>
              </a:rPr>
              <a:t>such as age, gender and race/ethnicity predict responses commenting on animosity more so than favorability</a:t>
            </a:r>
            <a:endParaRPr lang="en-US" sz="2400" b="1" dirty="0"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CBB3B5-B571-30A3-551E-78DB240EC181}"/>
              </a:ext>
            </a:extLst>
          </p:cNvPr>
          <p:cNvSpPr txBox="1"/>
          <p:nvPr/>
        </p:nvSpPr>
        <p:spPr>
          <a:xfrm>
            <a:off x="962026" y="1004888"/>
            <a:ext cx="102679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000000"/>
                </a:solidFill>
              </a:rPr>
              <a:t>Who respondents to open-ended questions is systematic and </a:t>
            </a:r>
            <a:r>
              <a:rPr lang="en-US" sz="2200" b="1" dirty="0" err="1">
                <a:solidFill>
                  <a:srgbClr val="000000"/>
                </a:solidFill>
              </a:rPr>
              <a:t>nonr</a:t>
            </a:r>
            <a:r>
              <a:rPr lang="en-US" sz="2200" b="1" dirty="0">
                <a:solidFill>
                  <a:srgbClr val="000000"/>
                </a:solidFill>
              </a:rPr>
              <a:t>-random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983C65-A185-8FF5-D11F-A50EA34C4E55}"/>
              </a:ext>
            </a:extLst>
          </p:cNvPr>
          <p:cNvSpPr/>
          <p:nvPr/>
        </p:nvSpPr>
        <p:spPr>
          <a:xfrm>
            <a:off x="1104900" y="4859347"/>
            <a:ext cx="10125075" cy="929223"/>
          </a:xfrm>
          <a:prstGeom prst="rect">
            <a:avLst/>
          </a:prstGeom>
          <a:noFill/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000000"/>
                </a:solidFill>
              </a:rPr>
              <a:t>Implications for Study 1: </a:t>
            </a:r>
            <a:r>
              <a:rPr lang="en-US" sz="2400" dirty="0">
                <a:solidFill>
                  <a:srgbClr val="000000"/>
                </a:solidFill>
              </a:rPr>
              <a:t>The</a:t>
            </a:r>
            <a:r>
              <a:rPr lang="en-US" sz="2400" b="1" dirty="0">
                <a:solidFill>
                  <a:srgbClr val="000000"/>
                </a:solidFill>
              </a:rPr>
              <a:t> </a:t>
            </a:r>
            <a:r>
              <a:rPr lang="en-US" sz="2400" dirty="0">
                <a:solidFill>
                  <a:srgbClr val="000000"/>
                </a:solidFill>
              </a:rPr>
              <a:t>~40-60% non-response rate is non-random, motivating a Heckman selection correction for a study extension</a:t>
            </a:r>
            <a:endParaRPr lang="en-US" sz="24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416579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THINKCELLPRESENTATIONDONOTDELETE" val="&lt;?xml version=&quot;1.0&quot; encoding=&quot;UTF-16&quot; standalone=&quot;yes&quot;?&gt;&lt;root reqver=&quot;28224&quot;&gt;&lt;version val=&quot;35618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1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Consulting template theme">
  <a:themeElements>
    <a:clrScheme name="AI - Title Slides - S1">
      <a:dk1>
        <a:srgbClr val="747A94"/>
      </a:dk1>
      <a:lt1>
        <a:srgbClr val="FFFFFF"/>
      </a:lt1>
      <a:dk2>
        <a:srgbClr val="111340"/>
      </a:dk2>
      <a:lt2>
        <a:srgbClr val="FFFFFF"/>
      </a:lt2>
      <a:accent1>
        <a:srgbClr val="6BC9D3"/>
      </a:accent1>
      <a:accent2>
        <a:srgbClr val="34B1E1"/>
      </a:accent2>
      <a:accent3>
        <a:srgbClr val="035480"/>
      </a:accent3>
      <a:accent4>
        <a:srgbClr val="8A173E"/>
      </a:accent4>
      <a:accent5>
        <a:srgbClr val="E24856"/>
      </a:accent5>
      <a:accent6>
        <a:srgbClr val="C3C8CE"/>
      </a:accent6>
      <a:hlink>
        <a:srgbClr val="32A79F"/>
      </a:hlink>
      <a:folHlink>
        <a:srgbClr val="89E1DE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rgbClr val="6FBFFF"/>
            </a:gs>
            <a:gs pos="98000">
              <a:srgbClr val="3C8BFF"/>
            </a:gs>
          </a:gsLst>
          <a:lin ang="5400000" scaled="1"/>
          <a:tileRect/>
        </a:gra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onsulting template theme" id="{12CEE93B-C586-4F94-B49D-559A92400924}" vid="{3A0FEB64-3E4C-44A5-98C4-EFE2D7C8CA4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Consulting template theme</Template>
  <TotalTime>2151</TotalTime>
  <Words>1575</Words>
  <Application>Microsoft Office PowerPoint</Application>
  <PresentationFormat>Widescreen</PresentationFormat>
  <Paragraphs>165</Paragraphs>
  <Slides>24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Aptos</vt:lpstr>
      <vt:lpstr>Arial</vt:lpstr>
      <vt:lpstr>Courier New</vt:lpstr>
      <vt:lpstr>Montserrat SemiBold</vt:lpstr>
      <vt:lpstr>Poppins</vt:lpstr>
      <vt:lpstr>Wingdings</vt:lpstr>
      <vt:lpstr>Consulting template theme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Rehan Mirza</dc:creator>
  <cp:lastModifiedBy>Rehan Mirza</cp:lastModifiedBy>
  <cp:revision>14</cp:revision>
  <dcterms:created xsi:type="dcterms:W3CDTF">2024-08-11T18:17:14Z</dcterms:created>
  <dcterms:modified xsi:type="dcterms:W3CDTF">2026-04-28T19:33:26Z</dcterms:modified>
</cp:coreProperties>
</file>