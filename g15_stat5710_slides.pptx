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70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</p:sldIdLst>
  <p:sldSz cx="12192000" cy="6858000"/>
  <p:notesSz cx="6858000" cy="9144000"/>
  <p:embeddedFontLst>
    <p:embeddedFont>
      <p:font typeface="Montserrat SemiBold" panose="00000700000000000000" pitchFamily="2" charset="77"/>
      <p:regular r:id="rId25"/>
      <p:bold r:id="rId26"/>
      <p:italic r:id="rId27"/>
      <p:boldItalic r:id="rId28"/>
    </p:embeddedFont>
    <p:embeddedFont>
      <p:font typeface="Poppins" pitchFamily="2" charset="77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72">
          <p15:clr>
            <a:srgbClr val="A4A3A4"/>
          </p15:clr>
        </p15:guide>
        <p15:guide id="2" pos="7272">
          <p15:clr>
            <a:srgbClr val="A4A3A4"/>
          </p15:clr>
        </p15:guide>
        <p15:guide id="3" orient="horz" pos="3884">
          <p15:clr>
            <a:srgbClr val="A4A3A4"/>
          </p15:clr>
        </p15:guide>
        <p15:guide id="4" pos="2252">
          <p15:clr>
            <a:srgbClr val="A4A3A4"/>
          </p15:clr>
        </p15:guide>
        <p15:guide id="5" orient="horz" pos="422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SnmEPeTrwsW9lYmv3bi0OqBCJ/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han Mirz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772"/>
        <p:guide pos="7272"/>
        <p:guide orient="horz" pos="3884"/>
        <p:guide pos="2252"/>
        <p:guide orient="horz" pos="42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a550f49c8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a550f49c8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do we mean by trait- versus issue-based words? Our analysis in this project is mainly descriptive, where we will examine the prominent words from our LASSO model and give a face-value interpretation of whether these words are about policy issues or personality traits. But here’s one example of what trait- and issue-based words look like, based on a structural topic modeling approach in prior literature.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[First set of boxes] In the first set of words, you see a list of trait-based words that mainly describe inferences about the personality, morality, and character of partisans.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[Second set of boxes] This is very different from the second set of words that are mainly about either specific policies like union rights, or about broader political values like freedom.</a:t>
            </a:r>
            <a:endParaRPr dirty="0"/>
          </a:p>
        </p:txBody>
      </p:sp>
      <p:sp>
        <p:nvSpPr>
          <p:cNvPr id="213" name="Google Shape;213;g39a550f49c8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a8a566212_4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da8a566212_4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fixed effect essentially makes it so that the model only compares observations from the same year (demeaned by the mean of the year’s respondents).</a:t>
            </a:r>
            <a:endParaRPr dirty="0"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The fixed effect essentially makes it so that the model only compares observations from the same year (demeaned by the mean of the year’s respondents).</a:t>
            </a:r>
            <a:endParaRPr dirty="0"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a8a566212_4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the final section, we’d like to focus on our findings and their implications.</a:t>
            </a:r>
            <a:endParaRPr/>
          </a:p>
        </p:txBody>
      </p:sp>
      <p:sp>
        <p:nvSpPr>
          <p:cNvPr id="240" name="Google Shape;240;g3da8a566212_4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a8a566212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 here that the sample sizes for each year are widely different.</a:t>
            </a:r>
            <a:endParaRPr dirty="0"/>
          </a:p>
        </p:txBody>
      </p:sp>
      <p:sp>
        <p:nvSpPr>
          <p:cNvPr id="261" name="Google Shape;261;g3da8a56621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a8a566212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 here that the sample has included more and more Republicans over time.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These year-to-year differences are why we added a time (year) fixed effect in our models so that we can account for year-specific patterns.</a:t>
            </a:r>
            <a:endParaRPr dirty="0"/>
          </a:p>
        </p:txBody>
      </p:sp>
      <p:sp>
        <p:nvSpPr>
          <p:cNvPr id="268" name="Google Shape;268;g3da8a56621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a550f49c8_2_2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However, it’s also worth noting that these dominant words are not the same. Words associated with favorability are more specific and policy-related (climate, border), whereas words associated with animosity are more abstract and value-based (socialist, racist).</a:t>
            </a:r>
            <a:endParaRPr dirty="0"/>
          </a:p>
        </p:txBody>
      </p:sp>
      <p:sp>
        <p:nvSpPr>
          <p:cNvPr id="309" name="Google Shape;309;g39a550f49c8_2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9a550f49c8_2_5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39a550f49c8_2_5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a550f49c8_2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" name="Google Shape;368;g39a550f49c8_2_5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this descriptive analysis shows, half or more of the sample is not included in our analysis. Our subsequent Study 2 analysis focuses on the most dominant type of non-response: Not reaching the open-ended question because the respondent previously said they do not have anything they like or dislike about either party.</a:t>
            </a:r>
            <a:endParaRPr dirty="0"/>
          </a:p>
        </p:txBody>
      </p:sp>
      <p:sp>
        <p:nvSpPr>
          <p:cNvPr id="369" name="Google Shape;369;g39a550f49c8_2_5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a550f49c8_2_6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g39a550f49c8_2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a550f49c8_2_7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First set of red boxes: political </a:t>
            </a:r>
            <a:r>
              <a:rPr lang="en-US" dirty="0" err="1"/>
              <a:t>informedness</a:t>
            </a:r>
            <a:r>
              <a:rPr lang="en-US" dirty="0"/>
              <a:t> is the best predictor of expressing Democratic favorability and animosity.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Second set: Education is a strong predictor, where college-educated people are more likely to respond, and people with less than high school education are less likely to express animosity.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Third set: </a:t>
            </a:r>
            <a:r>
              <a:rPr lang="en-US" dirty="0" err="1"/>
              <a:t>Outparty</a:t>
            </a:r>
            <a:r>
              <a:rPr lang="en-US" dirty="0"/>
              <a:t> members are more likely to express animosity, and </a:t>
            </a:r>
            <a:r>
              <a:rPr lang="en-US" dirty="0" err="1"/>
              <a:t>inparty</a:t>
            </a:r>
            <a:r>
              <a:rPr lang="en-US" dirty="0"/>
              <a:t> members are more likely to express favorability.</a:t>
            </a:r>
            <a:endParaRPr dirty="0"/>
          </a:p>
        </p:txBody>
      </p:sp>
      <p:sp>
        <p:nvSpPr>
          <p:cNvPr id="393" name="Google Shape;393;g39a550f49c8_2_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9a550f49c8_2_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g39a550f49c8_2_7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First set of red boxes: Again, political </a:t>
            </a:r>
            <a:r>
              <a:rPr lang="en-US" dirty="0" err="1"/>
              <a:t>informedness</a:t>
            </a:r>
            <a:r>
              <a:rPr lang="en-US" dirty="0"/>
              <a:t> is the best predictor of </a:t>
            </a:r>
            <a:r>
              <a:rPr lang="en-US" dirty="0" err="1"/>
              <a:t>expressingRepublican</a:t>
            </a:r>
            <a:r>
              <a:rPr lang="en-US" dirty="0"/>
              <a:t> favorability and animosity.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Second set: Education is again a strong predictor, where college-educated people are more likely to respond, and people with less than high school education are less likely to do so.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Third set: Here two important demographic predictors emerge. Women and Asian Americans are less likely to express favorability toward Republicans than men and white people, with the same holding for women </a:t>
            </a:r>
            <a:r>
              <a:rPr lang="en-US" dirty="0" err="1"/>
              <a:t>w.r.t.</a:t>
            </a:r>
            <a:r>
              <a:rPr lang="en-US" dirty="0"/>
              <a:t> expressing animosity.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/>
              <a:t>Fourth set: And again, </a:t>
            </a:r>
            <a:r>
              <a:rPr lang="en-US" dirty="0" err="1"/>
              <a:t>outparty</a:t>
            </a:r>
            <a:r>
              <a:rPr lang="en-US" dirty="0"/>
              <a:t> members are more likely to express animosity, and </a:t>
            </a:r>
            <a:r>
              <a:rPr lang="en-US" dirty="0" err="1"/>
              <a:t>inparty</a:t>
            </a:r>
            <a:r>
              <a:rPr lang="en-US" dirty="0"/>
              <a:t> members are more likely to express favorability.</a:t>
            </a:r>
            <a:endParaRPr dirty="0"/>
          </a:p>
        </p:txBody>
      </p:sp>
      <p:sp>
        <p:nvSpPr>
          <p:cNvPr id="411" name="Google Shape;411;g39a550f49c8_2_7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a8a566212_4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3da8a566212_4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xhibit and Content">
  <p:cSld name="Exhibit and Conten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6"/>
          <p:cNvSpPr txBox="1">
            <a:spLocks noGrp="1"/>
          </p:cNvSpPr>
          <p:nvPr>
            <p:ph type="body" idx="1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 b="1" i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6"/>
          <p:cNvSpPr txBox="1">
            <a:spLocks noGrp="1"/>
          </p:cNvSpPr>
          <p:nvPr>
            <p:ph type="body" idx="2"/>
          </p:nvPr>
        </p:nvSpPr>
        <p:spPr>
          <a:xfrm>
            <a:off x="6593305" y="1984375"/>
            <a:ext cx="4760495" cy="3582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>
            <a:spLocks noGrp="1"/>
          </p:cNvSpPr>
          <p:nvPr>
            <p:ph type="body" idx="3"/>
          </p:nvPr>
        </p:nvSpPr>
        <p:spPr>
          <a:xfrm>
            <a:off x="838116" y="2041525"/>
            <a:ext cx="4760495" cy="35338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 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 Slide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 txBox="1">
            <a:spLocks noGrp="1"/>
          </p:cNvSpPr>
          <p:nvPr>
            <p:ph type="body" idx="1"/>
          </p:nvPr>
        </p:nvSpPr>
        <p:spPr>
          <a:xfrm>
            <a:off x="6472238" y="3063875"/>
            <a:ext cx="5368925" cy="69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A173E"/>
              </a:buClr>
              <a:buSzPts val="4000"/>
              <a:buNone/>
              <a:defRPr sz="4000">
                <a:solidFill>
                  <a:srgbClr val="8A173E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8"/>
          <p:cNvSpPr txBox="1">
            <a:spLocks noGrp="1"/>
          </p:cNvSpPr>
          <p:nvPr>
            <p:ph type="body" idx="2"/>
          </p:nvPr>
        </p:nvSpPr>
        <p:spPr>
          <a:xfrm>
            <a:off x="6980238" y="158750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3"/>
          </p:nvPr>
        </p:nvSpPr>
        <p:spPr>
          <a:xfrm>
            <a:off x="6980238" y="399032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>
  <p:cSld name="Title Slide 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>
            <a:spLocks noGrp="1"/>
          </p:cNvSpPr>
          <p:nvPr>
            <p:ph type="body" idx="1"/>
          </p:nvPr>
        </p:nvSpPr>
        <p:spPr>
          <a:xfrm>
            <a:off x="6472238" y="3063875"/>
            <a:ext cx="5368925" cy="69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A173E"/>
              </a:buClr>
              <a:buSzPts val="4000"/>
              <a:buNone/>
              <a:defRPr sz="4000">
                <a:solidFill>
                  <a:srgbClr val="8A173E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body" idx="2"/>
          </p:nvPr>
        </p:nvSpPr>
        <p:spPr>
          <a:xfrm>
            <a:off x="6980238" y="158750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body" idx="3"/>
          </p:nvPr>
        </p:nvSpPr>
        <p:spPr>
          <a:xfrm>
            <a:off x="6980238" y="399032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ox and Bullets Horizontal #1">
  <p:cSld name="1_Box and Bullets Horizontal #1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body" idx="1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 b="1" i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0"/>
          <p:cNvSpPr>
            <a:spLocks noGrp="1"/>
          </p:cNvSpPr>
          <p:nvPr>
            <p:ph type="body" idx="2"/>
          </p:nvPr>
        </p:nvSpPr>
        <p:spPr>
          <a:xfrm>
            <a:off x="838117" y="2041525"/>
            <a:ext cx="2514600" cy="1648159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0"/>
          <p:cNvSpPr>
            <a:spLocks noGrp="1"/>
          </p:cNvSpPr>
          <p:nvPr>
            <p:ph type="body" idx="3"/>
          </p:nvPr>
        </p:nvSpPr>
        <p:spPr>
          <a:xfrm>
            <a:off x="3505145" y="2041525"/>
            <a:ext cx="2514600" cy="1648159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0"/>
          <p:cNvSpPr>
            <a:spLocks noGrp="1"/>
          </p:cNvSpPr>
          <p:nvPr>
            <p:ph type="body" idx="4"/>
          </p:nvPr>
        </p:nvSpPr>
        <p:spPr>
          <a:xfrm>
            <a:off x="6172173" y="2041525"/>
            <a:ext cx="2514600" cy="1648159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0"/>
          <p:cNvSpPr txBox="1">
            <a:spLocks noGrp="1"/>
          </p:cNvSpPr>
          <p:nvPr>
            <p:ph type="body" idx="5"/>
          </p:nvPr>
        </p:nvSpPr>
        <p:spPr>
          <a:xfrm>
            <a:off x="838111" y="4122738"/>
            <a:ext cx="2514601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0"/>
          <p:cNvSpPr txBox="1">
            <a:spLocks noGrp="1"/>
          </p:cNvSpPr>
          <p:nvPr>
            <p:ph type="body" idx="6"/>
          </p:nvPr>
        </p:nvSpPr>
        <p:spPr>
          <a:xfrm>
            <a:off x="3505141" y="4122738"/>
            <a:ext cx="2514601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0"/>
          <p:cNvSpPr>
            <a:spLocks noGrp="1"/>
          </p:cNvSpPr>
          <p:nvPr>
            <p:ph type="body" idx="7"/>
          </p:nvPr>
        </p:nvSpPr>
        <p:spPr>
          <a:xfrm>
            <a:off x="8839200" y="2041525"/>
            <a:ext cx="2514600" cy="1648159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30"/>
          <p:cNvSpPr txBox="1">
            <a:spLocks noGrp="1"/>
          </p:cNvSpPr>
          <p:nvPr>
            <p:ph type="body" idx="8"/>
          </p:nvPr>
        </p:nvSpPr>
        <p:spPr>
          <a:xfrm>
            <a:off x="6172170" y="4122738"/>
            <a:ext cx="2514601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body" idx="9"/>
          </p:nvPr>
        </p:nvSpPr>
        <p:spPr>
          <a:xfrm>
            <a:off x="8839200" y="4122738"/>
            <a:ext cx="2514600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2">
  <p:cSld name="Title Slide 1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>
            <a:spLocks noGrp="1"/>
          </p:cNvSpPr>
          <p:nvPr>
            <p:ph type="body" idx="1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 b="1" i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6593305" y="1984375"/>
            <a:ext cx="4760495" cy="3582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>
            <a:spLocks noGrp="1"/>
          </p:cNvSpPr>
          <p:nvPr>
            <p:ph type="body" idx="3"/>
          </p:nvPr>
        </p:nvSpPr>
        <p:spPr>
          <a:xfrm>
            <a:off x="838116" y="2041525"/>
            <a:ext cx="4760495" cy="353386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body" idx="4"/>
          </p:nvPr>
        </p:nvSpPr>
        <p:spPr>
          <a:xfrm>
            <a:off x="673100" y="6319875"/>
            <a:ext cx="106807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1">
  <p:cSld name="1_Title Slide 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2"/>
          <p:cNvSpPr txBox="1">
            <a:spLocks noGrp="1"/>
          </p:cNvSpPr>
          <p:nvPr>
            <p:ph type="body" idx="1"/>
          </p:nvPr>
        </p:nvSpPr>
        <p:spPr>
          <a:xfrm>
            <a:off x="6472238" y="3063875"/>
            <a:ext cx="5368925" cy="69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A173E"/>
              </a:buClr>
              <a:buSzPts val="4000"/>
              <a:buNone/>
              <a:defRPr sz="4000">
                <a:solidFill>
                  <a:srgbClr val="8A173E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2"/>
          <p:cNvSpPr/>
          <p:nvPr/>
        </p:nvSpPr>
        <p:spPr>
          <a:xfrm>
            <a:off x="7331242" y="23822"/>
            <a:ext cx="4857582" cy="1408242"/>
          </a:xfrm>
          <a:custGeom>
            <a:avLst/>
            <a:gdLst/>
            <a:ahLst/>
            <a:cxnLst/>
            <a:rect l="l" t="t" r="r" b="b"/>
            <a:pathLst>
              <a:path w="8888" h="2559" extrusionOk="0">
                <a:moveTo>
                  <a:pt x="8887" y="2558"/>
                </a:moveTo>
                <a:lnTo>
                  <a:pt x="1115" y="2558"/>
                </a:lnTo>
                <a:lnTo>
                  <a:pt x="1115" y="2558"/>
                </a:lnTo>
                <a:cubicBezTo>
                  <a:pt x="499" y="2558"/>
                  <a:pt x="0" y="2059"/>
                  <a:pt x="0" y="1443"/>
                </a:cubicBez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" name="Google Shape;45;p32"/>
          <p:cNvSpPr/>
          <p:nvPr/>
        </p:nvSpPr>
        <p:spPr>
          <a:xfrm>
            <a:off x="350837" y="4738786"/>
            <a:ext cx="5401864" cy="2095392"/>
          </a:xfrm>
          <a:custGeom>
            <a:avLst/>
            <a:gdLst/>
            <a:ahLst/>
            <a:cxnLst/>
            <a:rect l="l" t="t" r="r" b="b"/>
            <a:pathLst>
              <a:path w="8763" h="3250" extrusionOk="0">
                <a:moveTo>
                  <a:pt x="8762" y="3249"/>
                </a:moveTo>
                <a:lnTo>
                  <a:pt x="8762" y="926"/>
                </a:lnTo>
                <a:lnTo>
                  <a:pt x="8762" y="926"/>
                </a:lnTo>
                <a:cubicBezTo>
                  <a:pt x="8762" y="415"/>
                  <a:pt x="8348" y="0"/>
                  <a:pt x="7837" y="0"/>
                </a:cubicBezTo>
                <a:lnTo>
                  <a:pt x="0" y="0"/>
                </a:lnTo>
                <a:lnTo>
                  <a:pt x="0" y="3249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32"/>
          <p:cNvSpPr/>
          <p:nvPr/>
        </p:nvSpPr>
        <p:spPr>
          <a:xfrm>
            <a:off x="2" y="1432064"/>
            <a:ext cx="3183465" cy="2978241"/>
          </a:xfrm>
          <a:custGeom>
            <a:avLst/>
            <a:gdLst/>
            <a:ahLst/>
            <a:cxnLst/>
            <a:rect l="l" t="t" r="r" b="b"/>
            <a:pathLst>
              <a:path w="5611" h="5771" extrusionOk="0">
                <a:moveTo>
                  <a:pt x="2724" y="3890"/>
                </a:moveTo>
                <a:lnTo>
                  <a:pt x="2724" y="3890"/>
                </a:lnTo>
                <a:cubicBezTo>
                  <a:pt x="2170" y="3890"/>
                  <a:pt x="1720" y="3441"/>
                  <a:pt x="1720" y="2885"/>
                </a:cubicBezTo>
                <a:lnTo>
                  <a:pt x="1720" y="2885"/>
                </a:lnTo>
                <a:cubicBezTo>
                  <a:pt x="1720" y="2331"/>
                  <a:pt x="2170" y="1881"/>
                  <a:pt x="2724" y="1881"/>
                </a:cubicBezTo>
                <a:lnTo>
                  <a:pt x="2724" y="1881"/>
                </a:lnTo>
                <a:cubicBezTo>
                  <a:pt x="3280" y="1881"/>
                  <a:pt x="3729" y="2331"/>
                  <a:pt x="3729" y="2885"/>
                </a:cubicBezTo>
                <a:lnTo>
                  <a:pt x="3729" y="2885"/>
                </a:lnTo>
                <a:cubicBezTo>
                  <a:pt x="3729" y="3441"/>
                  <a:pt x="3280" y="3890"/>
                  <a:pt x="2724" y="3890"/>
                </a:cubicBezTo>
                <a:close/>
                <a:moveTo>
                  <a:pt x="2724" y="0"/>
                </a:moveTo>
                <a:lnTo>
                  <a:pt x="2724" y="0"/>
                </a:lnTo>
                <a:cubicBezTo>
                  <a:pt x="1465" y="0"/>
                  <a:pt x="393" y="809"/>
                  <a:pt x="0" y="1934"/>
                </a:cubicBezTo>
                <a:lnTo>
                  <a:pt x="0" y="3836"/>
                </a:lnTo>
                <a:lnTo>
                  <a:pt x="0" y="3836"/>
                </a:lnTo>
                <a:cubicBezTo>
                  <a:pt x="393" y="4962"/>
                  <a:pt x="1465" y="5770"/>
                  <a:pt x="2724" y="5770"/>
                </a:cubicBezTo>
                <a:lnTo>
                  <a:pt x="2724" y="5770"/>
                </a:lnTo>
                <a:cubicBezTo>
                  <a:pt x="4318" y="5770"/>
                  <a:pt x="5610" y="4478"/>
                  <a:pt x="5610" y="2885"/>
                </a:cubicBezTo>
                <a:lnTo>
                  <a:pt x="5610" y="2885"/>
                </a:lnTo>
                <a:cubicBezTo>
                  <a:pt x="5610" y="1292"/>
                  <a:pt x="4318" y="0"/>
                  <a:pt x="272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Google Shape;47;p32"/>
          <p:cNvSpPr>
            <a:spLocks noGrp="1"/>
          </p:cNvSpPr>
          <p:nvPr>
            <p:ph type="pic" idx="2"/>
          </p:nvPr>
        </p:nvSpPr>
        <p:spPr>
          <a:xfrm>
            <a:off x="1536434" y="2909508"/>
            <a:ext cx="3500789" cy="3302926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32"/>
          <p:cNvSpPr txBox="1">
            <a:spLocks noGrp="1"/>
          </p:cNvSpPr>
          <p:nvPr>
            <p:ph type="body" idx="3"/>
          </p:nvPr>
        </p:nvSpPr>
        <p:spPr>
          <a:xfrm>
            <a:off x="6980238" y="158750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b="1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2"/>
          <p:cNvSpPr txBox="1">
            <a:spLocks noGrp="1"/>
          </p:cNvSpPr>
          <p:nvPr>
            <p:ph type="body" idx="4"/>
          </p:nvPr>
        </p:nvSpPr>
        <p:spPr>
          <a:xfrm>
            <a:off x="6980238" y="399032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2">
  <p:cSld name="1_Title Slide 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>
            <a:spLocks noGrp="1"/>
          </p:cNvSpPr>
          <p:nvPr>
            <p:ph type="body" idx="1"/>
          </p:nvPr>
        </p:nvSpPr>
        <p:spPr>
          <a:xfrm>
            <a:off x="6472238" y="3063875"/>
            <a:ext cx="5368925" cy="69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A173E"/>
              </a:buClr>
              <a:buSzPts val="4000"/>
              <a:buNone/>
              <a:defRPr sz="4000">
                <a:solidFill>
                  <a:srgbClr val="8A173E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body" idx="2"/>
          </p:nvPr>
        </p:nvSpPr>
        <p:spPr>
          <a:xfrm>
            <a:off x="6980238" y="158750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body" idx="3"/>
          </p:nvPr>
        </p:nvSpPr>
        <p:spPr>
          <a:xfrm>
            <a:off x="6980238" y="399032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3"/>
          <p:cNvSpPr/>
          <p:nvPr/>
        </p:nvSpPr>
        <p:spPr>
          <a:xfrm>
            <a:off x="1219200" y="4738786"/>
            <a:ext cx="4533501" cy="2095392"/>
          </a:xfrm>
          <a:custGeom>
            <a:avLst/>
            <a:gdLst/>
            <a:ahLst/>
            <a:cxnLst/>
            <a:rect l="l" t="t" r="r" b="b"/>
            <a:pathLst>
              <a:path w="8763" h="3250" extrusionOk="0">
                <a:moveTo>
                  <a:pt x="8762" y="3249"/>
                </a:moveTo>
                <a:lnTo>
                  <a:pt x="8762" y="926"/>
                </a:lnTo>
                <a:lnTo>
                  <a:pt x="8762" y="926"/>
                </a:lnTo>
                <a:cubicBezTo>
                  <a:pt x="8762" y="415"/>
                  <a:pt x="8348" y="0"/>
                  <a:pt x="7837" y="0"/>
                </a:cubicBezTo>
                <a:lnTo>
                  <a:pt x="0" y="0"/>
                </a:lnTo>
                <a:lnTo>
                  <a:pt x="0" y="3249"/>
                </a:lnTo>
              </a:path>
            </a:pathLst>
          </a:custGeom>
          <a:noFill/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33"/>
          <p:cNvSpPr>
            <a:spLocks noGrp="1"/>
          </p:cNvSpPr>
          <p:nvPr>
            <p:ph type="pic" idx="4"/>
          </p:nvPr>
        </p:nvSpPr>
        <p:spPr>
          <a:xfrm>
            <a:off x="1536434" y="2909508"/>
            <a:ext cx="3500789" cy="3302926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3">
  <p:cSld name="1_Title Slide 3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>
            <a:spLocks noGrp="1"/>
          </p:cNvSpPr>
          <p:nvPr>
            <p:ph type="body" idx="1"/>
          </p:nvPr>
        </p:nvSpPr>
        <p:spPr>
          <a:xfrm>
            <a:off x="6472238" y="3063875"/>
            <a:ext cx="5368925" cy="696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A173E"/>
              </a:buClr>
              <a:buSzPts val="4000"/>
              <a:buNone/>
              <a:defRPr sz="4000">
                <a:solidFill>
                  <a:srgbClr val="8A173E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body" idx="2"/>
          </p:nvPr>
        </p:nvSpPr>
        <p:spPr>
          <a:xfrm>
            <a:off x="6980238" y="158750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body" idx="3"/>
          </p:nvPr>
        </p:nvSpPr>
        <p:spPr>
          <a:xfrm>
            <a:off x="6980238" y="3990320"/>
            <a:ext cx="4860925" cy="101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>
                <a:solidFill>
                  <a:srgbClr val="000000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ox and Bullets Horizontal #1">
  <p:cSld name="3_Box and Bullets Horizontal #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>
            <a:spLocks noGrp="1"/>
          </p:cNvSpPr>
          <p:nvPr>
            <p:ph type="body" idx="1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 b="1" i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>
            <a:spLocks noGrp="1"/>
          </p:cNvSpPr>
          <p:nvPr>
            <p:ph type="body" idx="2"/>
          </p:nvPr>
        </p:nvSpPr>
        <p:spPr>
          <a:xfrm>
            <a:off x="838117" y="2041525"/>
            <a:ext cx="2514600" cy="1648159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>
            <a:spLocks noGrp="1"/>
          </p:cNvSpPr>
          <p:nvPr>
            <p:ph type="body" idx="3"/>
          </p:nvPr>
        </p:nvSpPr>
        <p:spPr>
          <a:xfrm>
            <a:off x="3505145" y="2041525"/>
            <a:ext cx="2514600" cy="1648159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>
            <a:spLocks noGrp="1"/>
          </p:cNvSpPr>
          <p:nvPr>
            <p:ph type="body" idx="4"/>
          </p:nvPr>
        </p:nvSpPr>
        <p:spPr>
          <a:xfrm>
            <a:off x="6172173" y="2041525"/>
            <a:ext cx="2514600" cy="1648159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body" idx="5"/>
          </p:nvPr>
        </p:nvSpPr>
        <p:spPr>
          <a:xfrm>
            <a:off x="838111" y="4122738"/>
            <a:ext cx="2514601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body" idx="6"/>
          </p:nvPr>
        </p:nvSpPr>
        <p:spPr>
          <a:xfrm>
            <a:off x="3505141" y="4122738"/>
            <a:ext cx="2514601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>
            <a:spLocks noGrp="1"/>
          </p:cNvSpPr>
          <p:nvPr>
            <p:ph type="body" idx="7"/>
          </p:nvPr>
        </p:nvSpPr>
        <p:spPr>
          <a:xfrm>
            <a:off x="8839200" y="2041525"/>
            <a:ext cx="2514600" cy="1648159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body" idx="8"/>
          </p:nvPr>
        </p:nvSpPr>
        <p:spPr>
          <a:xfrm>
            <a:off x="6172170" y="4122738"/>
            <a:ext cx="2514601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body" idx="9"/>
          </p:nvPr>
        </p:nvSpPr>
        <p:spPr>
          <a:xfrm>
            <a:off x="8839200" y="4122738"/>
            <a:ext cx="2514600" cy="144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  <a:defRPr>
                <a:solidFill>
                  <a:srgbClr val="00000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oppins"/>
              <a:buNone/>
              <a:defRPr sz="40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rm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2" name="Google Shape;12;p25" descr="Annenberg School for Communication Library | Penn Libraries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8201" y="6248571"/>
            <a:ext cx="1984159" cy="48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5" descr="Wharton School - Wikipedia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363637" y="6242088"/>
            <a:ext cx="2066364" cy="5385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/>
          <p:nvPr/>
        </p:nvSpPr>
        <p:spPr>
          <a:xfrm>
            <a:off x="813123" y="781884"/>
            <a:ext cx="1176940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Issues or traits?</a:t>
            </a:r>
            <a:endParaRPr/>
          </a:p>
        </p:txBody>
      </p:sp>
      <p:sp>
        <p:nvSpPr>
          <p:cNvPr id="136" name="Google Shape;136;p1"/>
          <p:cNvSpPr txBox="1"/>
          <p:nvPr/>
        </p:nvSpPr>
        <p:spPr>
          <a:xfrm>
            <a:off x="463296" y="4526756"/>
            <a:ext cx="1108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Group 15: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Wei (David) 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Wang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 Rehan Mirza, Ying Zhang</a:t>
            </a:r>
            <a:endParaRPr sz="2000" dirty="0"/>
          </a:p>
        </p:txBody>
      </p:sp>
      <p:sp>
        <p:nvSpPr>
          <p:cNvPr id="137" name="Google Shape;137;p1"/>
          <p:cNvSpPr txBox="1"/>
          <p:nvPr/>
        </p:nvSpPr>
        <p:spPr>
          <a:xfrm>
            <a:off x="7039000" y="4000359"/>
            <a:ext cx="45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 May 2026</a:t>
            </a:r>
            <a:endParaRPr sz="2000"/>
          </a:p>
        </p:txBody>
      </p:sp>
      <p:sp>
        <p:nvSpPr>
          <p:cNvPr id="138" name="Google Shape;138;p1"/>
          <p:cNvSpPr txBox="1"/>
          <p:nvPr/>
        </p:nvSpPr>
        <p:spPr>
          <a:xfrm>
            <a:off x="813123" y="1489770"/>
            <a:ext cx="109407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Understanding Americans</a:t>
            </a:r>
            <a:r>
              <a:rPr lang="en-US" sz="4000">
                <a:latin typeface="Poppins"/>
                <a:ea typeface="Poppins"/>
                <a:cs typeface="Poppins"/>
                <a:sym typeface="Poppins"/>
              </a:rPr>
              <a:t>’</a:t>
            </a:r>
            <a:r>
              <a:rPr lang="en-US" sz="4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partisan favorability and animosity through open-ended survey </a:t>
            </a:r>
            <a:r>
              <a:rPr lang="en-US" sz="4000">
                <a:latin typeface="Poppins"/>
                <a:ea typeface="Poppins"/>
                <a:cs typeface="Poppins"/>
                <a:sym typeface="Poppins"/>
              </a:rPr>
              <a:t>responses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Agenda</a:t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988154" y="1214606"/>
            <a:ext cx="915745" cy="865318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2514273" y="1121300"/>
            <a:ext cx="603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Section A: RESEARCH QUESTIONS AND DATA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2514284" y="1575725"/>
            <a:ext cx="6334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25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can we predict partisan animosity and favorability?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ANES (American National Election Studies) dataset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988154" y="2976731"/>
            <a:ext cx="915745" cy="865318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rgbClr val="E2E4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2514284" y="2979455"/>
            <a:ext cx="304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Section B: METHODS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1: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mining analysis to predict partisan favorability and animosity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2: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Who responds to open-ended questions on the parties? </a:t>
            </a:r>
            <a:endParaRPr/>
          </a:p>
        </p:txBody>
      </p:sp>
      <p:sp>
        <p:nvSpPr>
          <p:cNvPr id="152" name="Google Shape;152;p2"/>
          <p:cNvSpPr/>
          <p:nvPr/>
        </p:nvSpPr>
        <p:spPr>
          <a:xfrm>
            <a:off x="988154" y="4708079"/>
            <a:ext cx="915745" cy="865318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rgbClr val="E2E4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2514267" y="4710801"/>
            <a:ext cx="5793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Section C: Findings and Key insights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2514284" y="5069198"/>
            <a:ext cx="6191566" cy="77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Exploratory Data Analysis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1: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mining analysis to predict partisan favorability and animosity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2: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Who responds to open-ended questions on the parties? </a:t>
            </a:r>
            <a:endParaRPr/>
          </a:p>
        </p:txBody>
      </p:sp>
      <p:pic>
        <p:nvPicPr>
          <p:cNvPr id="156" name="Google Shape;156;p2" descr="Human Brain Thinking Icons - Free SVG &amp; PNG Human Brain Thinking Images -  Noun Projec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470" y="1361234"/>
            <a:ext cx="533961" cy="533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" descr="Method And Gear Monotone Icon In Powerpoint Pptx Png And Editable Eps  Format PPT Sample"/>
          <p:cNvPicPr preferRelativeResize="0"/>
          <p:nvPr/>
        </p:nvPicPr>
        <p:blipFill rotWithShape="1">
          <a:blip r:embed="rId4">
            <a:alphaModFix/>
          </a:blip>
          <a:srcRect l="24921" t="21111" r="28595" b="9028"/>
          <a:stretch/>
        </p:blipFill>
        <p:spPr>
          <a:xfrm>
            <a:off x="1068023" y="3113992"/>
            <a:ext cx="698854" cy="590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" descr="Icons for PowerPoint Presentations – Chart – Smiletemplates - download at  SmileTemplates.co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421" y="4816357"/>
            <a:ext cx="895665" cy="67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"/>
          <p:cNvSpPr/>
          <p:nvPr/>
        </p:nvSpPr>
        <p:spPr>
          <a:xfrm>
            <a:off x="672625" y="967493"/>
            <a:ext cx="8656200" cy="1420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Motivation and Research Questions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838275" y="1085850"/>
            <a:ext cx="105156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Democrats and Republicans increasingly dislike each other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over the past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years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Courier New"/>
              <a:buChar char="o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Subsequent problems: unwilling to find political compromise, rise in political violence, less support for democratic norms, etc.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Why </a:t>
            </a:r>
            <a:endParaRPr dirty="0"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Courier New"/>
              <a:buChar char="o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Trait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-based account: Americans see out-party supporters as immoral, having poor character, no integrity, etc., </a:t>
            </a:r>
            <a:r>
              <a:rPr lang="en-US" sz="2400" i="1" dirty="0">
                <a:latin typeface="Calibri"/>
                <a:ea typeface="Calibri"/>
                <a:cs typeface="Calibri"/>
                <a:sym typeface="Calibri"/>
              </a:rPr>
              <a:t>simply because they support the out-party.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Problematic!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0"/>
              <a:buFont typeface="Courier New"/>
              <a:buChar char="o"/>
            </a:pP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Issue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-based account: Americans dislike out-party supporters’ policy opinions and political values, on which the two parties have moved further apart.</a:t>
            </a:r>
            <a:endParaRPr sz="2400" i="1" dirty="0"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Less problematic</a:t>
            </a:r>
            <a:endParaRPr dirty="0"/>
          </a:p>
        </p:txBody>
      </p:sp>
      <p:sp>
        <p:nvSpPr>
          <p:cNvPr id="166" name="Google Shape;166;p3"/>
          <p:cNvSpPr txBox="1"/>
          <p:nvPr/>
        </p:nvSpPr>
        <p:spPr>
          <a:xfrm>
            <a:off x="944925" y="4872450"/>
            <a:ext cx="10599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RQ1: Wh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 Americans lik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their in-party and dislik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 out-party,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in their own words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67" name="Google Shape;167;p3"/>
          <p:cNvSpPr txBox="1"/>
          <p:nvPr/>
        </p:nvSpPr>
        <p:spPr>
          <a:xfrm>
            <a:off x="944925" y="5617950"/>
            <a:ext cx="1075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RQ2: Wh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at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predicts whether someone provides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an explanation in the first place</a:t>
            </a: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Data: ANES 2008-2024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962025" y="1447800"/>
            <a:ext cx="10515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merican National Election Studies (Time Series data)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2008-2024 (5 election cycles)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Fresh, cross-sectional pre-election probabilistic samples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Pooled N=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26,30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962026" y="986135"/>
            <a:ext cx="102679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 &amp; Coverage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962025" y="3011091"/>
            <a:ext cx="105156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Study 1 </a:t>
            </a: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Outcome: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Feeling thermometers for Democrats and Republicans (0-100 scale), recoded into 5-class indicator for LASSO</a:t>
            </a:r>
            <a:endParaRPr/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Study 1</a:t>
            </a: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predictors: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Open-ended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reasons for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favorability or animosity toward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each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part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“Why do you dis/like the Democratic/Republican party?”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skip-grams (for robustness checks: also n-grams, stems)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Study 2 </a:t>
            </a: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Outcome: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Whether respondent provided open-ended text response, coded as binary</a:t>
            </a:r>
            <a:endParaRPr/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o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0-60% of respondents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gave non-responses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Study 2 predictors: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Political attitudes (e.g., country on right track?) and demographics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variable inclusion criteria: measured all five years; substantively relevant for RQ1&amp;2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962026" y="2652026"/>
            <a:ext cx="10268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variables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a550f49c8_1_4"/>
          <p:cNvSpPr txBox="1">
            <a:spLocks noGrp="1"/>
          </p:cNvSpPr>
          <p:nvPr>
            <p:ph type="body" idx="1"/>
          </p:nvPr>
        </p:nvSpPr>
        <p:spPr>
          <a:xfrm>
            <a:off x="838200" y="342050"/>
            <a:ext cx="10515600" cy="891000"/>
          </a:xfrm>
          <a:prstGeom prst="rect">
            <a:avLst/>
          </a:prstGeom>
        </p:spPr>
        <p:txBody>
          <a:bodyPr spcFirstLastPara="1" wrap="square" lIns="182825" tIns="91400" rIns="182825" bIns="91400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‘‘words that typically describe people who support the [Democratic/Republican] party’’</a:t>
            </a:r>
            <a:endParaRPr sz="3300"/>
          </a:p>
        </p:txBody>
      </p:sp>
      <p:pic>
        <p:nvPicPr>
          <p:cNvPr id="216" name="Google Shape;216;g39a550f49c8_1_4" title="Screenshot 2026-04-28 at 5.18.30 PM.png"/>
          <p:cNvPicPr preferRelativeResize="0"/>
          <p:nvPr/>
        </p:nvPicPr>
        <p:blipFill rotWithShape="1">
          <a:blip r:embed="rId3">
            <a:alphaModFix/>
          </a:blip>
          <a:srcRect l="45555" t="6877" b="13340"/>
          <a:stretch/>
        </p:blipFill>
        <p:spPr>
          <a:xfrm>
            <a:off x="1242350" y="2466625"/>
            <a:ext cx="4529051" cy="35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9a550f49c8_1_4" title="Screenshot 2026-04-28 at 5.18.42 PM.png"/>
          <p:cNvPicPr preferRelativeResize="0"/>
          <p:nvPr/>
        </p:nvPicPr>
        <p:blipFill rotWithShape="1">
          <a:blip r:embed="rId4">
            <a:alphaModFix/>
          </a:blip>
          <a:srcRect l="46692"/>
          <a:stretch/>
        </p:blipFill>
        <p:spPr>
          <a:xfrm>
            <a:off x="6383575" y="2005241"/>
            <a:ext cx="4529050" cy="4160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9a550f49c8_1_4"/>
          <p:cNvSpPr/>
          <p:nvPr/>
        </p:nvSpPr>
        <p:spPr>
          <a:xfrm>
            <a:off x="1242375" y="3611975"/>
            <a:ext cx="4529100" cy="290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g39a550f49c8_1_4"/>
          <p:cNvSpPr/>
          <p:nvPr/>
        </p:nvSpPr>
        <p:spPr>
          <a:xfrm>
            <a:off x="6420550" y="4429625"/>
            <a:ext cx="4529100" cy="8910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g39a550f49c8_1_4"/>
          <p:cNvSpPr txBox="1"/>
          <p:nvPr/>
        </p:nvSpPr>
        <p:spPr>
          <a:xfrm>
            <a:off x="892918" y="1167988"/>
            <a:ext cx="9974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Rothschild et al., 2019</a:t>
            </a:r>
            <a:endParaRPr sz="22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g39a550f49c8_1_4"/>
          <p:cNvSpPr txBox="1"/>
          <p:nvPr/>
        </p:nvSpPr>
        <p:spPr>
          <a:xfrm>
            <a:off x="1108650" y="1942100"/>
            <a:ext cx="4662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Democratic Party descriptions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9a550f49c8_1_4"/>
          <p:cNvSpPr txBox="1"/>
          <p:nvPr/>
        </p:nvSpPr>
        <p:spPr>
          <a:xfrm>
            <a:off x="6353650" y="1942100"/>
            <a:ext cx="4662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Republican Party descriptions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9a550f49c8_1_4"/>
          <p:cNvSpPr/>
          <p:nvPr/>
        </p:nvSpPr>
        <p:spPr>
          <a:xfrm>
            <a:off x="1242350" y="5029925"/>
            <a:ext cx="4211100" cy="8910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g39a550f49c8_1_4"/>
          <p:cNvSpPr/>
          <p:nvPr/>
        </p:nvSpPr>
        <p:spPr>
          <a:xfrm>
            <a:off x="1242350" y="3902675"/>
            <a:ext cx="4529100" cy="6024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g39a550f49c8_1_4"/>
          <p:cNvSpPr/>
          <p:nvPr/>
        </p:nvSpPr>
        <p:spPr>
          <a:xfrm>
            <a:off x="6420550" y="3185875"/>
            <a:ext cx="1623000" cy="4260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g39a550f49c8_1_4"/>
          <p:cNvSpPr/>
          <p:nvPr/>
        </p:nvSpPr>
        <p:spPr>
          <a:xfrm>
            <a:off x="1242375" y="4718225"/>
            <a:ext cx="4529100" cy="290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g39a550f49c8_1_4"/>
          <p:cNvSpPr/>
          <p:nvPr/>
        </p:nvSpPr>
        <p:spPr>
          <a:xfrm>
            <a:off x="6420550" y="5320625"/>
            <a:ext cx="2480400" cy="2907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g39a550f49c8_1_4"/>
          <p:cNvSpPr/>
          <p:nvPr/>
        </p:nvSpPr>
        <p:spPr>
          <a:xfrm>
            <a:off x="6420550" y="5611325"/>
            <a:ext cx="820500" cy="4260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a8a566212_4_20"/>
          <p:cNvSpPr/>
          <p:nvPr/>
        </p:nvSpPr>
        <p:spPr>
          <a:xfrm>
            <a:off x="642150" y="2726043"/>
            <a:ext cx="8656200" cy="1420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g3da8a566212_4_20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Agenda</a:t>
            </a:r>
            <a:endParaRPr/>
          </a:p>
        </p:txBody>
      </p:sp>
      <p:sp>
        <p:nvSpPr>
          <p:cNvPr id="185" name="Google Shape;185;g3da8a566212_4_20"/>
          <p:cNvSpPr/>
          <p:nvPr/>
        </p:nvSpPr>
        <p:spPr>
          <a:xfrm>
            <a:off x="988154" y="1214606"/>
            <a:ext cx="915747" cy="865316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g3da8a566212_4_20"/>
          <p:cNvSpPr/>
          <p:nvPr/>
        </p:nvSpPr>
        <p:spPr>
          <a:xfrm>
            <a:off x="2181804" y="1256964"/>
            <a:ext cx="40200" cy="86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g3da8a566212_4_20"/>
          <p:cNvSpPr txBox="1"/>
          <p:nvPr/>
        </p:nvSpPr>
        <p:spPr>
          <a:xfrm>
            <a:off x="2514273" y="1121300"/>
            <a:ext cx="603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Section A: RESEARCH QUESTIONS AND DATA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g3da8a566212_4_20"/>
          <p:cNvSpPr txBox="1"/>
          <p:nvPr/>
        </p:nvSpPr>
        <p:spPr>
          <a:xfrm>
            <a:off x="2514284" y="1575725"/>
            <a:ext cx="6334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25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can we predict partisan animosity and favorability?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ANES (American National Election Studies) dataset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9" name="Google Shape;189;g3da8a566212_4_20"/>
          <p:cNvSpPr/>
          <p:nvPr/>
        </p:nvSpPr>
        <p:spPr>
          <a:xfrm>
            <a:off x="988154" y="2976731"/>
            <a:ext cx="915747" cy="865316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g3da8a566212_4_20"/>
          <p:cNvSpPr/>
          <p:nvPr/>
        </p:nvSpPr>
        <p:spPr>
          <a:xfrm>
            <a:off x="2181804" y="3019089"/>
            <a:ext cx="40200" cy="86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g3da8a566212_4_20"/>
          <p:cNvSpPr txBox="1"/>
          <p:nvPr/>
        </p:nvSpPr>
        <p:spPr>
          <a:xfrm>
            <a:off x="2514284" y="2979455"/>
            <a:ext cx="304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Section B: METHODS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g3da8a566212_4_20"/>
          <p:cNvSpPr txBox="1"/>
          <p:nvPr/>
        </p:nvSpPr>
        <p:spPr>
          <a:xfrm>
            <a:off x="2514284" y="3337850"/>
            <a:ext cx="776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1: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mining analysis to predict partisan favorability and animosity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2: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Who responds to open-ended questions on the parties? </a:t>
            </a:r>
            <a:endParaRPr/>
          </a:p>
        </p:txBody>
      </p:sp>
      <p:sp>
        <p:nvSpPr>
          <p:cNvPr id="193" name="Google Shape;193;g3da8a566212_4_20"/>
          <p:cNvSpPr/>
          <p:nvPr/>
        </p:nvSpPr>
        <p:spPr>
          <a:xfrm>
            <a:off x="988154" y="4708079"/>
            <a:ext cx="915747" cy="865316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rgbClr val="E2E4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g3da8a566212_4_20"/>
          <p:cNvSpPr/>
          <p:nvPr/>
        </p:nvSpPr>
        <p:spPr>
          <a:xfrm>
            <a:off x="2181804" y="4750437"/>
            <a:ext cx="40200" cy="86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g3da8a566212_4_20"/>
          <p:cNvSpPr txBox="1"/>
          <p:nvPr/>
        </p:nvSpPr>
        <p:spPr>
          <a:xfrm>
            <a:off x="2514267" y="4710801"/>
            <a:ext cx="5793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Section C: Findings and Key insights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g3da8a566212_4_20"/>
          <p:cNvSpPr txBox="1"/>
          <p:nvPr/>
        </p:nvSpPr>
        <p:spPr>
          <a:xfrm>
            <a:off x="2514284" y="5069198"/>
            <a:ext cx="61917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Exploratory Data Analysis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1: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mining analysis to predict partisan favorability and animosity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2: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Who responds to open-ended questions on the parties? </a:t>
            </a:r>
            <a:endParaRPr/>
          </a:p>
        </p:txBody>
      </p:sp>
      <p:pic>
        <p:nvPicPr>
          <p:cNvPr id="197" name="Google Shape;197;g3da8a566212_4_20" descr="Human Brain Thinking Icons - Free SVG &amp; PNG Human Brain Thinking Images -  Noun Projec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470" y="1361234"/>
            <a:ext cx="533961" cy="533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da8a566212_4_20" descr="Method And Gear Monotone Icon In Powerpoint Pptx Png And Editable Eps  Format PPT Sample"/>
          <p:cNvPicPr preferRelativeResize="0"/>
          <p:nvPr/>
        </p:nvPicPr>
        <p:blipFill rotWithShape="1">
          <a:blip r:embed="rId4">
            <a:alphaModFix/>
          </a:blip>
          <a:srcRect l="24920" t="21112" r="28597" b="9026"/>
          <a:stretch/>
        </p:blipFill>
        <p:spPr>
          <a:xfrm>
            <a:off x="1068023" y="3113992"/>
            <a:ext cx="698854" cy="590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da8a566212_4_20" descr="Icons for PowerPoint Presentations – Chart – Smiletemplates - download at  SmileTemplates.co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421" y="4816357"/>
            <a:ext cx="895665" cy="67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/>
        </p:nvSpPr>
        <p:spPr>
          <a:xfrm>
            <a:off x="962025" y="4950646"/>
            <a:ext cx="10515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Partisan stratification: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Re-conducted analysis on out-party-only samples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(Republicans rating Democrats, Democrats rating Republicans)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- consistent with full sample results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CSES party liking scale (alte</a:t>
            </a: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rnative DV)</a:t>
            </a: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Consistent with thermometer models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Study 1: Text Mining Approach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962025" y="1488100"/>
            <a:ext cx="102681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Feeling thermometers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were recoded into a 5-class scale: “highly unfavorable” (0–19) to “highly favorable” (80–100)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Separate models for Democrat and Republican thermometers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Skip-grams</a:t>
            </a:r>
            <a:r>
              <a:rPr lang="en-US" sz="2000"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 selected as primary method due to better sentiment handling (negation, within-sentence connections), and robustness to conversational language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2-skip-2-grams: Word pairs within a 2-word window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o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e.g., “I love data science” -&gt; “I_love”, “I_data”, “I_science”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Multinomial LASSO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year fixed effects for variable selection (~100-150 terms per model)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-&gt;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Relaxed LASSO (GLM)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 LASSO-selected terms</a:t>
            </a:r>
            <a:endParaRPr sz="20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962026" y="4488981"/>
            <a:ext cx="102681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Robustness checks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962026" y="1004888"/>
            <a:ext cx="102679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Study Design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Study 2: Open-ended Response Predictors Approach</a:t>
            </a: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962025" y="1469049"/>
            <a:ext cx="108396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Logistic LASSO: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cv.glmnet, alpha = 1, family = binomial, λ = lambda.1se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Year fixed effects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forced in via penalty.factor = 0 for year dummies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Multi-level ordinals collapsed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to 3 levels (pid7, ideology, dem_ideo, rep_ideo, educ7) for interpretability; middle category as reference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Relaxed LASSO: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refit selected variables with glm() for valid inference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Repeat per outcome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Pooled robustness check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on y_pooled = any usable text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962026" y="985838"/>
            <a:ext cx="102679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Study Design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a8a566212_4_40"/>
          <p:cNvSpPr/>
          <p:nvPr/>
        </p:nvSpPr>
        <p:spPr>
          <a:xfrm>
            <a:off x="611675" y="4600556"/>
            <a:ext cx="8656200" cy="1595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3da8a566212_4_40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Agenda</a:t>
            </a:r>
            <a:endParaRPr/>
          </a:p>
        </p:txBody>
      </p:sp>
      <p:sp>
        <p:nvSpPr>
          <p:cNvPr id="244" name="Google Shape;244;g3da8a566212_4_40"/>
          <p:cNvSpPr/>
          <p:nvPr/>
        </p:nvSpPr>
        <p:spPr>
          <a:xfrm>
            <a:off x="988154" y="1214606"/>
            <a:ext cx="915747" cy="865316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g3da8a566212_4_40"/>
          <p:cNvSpPr/>
          <p:nvPr/>
        </p:nvSpPr>
        <p:spPr>
          <a:xfrm>
            <a:off x="2181804" y="1256964"/>
            <a:ext cx="40200" cy="86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g3da8a566212_4_40"/>
          <p:cNvSpPr txBox="1"/>
          <p:nvPr/>
        </p:nvSpPr>
        <p:spPr>
          <a:xfrm>
            <a:off x="2514273" y="1121300"/>
            <a:ext cx="6037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Section A: RESEARCH QUESTIONS AND DATA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g3da8a566212_4_40"/>
          <p:cNvSpPr txBox="1"/>
          <p:nvPr/>
        </p:nvSpPr>
        <p:spPr>
          <a:xfrm>
            <a:off x="2514284" y="1575725"/>
            <a:ext cx="6334500" cy="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25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</a:pPr>
            <a:r>
              <a:rPr lang="en-U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can we predict partisan animosity and favorability?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ANES (American National Election Studies) dataset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8" name="Google Shape;248;g3da8a566212_4_40"/>
          <p:cNvSpPr/>
          <p:nvPr/>
        </p:nvSpPr>
        <p:spPr>
          <a:xfrm>
            <a:off x="988154" y="2976731"/>
            <a:ext cx="915747" cy="865316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rgbClr val="E2E4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g3da8a566212_4_40"/>
          <p:cNvSpPr/>
          <p:nvPr/>
        </p:nvSpPr>
        <p:spPr>
          <a:xfrm>
            <a:off x="2181804" y="3019089"/>
            <a:ext cx="40200" cy="86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g3da8a566212_4_40"/>
          <p:cNvSpPr txBox="1"/>
          <p:nvPr/>
        </p:nvSpPr>
        <p:spPr>
          <a:xfrm>
            <a:off x="2514284" y="2979455"/>
            <a:ext cx="304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Section B: METHODS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g3da8a566212_4_40"/>
          <p:cNvSpPr txBox="1"/>
          <p:nvPr/>
        </p:nvSpPr>
        <p:spPr>
          <a:xfrm>
            <a:off x="2514284" y="3337850"/>
            <a:ext cx="7763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1: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mining analysis to predict partisan favorability and animosity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2: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Who responds to open-ended questions on the parties? </a:t>
            </a:r>
            <a:endParaRPr/>
          </a:p>
        </p:txBody>
      </p:sp>
      <p:sp>
        <p:nvSpPr>
          <p:cNvPr id="252" name="Google Shape;252;g3da8a566212_4_40"/>
          <p:cNvSpPr/>
          <p:nvPr/>
        </p:nvSpPr>
        <p:spPr>
          <a:xfrm>
            <a:off x="988154" y="4708079"/>
            <a:ext cx="915747" cy="865316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g3da8a566212_4_40"/>
          <p:cNvSpPr/>
          <p:nvPr/>
        </p:nvSpPr>
        <p:spPr>
          <a:xfrm>
            <a:off x="2181804" y="4750437"/>
            <a:ext cx="40200" cy="86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g3da8a566212_4_40"/>
          <p:cNvSpPr txBox="1"/>
          <p:nvPr/>
        </p:nvSpPr>
        <p:spPr>
          <a:xfrm>
            <a:off x="2514267" y="4710801"/>
            <a:ext cx="5793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Section C: Findings and Key insights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g3da8a566212_4_40"/>
          <p:cNvSpPr txBox="1"/>
          <p:nvPr/>
        </p:nvSpPr>
        <p:spPr>
          <a:xfrm>
            <a:off x="2514284" y="5069198"/>
            <a:ext cx="61917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Exploratory Data Analysis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1: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mining analysis to predict partisan favorability and animosity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2: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Who responds to open-ended questions on the parties? </a:t>
            </a:r>
            <a:endParaRPr/>
          </a:p>
        </p:txBody>
      </p:sp>
      <p:pic>
        <p:nvPicPr>
          <p:cNvPr id="256" name="Google Shape;256;g3da8a566212_4_40" descr="Human Brain Thinking Icons - Free SVG &amp; PNG Human Brain Thinking Images -  Noun Projec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470" y="1361234"/>
            <a:ext cx="533961" cy="533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3da8a566212_4_40" descr="Method And Gear Monotone Icon In Powerpoint Pptx Png And Editable Eps  Format PPT Sample"/>
          <p:cNvPicPr preferRelativeResize="0"/>
          <p:nvPr/>
        </p:nvPicPr>
        <p:blipFill rotWithShape="1">
          <a:blip r:embed="rId4">
            <a:alphaModFix/>
          </a:blip>
          <a:srcRect l="24920" t="21112" r="28597" b="9026"/>
          <a:stretch/>
        </p:blipFill>
        <p:spPr>
          <a:xfrm>
            <a:off x="1068023" y="3113992"/>
            <a:ext cx="698854" cy="590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da8a566212_4_40" descr="Icons for PowerPoint Presentations – Chart – Smiletemplates - download at  SmileTemplates.co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421" y="4816357"/>
            <a:ext cx="895665" cy="67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a8a566212_0_24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3400"/>
              <a:t>Sample size and composition differ by year</a:t>
            </a:r>
            <a:endParaRPr sz="3400"/>
          </a:p>
        </p:txBody>
      </p:sp>
      <p:pic>
        <p:nvPicPr>
          <p:cNvPr id="264" name="Google Shape;264;g3da8a566212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887" y="975725"/>
            <a:ext cx="8192225" cy="52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a8a566212_0_30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3400"/>
              <a:t>Partisanship distributions also differ by year</a:t>
            </a:r>
            <a:endParaRPr sz="3400"/>
          </a:p>
        </p:txBody>
      </p:sp>
      <p:pic>
        <p:nvPicPr>
          <p:cNvPr id="271" name="Google Shape;271;g3da8a566212_0_30" title="fig_eda_pro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1850" y="1085725"/>
            <a:ext cx="7834952" cy="503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Steady decline of out-party warmth, 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while in-party warmth holds level.</a:t>
            </a:r>
            <a:endParaRPr sz="2800"/>
          </a:p>
        </p:txBody>
      </p:sp>
      <p:pic>
        <p:nvPicPr>
          <p:cNvPr id="278" name="Google Shape;278;p11" title="fig_eda_outparty_ther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09" y="1600525"/>
            <a:ext cx="5686748" cy="365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1" title="fig_eda_inparty_the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6966" y="1678225"/>
            <a:ext cx="5445084" cy="350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39a550f49c8_2_292"/>
          <p:cNvPicPr preferRelativeResize="0"/>
          <p:nvPr/>
        </p:nvPicPr>
        <p:blipFill rotWithShape="1">
          <a:blip r:embed="rId3">
            <a:alphaModFix/>
          </a:blip>
          <a:srcRect l="14259" t="21598" r="16922" b="15454"/>
          <a:stretch/>
        </p:blipFill>
        <p:spPr>
          <a:xfrm>
            <a:off x="8277226" y="1367165"/>
            <a:ext cx="2821244" cy="2580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9a550f49c8_2_292"/>
          <p:cNvPicPr preferRelativeResize="0"/>
          <p:nvPr/>
        </p:nvPicPr>
        <p:blipFill rotWithShape="1">
          <a:blip r:embed="rId4">
            <a:alphaModFix/>
          </a:blip>
          <a:srcRect l="18073" t="20052" r="16916" b="22344"/>
          <a:stretch/>
        </p:blipFill>
        <p:spPr>
          <a:xfrm>
            <a:off x="2886075" y="3794805"/>
            <a:ext cx="2722024" cy="24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9a550f49c8_2_292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 dirty="0"/>
              <a:t>Study 1: Issue/Value-based words are dominant</a:t>
            </a:r>
            <a:endParaRPr sz="2800" dirty="0"/>
          </a:p>
        </p:txBody>
      </p:sp>
      <p:sp>
        <p:nvSpPr>
          <p:cNvPr id="314" name="Google Shape;314;g39a550f49c8_2_292"/>
          <p:cNvSpPr txBox="1"/>
          <p:nvPr/>
        </p:nvSpPr>
        <p:spPr>
          <a:xfrm>
            <a:off x="900112" y="1438779"/>
            <a:ext cx="1690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Democrat animosity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15" name="Google Shape;315;g39a550f49c8_2_292"/>
          <p:cNvSpPr txBox="1"/>
          <p:nvPr/>
        </p:nvSpPr>
        <p:spPr>
          <a:xfrm>
            <a:off x="900112" y="4008543"/>
            <a:ext cx="1690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Democrat favorability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16" name="Google Shape;316;g39a550f49c8_2_292"/>
          <p:cNvSpPr txBox="1"/>
          <p:nvPr/>
        </p:nvSpPr>
        <p:spPr>
          <a:xfrm>
            <a:off x="6467477" y="1438779"/>
            <a:ext cx="1690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Republican animosity</a:t>
            </a:r>
            <a:endParaRPr/>
          </a:p>
        </p:txBody>
      </p:sp>
      <p:sp>
        <p:nvSpPr>
          <p:cNvPr id="317" name="Google Shape;317;g39a550f49c8_2_292"/>
          <p:cNvSpPr txBox="1"/>
          <p:nvPr/>
        </p:nvSpPr>
        <p:spPr>
          <a:xfrm>
            <a:off x="6467477" y="4008543"/>
            <a:ext cx="1690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Republican favorability</a:t>
            </a:r>
            <a:endParaRPr/>
          </a:p>
        </p:txBody>
      </p:sp>
      <p:pic>
        <p:nvPicPr>
          <p:cNvPr id="318" name="Google Shape;318;g39a550f49c8_2_292" descr="Democratic Party (United States) - Wikipedi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408" y="2886173"/>
            <a:ext cx="863692" cy="84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9a550f49c8_2_29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8694" y="2976663"/>
            <a:ext cx="853850" cy="752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9a550f49c8_2_292"/>
          <p:cNvPicPr preferRelativeResize="0"/>
          <p:nvPr/>
        </p:nvPicPr>
        <p:blipFill rotWithShape="1">
          <a:blip r:embed="rId7">
            <a:alphaModFix/>
          </a:blip>
          <a:srcRect l="18068" t="20053" r="20807" b="18511"/>
          <a:stretch/>
        </p:blipFill>
        <p:spPr>
          <a:xfrm>
            <a:off x="2928841" y="1367165"/>
            <a:ext cx="2527680" cy="254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g39a550f49c8_2_292"/>
          <p:cNvPicPr preferRelativeResize="0"/>
          <p:nvPr/>
        </p:nvPicPr>
        <p:blipFill rotWithShape="1">
          <a:blip r:embed="rId8">
            <a:alphaModFix/>
          </a:blip>
          <a:srcRect l="23011" t="23049" r="25162" b="26239"/>
          <a:stretch/>
        </p:blipFill>
        <p:spPr>
          <a:xfrm>
            <a:off x="8633477" y="3729136"/>
            <a:ext cx="2464992" cy="24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a550f49c8_2_503"/>
          <p:cNvSpPr txBox="1">
            <a:spLocks noGrp="1"/>
          </p:cNvSpPr>
          <p:nvPr>
            <p:ph type="body" idx="1"/>
          </p:nvPr>
        </p:nvSpPr>
        <p:spPr>
          <a:xfrm>
            <a:off x="771525" y="365125"/>
            <a:ext cx="10515600" cy="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Study 1: Why do Americans like and dislike the two parties, in their own words?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 sz="2800"/>
          </a:p>
        </p:txBody>
      </p:sp>
      <p:sp>
        <p:nvSpPr>
          <p:cNvPr id="344" name="Google Shape;344;g39a550f49c8_2_503"/>
          <p:cNvSpPr txBox="1"/>
          <p:nvPr/>
        </p:nvSpPr>
        <p:spPr>
          <a:xfrm>
            <a:off x="681000" y="1896252"/>
            <a:ext cx="108300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l" rtl="0"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We find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issue-based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terms to be the predominant predictors of party favorability and animosity.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Words associated with favorability are more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specific and policy-related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(climate, border), whereas words associated with animosity are more 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abstract and value-based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(socialist, racist).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Unlike Rothschild et al. (2019)’s structural topic modeling, we don’t find strong evidence for Americans describing either party in terms of traits.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Agenda</a:t>
            </a:r>
            <a:endParaRPr/>
          </a:p>
        </p:txBody>
      </p:sp>
      <p:sp>
        <p:nvSpPr>
          <p:cNvPr id="351" name="Google Shape;351;p19"/>
          <p:cNvSpPr/>
          <p:nvPr/>
        </p:nvSpPr>
        <p:spPr>
          <a:xfrm>
            <a:off x="988154" y="1214606"/>
            <a:ext cx="915745" cy="865318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rgbClr val="E2E4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2181804" y="1256964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2514284" y="1121300"/>
            <a:ext cx="4846300" cy="3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RESEARCH QUESTIONS AND DATA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p19"/>
          <p:cNvSpPr txBox="1"/>
          <p:nvPr/>
        </p:nvSpPr>
        <p:spPr>
          <a:xfrm>
            <a:off x="2514284" y="1575725"/>
            <a:ext cx="6334441" cy="541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can we predict partisan animosity and favorability?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ANES (American National Election Studies) dataset</a:t>
            </a:r>
            <a:endParaRPr/>
          </a:p>
        </p:txBody>
      </p:sp>
      <p:sp>
        <p:nvSpPr>
          <p:cNvPr id="355" name="Google Shape;355;p19"/>
          <p:cNvSpPr/>
          <p:nvPr/>
        </p:nvSpPr>
        <p:spPr>
          <a:xfrm>
            <a:off x="988154" y="2976731"/>
            <a:ext cx="915745" cy="865318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rgbClr val="E2E4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2181804" y="3019089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2514284" y="2979455"/>
            <a:ext cx="3048839" cy="3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METHODS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19"/>
          <p:cNvSpPr txBox="1"/>
          <p:nvPr/>
        </p:nvSpPr>
        <p:spPr>
          <a:xfrm>
            <a:off x="2514284" y="3337850"/>
            <a:ext cx="7763191" cy="541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1: </a:t>
            </a: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 mining analysis to predict partisan favorability and animosity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Study 2: Who responds to open-ended questions on the parties? </a:t>
            </a:r>
            <a:endParaRPr/>
          </a:p>
        </p:txBody>
      </p:sp>
      <p:sp>
        <p:nvSpPr>
          <p:cNvPr id="359" name="Google Shape;359;p19"/>
          <p:cNvSpPr/>
          <p:nvPr/>
        </p:nvSpPr>
        <p:spPr>
          <a:xfrm>
            <a:off x="988154" y="4708079"/>
            <a:ext cx="915745" cy="865318"/>
          </a:xfrm>
          <a:custGeom>
            <a:avLst/>
            <a:gdLst/>
            <a:ahLst/>
            <a:cxnLst/>
            <a:rect l="l" t="t" r="r" b="b"/>
            <a:pathLst>
              <a:path w="2003" h="1892" extrusionOk="0">
                <a:moveTo>
                  <a:pt x="1811" y="1327"/>
                </a:moveTo>
                <a:lnTo>
                  <a:pt x="1811" y="1327"/>
                </a:lnTo>
                <a:cubicBezTo>
                  <a:pt x="1862" y="1210"/>
                  <a:pt x="1891" y="1081"/>
                  <a:pt x="1891" y="946"/>
                </a:cubicBezTo>
                <a:cubicBezTo>
                  <a:pt x="1891" y="423"/>
                  <a:pt x="1468" y="0"/>
                  <a:pt x="946" y="0"/>
                </a:cubicBezTo>
                <a:cubicBezTo>
                  <a:pt x="424" y="0"/>
                  <a:pt x="0" y="423"/>
                  <a:pt x="0" y="946"/>
                </a:cubicBezTo>
                <a:cubicBezTo>
                  <a:pt x="0" y="1467"/>
                  <a:pt x="424" y="1891"/>
                  <a:pt x="946" y="1891"/>
                </a:cubicBezTo>
                <a:cubicBezTo>
                  <a:pt x="1182" y="1891"/>
                  <a:pt x="1398" y="1804"/>
                  <a:pt x="1564" y="1660"/>
                </a:cubicBezTo>
                <a:lnTo>
                  <a:pt x="2002" y="1809"/>
                </a:lnTo>
                <a:lnTo>
                  <a:pt x="1811" y="1327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2181804" y="4750437"/>
            <a:ext cx="40341" cy="8653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2514284" y="4710803"/>
            <a:ext cx="3048839" cy="3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l" rtl="0">
              <a:lnSpc>
                <a:spcPct val="102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  <a:endParaRPr sz="1700" b="1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2514284" y="5069198"/>
            <a:ext cx="6763066" cy="77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•"/>
            </a:pPr>
            <a:r>
              <a:rPr lang="en-US" sz="12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Exploratory Data Analysis</a:t>
            </a:r>
            <a:endParaRPr sz="1250" b="1">
              <a:solidFill>
                <a:srgbClr val="747A9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47A94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rgbClr val="747A94"/>
                </a:solidFill>
                <a:latin typeface="Poppins"/>
                <a:ea typeface="Poppins"/>
                <a:cs typeface="Poppins"/>
                <a:sym typeface="Poppins"/>
              </a:rPr>
              <a:t>Study 1: </a:t>
            </a:r>
            <a:r>
              <a:rPr lang="en-US" sz="1250">
                <a:solidFill>
                  <a:srgbClr val="747A94"/>
                </a:solidFill>
                <a:latin typeface="Poppins"/>
                <a:ea typeface="Poppins"/>
                <a:cs typeface="Poppins"/>
                <a:sym typeface="Poppins"/>
              </a:rPr>
              <a:t>Text mining analysis to predict partisan favorability and animosity</a:t>
            </a:r>
            <a:endParaRPr/>
          </a:p>
          <a:p>
            <a:pPr marL="285750" marR="0" lvl="0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35480"/>
              </a:buClr>
              <a:buSzPts val="1250"/>
              <a:buFont typeface="Arial"/>
              <a:buChar char="•"/>
            </a:pPr>
            <a:r>
              <a:rPr lang="en-US" sz="1250" b="1">
                <a:solidFill>
                  <a:srgbClr val="035480"/>
                </a:solidFill>
                <a:latin typeface="Poppins"/>
                <a:ea typeface="Poppins"/>
                <a:cs typeface="Poppins"/>
                <a:sym typeface="Poppins"/>
              </a:rPr>
              <a:t>Study 2: Who responds to open-ended questions on the parties? </a:t>
            </a:r>
            <a:endParaRPr/>
          </a:p>
        </p:txBody>
      </p:sp>
      <p:pic>
        <p:nvPicPr>
          <p:cNvPr id="363" name="Google Shape;363;p19" descr="Human Brain Thinking Icons - Free SVG &amp; PNG Human Brain Thinking Images -  Noun Projec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470" y="1361234"/>
            <a:ext cx="533961" cy="533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9" descr="Method And Gear Monotone Icon In Powerpoint Pptx Png And Editable Eps  Format PPT Sample"/>
          <p:cNvPicPr preferRelativeResize="0"/>
          <p:nvPr/>
        </p:nvPicPr>
        <p:blipFill rotWithShape="1">
          <a:blip r:embed="rId4">
            <a:alphaModFix/>
          </a:blip>
          <a:srcRect l="24921" t="21111" r="28595" b="9028"/>
          <a:stretch/>
        </p:blipFill>
        <p:spPr>
          <a:xfrm>
            <a:off x="1068023" y="3113992"/>
            <a:ext cx="698854" cy="590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9" descr="Icons for PowerPoint Presentations – Chart – Smiletemplates - download at  SmileTemplates.com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421" y="4816357"/>
            <a:ext cx="895665" cy="67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g39a550f49c8_2_570"/>
          <p:cNvPicPr preferRelativeResize="0"/>
          <p:nvPr/>
        </p:nvPicPr>
        <p:blipFill rotWithShape="1">
          <a:blip r:embed="rId3">
            <a:alphaModFix/>
          </a:blip>
          <a:srcRect t="6829"/>
          <a:stretch/>
        </p:blipFill>
        <p:spPr>
          <a:xfrm>
            <a:off x="1369943" y="1702230"/>
            <a:ext cx="7854066" cy="4573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9a550f49c8_2_570"/>
          <p:cNvPicPr preferRelativeResize="0"/>
          <p:nvPr/>
        </p:nvPicPr>
        <p:blipFill rotWithShape="1">
          <a:blip r:embed="rId4">
            <a:alphaModFix/>
          </a:blip>
          <a:srcRect b="93769"/>
          <a:stretch/>
        </p:blipFill>
        <p:spPr>
          <a:xfrm>
            <a:off x="901464" y="1267043"/>
            <a:ext cx="9604800" cy="299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9a550f49c8_2_570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~40-60% of respondents did not provide open-ended text responses</a:t>
            </a:r>
            <a:endParaRPr/>
          </a:p>
        </p:txBody>
      </p:sp>
      <p:pic>
        <p:nvPicPr>
          <p:cNvPr id="374" name="Google Shape;374;g39a550f49c8_2_570" descr="Democratic Party (United States) - Wikipedi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50778" y="3156093"/>
            <a:ext cx="863692" cy="84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g39a550f49c8_2_57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824" y="3201338"/>
            <a:ext cx="853850" cy="752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g39a550f49c8_2_6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27472" y="1337734"/>
            <a:ext cx="6739200" cy="50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9a550f49c8_2_640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LASSO selects ~15-50 predictors per model (depending on choice of λ)</a:t>
            </a:r>
            <a:endParaRPr/>
          </a:p>
        </p:txBody>
      </p:sp>
      <p:sp>
        <p:nvSpPr>
          <p:cNvPr id="383" name="Google Shape;383;g39a550f49c8_2_640"/>
          <p:cNvSpPr/>
          <p:nvPr/>
        </p:nvSpPr>
        <p:spPr>
          <a:xfrm>
            <a:off x="4449503" y="1754581"/>
            <a:ext cx="231300" cy="1674300"/>
          </a:xfrm>
          <a:prstGeom prst="ellipse">
            <a:avLst/>
          </a:prstGeom>
          <a:noFill/>
          <a:ln w="38100" cap="flat" cmpd="sng">
            <a:solidFill>
              <a:srgbClr val="00B05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9a550f49c8_2_640"/>
          <p:cNvSpPr txBox="1"/>
          <p:nvPr/>
        </p:nvSpPr>
        <p:spPr>
          <a:xfrm>
            <a:off x="9543153" y="2591789"/>
            <a:ext cx="23454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Use λ.1se-selected terms for relaxed LASSO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(enhanced parsimony)</a:t>
            </a:r>
            <a:endParaRPr/>
          </a:p>
        </p:txBody>
      </p:sp>
      <p:sp>
        <p:nvSpPr>
          <p:cNvPr id="385" name="Google Shape;385;g39a550f49c8_2_640"/>
          <p:cNvSpPr/>
          <p:nvPr/>
        </p:nvSpPr>
        <p:spPr>
          <a:xfrm>
            <a:off x="7797168" y="1754581"/>
            <a:ext cx="231300" cy="1674300"/>
          </a:xfrm>
          <a:prstGeom prst="ellipse">
            <a:avLst/>
          </a:prstGeom>
          <a:noFill/>
          <a:ln w="38100" cap="flat" cmpd="sng">
            <a:solidFill>
              <a:srgbClr val="00B05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9a550f49c8_2_640"/>
          <p:cNvSpPr/>
          <p:nvPr/>
        </p:nvSpPr>
        <p:spPr>
          <a:xfrm>
            <a:off x="4343826" y="4312085"/>
            <a:ext cx="231300" cy="1674300"/>
          </a:xfrm>
          <a:prstGeom prst="ellipse">
            <a:avLst/>
          </a:prstGeom>
          <a:noFill/>
          <a:ln w="38100" cap="flat" cmpd="sng">
            <a:solidFill>
              <a:srgbClr val="00B05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9a550f49c8_2_640"/>
          <p:cNvSpPr/>
          <p:nvPr/>
        </p:nvSpPr>
        <p:spPr>
          <a:xfrm>
            <a:off x="7854318" y="4312085"/>
            <a:ext cx="231300" cy="1674300"/>
          </a:xfrm>
          <a:prstGeom prst="ellipse">
            <a:avLst/>
          </a:prstGeom>
          <a:noFill/>
          <a:ln w="38100" cap="flat" cmpd="sng">
            <a:solidFill>
              <a:srgbClr val="00B05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g39a550f49c8_2_640" descr="Democratic Party (United States)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7881" y="2170308"/>
            <a:ext cx="863692" cy="84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9a550f49c8_2_6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598" y="4761427"/>
            <a:ext cx="861072" cy="758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a550f49c8_2_713"/>
          <p:cNvSpPr txBox="1">
            <a:spLocks noGrp="1"/>
          </p:cNvSpPr>
          <p:nvPr>
            <p:ph type="body" idx="1"/>
          </p:nvPr>
        </p:nvSpPr>
        <p:spPr>
          <a:xfrm>
            <a:off x="771525" y="334307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Democrat open-ended responses are driven by partisanship, ideology, and education </a:t>
            </a:r>
            <a:endParaRPr/>
          </a:p>
        </p:txBody>
      </p:sp>
      <p:sp>
        <p:nvSpPr>
          <p:cNvPr id="396" name="Google Shape;396;g39a550f49c8_2_713"/>
          <p:cNvSpPr/>
          <p:nvPr/>
        </p:nvSpPr>
        <p:spPr>
          <a:xfrm>
            <a:off x="4756184" y="6231068"/>
            <a:ext cx="2546400" cy="4623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03548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35480"/>
                </a:solidFill>
                <a:latin typeface="Calibri"/>
                <a:ea typeface="Calibri"/>
                <a:cs typeface="Calibri"/>
                <a:sym typeface="Calibri"/>
              </a:rPr>
              <a:t>Top 10 predictors only</a:t>
            </a:r>
            <a:endParaRPr/>
          </a:p>
        </p:txBody>
      </p:sp>
      <p:pic>
        <p:nvPicPr>
          <p:cNvPr id="397" name="Google Shape;397;g39a550f49c8_2_7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9883" y="1339439"/>
            <a:ext cx="9338403" cy="4669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g39a550f49c8_2_713" descr="Democratic Party (United States)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63540" y="814386"/>
            <a:ext cx="863692" cy="84296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9a550f49c8_2_713"/>
          <p:cNvSpPr/>
          <p:nvPr/>
        </p:nvSpPr>
        <p:spPr>
          <a:xfrm>
            <a:off x="1119875" y="1755300"/>
            <a:ext cx="4529100" cy="11718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g39a550f49c8_2_713"/>
          <p:cNvSpPr/>
          <p:nvPr/>
        </p:nvSpPr>
        <p:spPr>
          <a:xfrm>
            <a:off x="6096000" y="17553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g39a550f49c8_2_713"/>
          <p:cNvSpPr/>
          <p:nvPr/>
        </p:nvSpPr>
        <p:spPr>
          <a:xfrm>
            <a:off x="6096000" y="24648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3" name="Google Shape;403;g39a550f49c8_2_713"/>
          <p:cNvSpPr/>
          <p:nvPr/>
        </p:nvSpPr>
        <p:spPr>
          <a:xfrm>
            <a:off x="1119875" y="29271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g39a550f49c8_2_713"/>
          <p:cNvSpPr/>
          <p:nvPr/>
        </p:nvSpPr>
        <p:spPr>
          <a:xfrm>
            <a:off x="6096000" y="29180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g39a550f49c8_2_713"/>
          <p:cNvSpPr/>
          <p:nvPr/>
        </p:nvSpPr>
        <p:spPr>
          <a:xfrm>
            <a:off x="1119875" y="52616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g39a550f49c8_2_713"/>
          <p:cNvSpPr/>
          <p:nvPr/>
        </p:nvSpPr>
        <p:spPr>
          <a:xfrm>
            <a:off x="1119875" y="371365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g39a550f49c8_2_713"/>
          <p:cNvSpPr/>
          <p:nvPr/>
        </p:nvSpPr>
        <p:spPr>
          <a:xfrm>
            <a:off x="6096000" y="211005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9a550f49c8_2_781"/>
          <p:cNvSpPr txBox="1">
            <a:spLocks noGrp="1"/>
          </p:cNvSpPr>
          <p:nvPr>
            <p:ph type="body" idx="1"/>
          </p:nvPr>
        </p:nvSpPr>
        <p:spPr>
          <a:xfrm>
            <a:off x="771525" y="344581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Republican open-ended responses are driven by political engagement</a:t>
            </a:r>
            <a:endParaRPr/>
          </a:p>
        </p:txBody>
      </p:sp>
      <p:sp>
        <p:nvSpPr>
          <p:cNvPr id="414" name="Google Shape;414;g39a550f49c8_2_781"/>
          <p:cNvSpPr/>
          <p:nvPr/>
        </p:nvSpPr>
        <p:spPr>
          <a:xfrm>
            <a:off x="4756184" y="6231068"/>
            <a:ext cx="2546400" cy="462300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 10 predictors only</a:t>
            </a:r>
            <a:endParaRPr/>
          </a:p>
        </p:txBody>
      </p:sp>
      <p:pic>
        <p:nvPicPr>
          <p:cNvPr id="415" name="Google Shape;415;g39a550f49c8_2_7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0431" y="1317660"/>
            <a:ext cx="9359997" cy="467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9a550f49c8_2_7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3919" y="862113"/>
            <a:ext cx="853850" cy="752472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39a550f49c8_2_781"/>
          <p:cNvSpPr/>
          <p:nvPr/>
        </p:nvSpPr>
        <p:spPr>
          <a:xfrm>
            <a:off x="1119875" y="1755300"/>
            <a:ext cx="4529100" cy="11718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9" name="Google Shape;419;g39a550f49c8_2_781"/>
          <p:cNvSpPr/>
          <p:nvPr/>
        </p:nvSpPr>
        <p:spPr>
          <a:xfrm>
            <a:off x="6096000" y="1755300"/>
            <a:ext cx="4529100" cy="7524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g39a550f49c8_2_781"/>
          <p:cNvSpPr/>
          <p:nvPr/>
        </p:nvSpPr>
        <p:spPr>
          <a:xfrm>
            <a:off x="6096000" y="40584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g39a550f49c8_2_781"/>
          <p:cNvSpPr/>
          <p:nvPr/>
        </p:nvSpPr>
        <p:spPr>
          <a:xfrm>
            <a:off x="1119875" y="29271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" name="Google Shape;422;g39a550f49c8_2_781"/>
          <p:cNvSpPr/>
          <p:nvPr/>
        </p:nvSpPr>
        <p:spPr>
          <a:xfrm>
            <a:off x="6182400" y="52700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3" name="Google Shape;423;g39a550f49c8_2_781"/>
          <p:cNvSpPr/>
          <p:nvPr/>
        </p:nvSpPr>
        <p:spPr>
          <a:xfrm>
            <a:off x="1119875" y="48968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4" name="Google Shape;424;g39a550f49c8_2_781"/>
          <p:cNvSpPr/>
          <p:nvPr/>
        </p:nvSpPr>
        <p:spPr>
          <a:xfrm>
            <a:off x="1119875" y="328795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5" name="Google Shape;425;g39a550f49c8_2_781"/>
          <p:cNvSpPr/>
          <p:nvPr/>
        </p:nvSpPr>
        <p:spPr>
          <a:xfrm>
            <a:off x="6096000" y="2861561"/>
            <a:ext cx="4529100" cy="8430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6" name="Google Shape;426;g39a550f49c8_2_781"/>
          <p:cNvSpPr/>
          <p:nvPr/>
        </p:nvSpPr>
        <p:spPr>
          <a:xfrm>
            <a:off x="6142800" y="36577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g39a550f49c8_2_781"/>
          <p:cNvSpPr/>
          <p:nvPr/>
        </p:nvSpPr>
        <p:spPr>
          <a:xfrm>
            <a:off x="1119875" y="375025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g39a550f49c8_2_781"/>
          <p:cNvSpPr/>
          <p:nvPr/>
        </p:nvSpPr>
        <p:spPr>
          <a:xfrm>
            <a:off x="6096000" y="24648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g39a550f49c8_2_781"/>
          <p:cNvSpPr/>
          <p:nvPr/>
        </p:nvSpPr>
        <p:spPr>
          <a:xfrm>
            <a:off x="6182400" y="48077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g39a550f49c8_2_781"/>
          <p:cNvSpPr/>
          <p:nvPr/>
        </p:nvSpPr>
        <p:spPr>
          <a:xfrm>
            <a:off x="1119875" y="452070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g39a550f49c8_2_781"/>
          <p:cNvSpPr/>
          <p:nvPr/>
        </p:nvSpPr>
        <p:spPr>
          <a:xfrm>
            <a:off x="1119875" y="5291150"/>
            <a:ext cx="4529100" cy="462300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4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Non-response to open-ended questions is systematic and non-random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 sz="2800"/>
          </a:p>
        </p:txBody>
      </p:sp>
      <p:sp>
        <p:nvSpPr>
          <p:cNvPr id="437" name="Google Shape;437;p24"/>
          <p:cNvSpPr txBox="1"/>
          <p:nvPr/>
        </p:nvSpPr>
        <p:spPr>
          <a:xfrm>
            <a:off x="963350" y="1168003"/>
            <a:ext cx="108396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Education: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college-educated respondents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are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likely to respond across all items;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less-than-high-school respondents less likely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Non-response may not be because of a lack of thought, but because of a lack of articulation.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Political </a:t>
            </a:r>
            <a:r>
              <a:rPr lang="en-US" sz="2400" b="1" dirty="0" err="1">
                <a:latin typeface="Calibri"/>
                <a:ea typeface="Calibri"/>
                <a:cs typeface="Calibri"/>
                <a:sym typeface="Calibri"/>
              </a:rPr>
              <a:t>informedness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largest effects across models 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E.g., Republicans as cons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ervative; parties are different</a:t>
            </a:r>
            <a:endParaRPr dirty="0"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Partisanship: 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Out-party members are more likely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 to express animosity and in-party members are more likely to express favorability.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Demographics</a:t>
            </a:r>
            <a:r>
              <a:rPr lang="en-US" sz="2400" b="1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4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ender and race/ethnicity predict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non-response to animosity Q’s</a:t>
            </a:r>
            <a:endParaRPr sz="24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4"/>
          <p:cNvSpPr/>
          <p:nvPr/>
        </p:nvSpPr>
        <p:spPr>
          <a:xfrm>
            <a:off x="1033488" y="5082822"/>
            <a:ext cx="10125000" cy="929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Implications: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Our Study 1 findings generalize to people who are </a:t>
            </a:r>
            <a:r>
              <a:rPr lang="en-US" sz="2400" i="1">
                <a:latin typeface="Calibri"/>
                <a:ea typeface="Calibri"/>
                <a:cs typeface="Calibri"/>
                <a:sym typeface="Calibri"/>
              </a:rPr>
              <a:t>politically interested, highly educated, male, white, and partisan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a8a566212_4_65"/>
          <p:cNvSpPr txBox="1">
            <a:spLocks noGrp="1"/>
          </p:cNvSpPr>
          <p:nvPr>
            <p:ph type="body" idx="1"/>
          </p:nvPr>
        </p:nvSpPr>
        <p:spPr>
          <a:xfrm>
            <a:off x="771525" y="365129"/>
            <a:ext cx="10515600" cy="7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25" tIns="91400" rIns="182825" bIns="914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lang="en-US" sz="2800"/>
              <a:t>Conclusions and extensions</a:t>
            </a:r>
            <a:endParaRPr/>
          </a:p>
        </p:txBody>
      </p:sp>
      <p:sp>
        <p:nvSpPr>
          <p:cNvPr id="445" name="Google Shape;445;g3da8a566212_4_65"/>
          <p:cNvSpPr txBox="1"/>
          <p:nvPr/>
        </p:nvSpPr>
        <p:spPr>
          <a:xfrm>
            <a:off x="771525" y="1270650"/>
            <a:ext cx="112719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81000" algn="l" rtl="0">
              <a:spcBef>
                <a:spcPts val="6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Americans* primarily use issue-based words to rationalize their partisan favorability and animosity.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However, this only generalizes to people who are </a:t>
            </a:r>
            <a:r>
              <a:rPr lang="en-US" sz="2400" i="1">
                <a:latin typeface="Calibri"/>
                <a:ea typeface="Calibri"/>
                <a:cs typeface="Calibri"/>
                <a:sym typeface="Calibri"/>
              </a:rPr>
              <a:t>politically interested, highly educated, male, white, and partisan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Future steps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Manual coding of LASSO-derived words using established codebook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LLM coding of raw open-ended responses, using manually labeled training data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Deeper literature search and conceptualization of “trait-based” versus “issue-based” stereotypes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371600" marR="0" lvl="2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or more fundamentally: expressive versus instrumental partisanship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EA569E-C2C3-20B9-C020-4AD8762BF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45049" y="2619232"/>
            <a:ext cx="3701902" cy="1325563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5" name="Google Shape;136;p1">
            <a:extLst>
              <a:ext uri="{FF2B5EF4-FFF2-40B4-BE49-F238E27FC236}">
                <a16:creationId xmlns:a16="http://schemas.microsoft.com/office/drawing/2014/main" id="{BBF2EA69-C7DF-B6FB-34B6-BBF1B5B730F9}"/>
              </a:ext>
            </a:extLst>
          </p:cNvPr>
          <p:cNvSpPr txBox="1"/>
          <p:nvPr/>
        </p:nvSpPr>
        <p:spPr>
          <a:xfrm>
            <a:off x="463296" y="4526756"/>
            <a:ext cx="1108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Group 15: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Wei (David) 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Wang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 Rehan Mirza, Ying Zhang</a:t>
            </a:r>
            <a:endParaRPr sz="2000" dirty="0"/>
          </a:p>
        </p:txBody>
      </p:sp>
      <p:sp>
        <p:nvSpPr>
          <p:cNvPr id="6" name="Google Shape;137;p1">
            <a:extLst>
              <a:ext uri="{FF2B5EF4-FFF2-40B4-BE49-F238E27FC236}">
                <a16:creationId xmlns:a16="http://schemas.microsoft.com/office/drawing/2014/main" id="{926D4E71-06E3-5622-B68E-7E1D32DAA987}"/>
              </a:ext>
            </a:extLst>
          </p:cNvPr>
          <p:cNvSpPr txBox="1"/>
          <p:nvPr/>
        </p:nvSpPr>
        <p:spPr>
          <a:xfrm>
            <a:off x="7039000" y="4000359"/>
            <a:ext cx="450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 May 2026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439609205"/>
      </p:ext>
    </p:extLst>
  </p:cSld>
  <p:clrMapOvr>
    <a:masterClrMapping/>
  </p:clrMapOvr>
</p:sld>
</file>

<file path=ppt/theme/theme1.xml><?xml version="1.0" encoding="utf-8"?>
<a:theme xmlns:a="http://schemas.openxmlformats.org/drawingml/2006/main" name="Consulting template theme">
  <a:themeElements>
    <a:clrScheme name="AI - Title Slides - S1">
      <a:dk1>
        <a:srgbClr val="747A94"/>
      </a:dk1>
      <a:lt1>
        <a:srgbClr val="FFFFFF"/>
      </a:lt1>
      <a:dk2>
        <a:srgbClr val="111340"/>
      </a:dk2>
      <a:lt2>
        <a:srgbClr val="FFFFFF"/>
      </a:lt2>
      <a:accent1>
        <a:srgbClr val="6BC9D3"/>
      </a:accent1>
      <a:accent2>
        <a:srgbClr val="34B1E1"/>
      </a:accent2>
      <a:accent3>
        <a:srgbClr val="035480"/>
      </a:accent3>
      <a:accent4>
        <a:srgbClr val="8A173E"/>
      </a:accent4>
      <a:accent5>
        <a:srgbClr val="E24856"/>
      </a:accent5>
      <a:accent6>
        <a:srgbClr val="C3C8CE"/>
      </a:accent6>
      <a:hlink>
        <a:srgbClr val="32A79F"/>
      </a:hlink>
      <a:folHlink>
        <a:srgbClr val="89E1D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1896</Words>
  <Application>Microsoft Macintosh PowerPoint</Application>
  <PresentationFormat>Widescreen</PresentationFormat>
  <Paragraphs>165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Courier New</vt:lpstr>
      <vt:lpstr>Arial</vt:lpstr>
      <vt:lpstr>Calibri</vt:lpstr>
      <vt:lpstr>Montserrat SemiBold</vt:lpstr>
      <vt:lpstr>Poppins</vt:lpstr>
      <vt:lpstr>Consulting template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Rehan Mirza</dc:creator>
  <cp:lastModifiedBy>Wang, David</cp:lastModifiedBy>
  <cp:revision>10</cp:revision>
  <dcterms:created xsi:type="dcterms:W3CDTF">2024-08-11T18:17:14Z</dcterms:created>
  <dcterms:modified xsi:type="dcterms:W3CDTF">2026-04-30T17:57:35Z</dcterms:modified>
</cp:coreProperties>
</file>